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78" r:id="rId4"/>
    <p:sldMasterId id="214748367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y="7772400" cx="10058400"/>
  <p:notesSz cx="10058400" cy="7772400"/>
  <p:embeddedFontLst>
    <p:embeddedFont>
      <p:font typeface="Play"/>
      <p:regular r:id="rId23"/>
      <p:bold r:id="rId2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80" orient="horz"/>
        <p:guide pos="216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11" Type="http://schemas.openxmlformats.org/officeDocument/2006/relationships/slide" Target="slides/slide5.xml"/><Relationship Id="rId22" Type="http://schemas.openxmlformats.org/officeDocument/2006/relationships/slide" Target="slides/slide16.xml"/><Relationship Id="rId10" Type="http://schemas.openxmlformats.org/officeDocument/2006/relationships/slide" Target="slides/slide4.xml"/><Relationship Id="rId21" Type="http://schemas.openxmlformats.org/officeDocument/2006/relationships/slide" Target="slides/slide15.xml"/><Relationship Id="rId13" Type="http://schemas.openxmlformats.org/officeDocument/2006/relationships/slide" Target="slides/slide7.xml"/><Relationship Id="rId24" Type="http://schemas.openxmlformats.org/officeDocument/2006/relationships/font" Target="fonts/Play-bold.fntdata"/><Relationship Id="rId12" Type="http://schemas.openxmlformats.org/officeDocument/2006/relationships/slide" Target="slides/slide6.xml"/><Relationship Id="rId23" Type="http://schemas.openxmlformats.org/officeDocument/2006/relationships/font" Target="fonts/Play-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5" Type="http://schemas.openxmlformats.org/officeDocument/2006/relationships/slideMaster" Target="slideMasters/slideMaster2.xml"/><Relationship Id="rId19" Type="http://schemas.openxmlformats.org/officeDocument/2006/relationships/slide" Target="slides/slide13.xml"/><Relationship Id="rId6" Type="http://schemas.openxmlformats.org/officeDocument/2006/relationships/notesMaster" Target="notesMasters/notesMaster1.xml"/><Relationship Id="rId18" Type="http://schemas.openxmlformats.org/officeDocument/2006/relationships/slide" Target="slides/slide12.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4359275" cy="388938"/>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sz="1200"/>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4" name="Google Shape;4;n"/>
          <p:cNvSpPr txBox="1"/>
          <p:nvPr>
            <p:ph idx="10" type="dt"/>
          </p:nvPr>
        </p:nvSpPr>
        <p:spPr>
          <a:xfrm>
            <a:off x="5697538" y="0"/>
            <a:ext cx="4359275" cy="388938"/>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sz="1200"/>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5" name="Google Shape;5;n"/>
          <p:cNvSpPr/>
          <p:nvPr>
            <p:ph idx="3" type="sldImg"/>
          </p:nvPr>
        </p:nvSpPr>
        <p:spPr>
          <a:xfrm>
            <a:off x="3332163" y="971550"/>
            <a:ext cx="3394075" cy="26225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1006475" y="3740150"/>
            <a:ext cx="8045450" cy="30607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indent="-228600" lvl="1" marL="914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2pPr>
            <a:lvl3pPr indent="-228600" lvl="2" marL="1371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3pPr>
            <a:lvl4pPr indent="-228600" lvl="3" marL="1828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4pPr>
            <a:lvl5pPr indent="-228600" lvl="4" marL="22860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6pPr>
            <a:lvl7pPr indent="-228600" lvl="6" marL="3200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7pPr>
            <a:lvl8pPr indent="-228600" lvl="7" marL="3657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8pPr>
            <a:lvl9pPr indent="-228600" lvl="8" marL="4114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7383463"/>
            <a:ext cx="4359275" cy="388937"/>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sz="1200"/>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8" name="Google Shape;8;n"/>
          <p:cNvSpPr txBox="1"/>
          <p:nvPr>
            <p:ph idx="12" type="sldNum"/>
          </p:nvPr>
        </p:nvSpPr>
        <p:spPr>
          <a:xfrm>
            <a:off x="5697538" y="7383463"/>
            <a:ext cx="4359275" cy="38893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sz="1200"/>
              <a:t>‹#›</a:t>
            </a:fld>
            <a:endParaRPr sz="1200"/>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3d96f1d5e86_2_75:notes"/>
          <p:cNvSpPr txBox="1"/>
          <p:nvPr>
            <p:ph idx="1" type="body"/>
          </p:nvPr>
        </p:nvSpPr>
        <p:spPr>
          <a:xfrm>
            <a:off x="1005840" y="3691890"/>
            <a:ext cx="8046720" cy="349758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Good morning. We're Team 3c, and our project is *Identifying Undiagnosed Type 2 Diabetics* using CatBoost modeling on one million Korean health checkup records. I'm Tyson Johnson, and I'm here with my teammates Alizeh Murtaza, Nithila Neethi Devan, and Tariq Abdulhak. Our advisor is Dr. Slamani.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Over the next ten minutes we'll walk you through why this problem matters, how we modeled it, what we found, and how it's deployed.</a:t>
            </a:r>
            <a:endParaRPr/>
          </a:p>
        </p:txBody>
      </p:sp>
      <p:sp>
        <p:nvSpPr>
          <p:cNvPr id="204" name="Google Shape;204;g3d96f1d5e86_2_75:notes"/>
          <p:cNvSpPr/>
          <p:nvPr>
            <p:ph idx="2" type="sldImg"/>
          </p:nvPr>
        </p:nvSpPr>
        <p:spPr>
          <a:xfrm>
            <a:off x="1676730" y="582930"/>
            <a:ext cx="6705930" cy="29146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g3d96f1d5e86_2_89:notes"/>
          <p:cNvSpPr txBox="1"/>
          <p:nvPr>
            <p:ph idx="1" type="body"/>
          </p:nvPr>
        </p:nvSpPr>
        <p:spPr>
          <a:xfrm>
            <a:off x="1005840" y="3691890"/>
            <a:ext cx="8046720" cy="349758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The motivation is stark. The International Diabetes Federation estimates that 537 million adults worldwide are living with diabetes, and 44.7 percent of those cases are undiagnosed. This matters since untreated type 2 diabetes can lead to serious complications such as cardiovascular disease, kidney failure, neuropathy, and retinopathy. So every year of a delayed diagnosis poses serious consequences.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C</a:t>
            </a:r>
            <a:r>
              <a:rPr lang="en-US"/>
              <a:t>urrent screening guidelines also miss a lot of people. For example, the U.S. Preventive Services Task Force recommends screening only adults 35 to 70 with overweight or obesity. That can miss metabolically unhealthy patients who are not overweight. Questionnaire-risk scores like FINDRISC, IDRS, and ADA are helpful but show limited sensitivity outside the populations they were designed for.</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But here's the thing: routine health checkups already collect the data we need. The question is whether machine learning can use it.</a:t>
            </a:r>
            <a:endParaRPr/>
          </a:p>
        </p:txBody>
      </p:sp>
      <p:sp>
        <p:nvSpPr>
          <p:cNvPr id="217" name="Google Shape;217;g3d96f1d5e86_2_89:notes"/>
          <p:cNvSpPr/>
          <p:nvPr>
            <p:ph idx="2" type="sldImg"/>
          </p:nvPr>
        </p:nvSpPr>
        <p:spPr>
          <a:xfrm>
            <a:off x="1676730" y="582930"/>
            <a:ext cx="6705930" cy="29146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g3d96f1d5e86_2_114:notes"/>
          <p:cNvSpPr txBox="1"/>
          <p:nvPr>
            <p:ph idx="1" type="body"/>
          </p:nvPr>
        </p:nvSpPr>
        <p:spPr>
          <a:xfrm>
            <a:off x="1005840" y="3691890"/>
            <a:ext cx="8046720" cy="349758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Clinicians reviewing labs in isolation miss the </a:t>
            </a:r>
            <a:r>
              <a:rPr lang="en-US"/>
              <a:t>high-dimensional and</a:t>
            </a:r>
            <a:r>
              <a:rPr lang="en-US"/>
              <a:t> nonlinear patterns that flag elevated risk. That is where machine learning can be help, especially sicne recent work shows tree-based models match or outperform deep learning on tabular health data.</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Our oppourtunity came from</a:t>
            </a:r>
            <a:r>
              <a:rPr lang="en-US"/>
              <a:t> Korea's National Health Insurance Service, or NHIS, which publishes about a million anonymized health-checkup records every year. This gave us one of the largest publicly available dataset to work with.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P</a:t>
            </a:r>
            <a:r>
              <a:rPr lang="en-US"/>
              <a:t>rior NHIS work</a:t>
            </a:r>
            <a:r>
              <a:rPr lang="en-US"/>
              <a:t> exists</a:t>
            </a:r>
            <a:r>
              <a:rPr lang="en-US"/>
              <a:t>, but it mainly focused on deep learning with no </a:t>
            </a:r>
            <a:r>
              <a:rPr lang="en-US"/>
              <a:t>comparison</a:t>
            </a:r>
            <a:r>
              <a:rPr lang="en-US"/>
              <a:t> on controlled tree-versus-neural-networks . That's the gap we set out to close- run a </a:t>
            </a:r>
            <a:r>
              <a:rPr lang="en-US"/>
              <a:t>comparison</a:t>
            </a:r>
            <a:r>
              <a:rPr lang="en-US"/>
              <a:t> across model families on identical data splits, include calibration,  and deployed an actual screening tool.</a:t>
            </a:r>
            <a:endParaRPr/>
          </a:p>
        </p:txBody>
      </p:sp>
      <p:sp>
        <p:nvSpPr>
          <p:cNvPr id="243" name="Google Shape;243;g3d96f1d5e86_2_114:notes"/>
          <p:cNvSpPr/>
          <p:nvPr>
            <p:ph idx="2" type="sldImg"/>
          </p:nvPr>
        </p:nvSpPr>
        <p:spPr>
          <a:xfrm>
            <a:off x="1676730" y="582930"/>
            <a:ext cx="6705930" cy="29146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g3d96f1d5e86_2_142:notes"/>
          <p:cNvSpPr txBox="1"/>
          <p:nvPr>
            <p:ph idx="1" type="body"/>
          </p:nvPr>
        </p:nvSpPr>
        <p:spPr>
          <a:xfrm>
            <a:off x="1005840" y="3691890"/>
            <a:ext cx="8046720" cy="349758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This slide introduces </a:t>
            </a:r>
            <a:r>
              <a:rPr lang="en-US"/>
              <a:t>the dataset. We used the 2024 NHIS general health examination dataset. It is public, anonymized, and after domain validation we kept *994,147 records*.</a:t>
            </a:r>
            <a:endParaRPr/>
          </a:p>
          <a:p>
            <a:pPr indent="0" lvl="0" marL="0" rtl="0" algn="l">
              <a:spcBef>
                <a:spcPts val="0"/>
              </a:spcBef>
              <a:spcAft>
                <a:spcPts val="0"/>
              </a:spcAft>
              <a:buNone/>
            </a:pPr>
            <a:r>
              <a:rPr lang="en-US"/>
              <a:t>We defined our label using fasting plasma glucose, or FPG, at or above 126 milligrams per deciliter, which is the ADA diagnostic threshold. About 7.9 percent of records </a:t>
            </a:r>
            <a:r>
              <a:rPr lang="en-US"/>
              <a:t>cross that line</a:t>
            </a:r>
            <a:r>
              <a:rPr lang="en-US"/>
              <a:t>. One </a:t>
            </a:r>
            <a:r>
              <a:rPr lang="en-US"/>
              <a:t>critical</a:t>
            </a:r>
            <a:r>
              <a:rPr lang="en-US"/>
              <a:t> design choice is that we *removed FPG itself from the model's inputs*, because the label is derived from FPG, and including it would trivialize the ta</a:t>
            </a:r>
            <a:r>
              <a:rPr lang="en-US"/>
              <a:t>sk.</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The data </a:t>
            </a:r>
            <a:r>
              <a:rPr lang="en-US"/>
              <a:t>was split 60, 20, 20,into </a:t>
            </a:r>
            <a:r>
              <a:rPr lang="en-US"/>
              <a:t>training, validation, and test sets </a:t>
            </a:r>
            <a:r>
              <a:rPr lang="en-US"/>
              <a:t>stratifi</a:t>
            </a:r>
            <a:r>
              <a:rPr lang="en-US"/>
              <a:t>ed by class, </a:t>
            </a:r>
            <a:r>
              <a:rPr lang="en-US"/>
              <a:t>with a fixed seed of 42 to preserve class balance.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The chart on the right makes it concrete: diabetes prevalence rises sharply with age in both sexes, which is going to matter when we talk about feature importance.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With that, I'll pass it to Alizeh to walk through how we built the model.</a:t>
            </a:r>
            <a:endParaRPr/>
          </a:p>
        </p:txBody>
      </p:sp>
      <p:sp>
        <p:nvSpPr>
          <p:cNvPr id="272" name="Google Shape;272;g3d96f1d5e86_2_142:notes"/>
          <p:cNvSpPr/>
          <p:nvPr>
            <p:ph idx="2" type="sldImg"/>
          </p:nvPr>
        </p:nvSpPr>
        <p:spPr>
          <a:xfrm>
            <a:off x="1676730" y="582930"/>
            <a:ext cx="6705930" cy="29146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g3d96f1d5e86_2_167:notes"/>
          <p:cNvSpPr txBox="1"/>
          <p:nvPr>
            <p:ph idx="1" type="body"/>
          </p:nvPr>
        </p:nvSpPr>
        <p:spPr>
          <a:xfrm>
            <a:off x="1005840" y="3691890"/>
            <a:ext cx="8046720" cy="349758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Thanks, Tyson.  Our feature engineering is organized as three nested tiers, mirroring what NHIS actually collects in practice.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Tier 1 is the core tier, 15 features. This includes demographics, anthropometrics like BMI, waist-to-height ratio and weight-adjusted waist index, plus blood pressure and urine protein. These are available for every NHIS examinee.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Tier 2 is Core plus Labs, with 26 features. This adds hemoglobin, creatinine, log-transformed liver enzymes like AST, ALT, GGT, and the AST-to-ALT ratio.</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Tier 3 is the Full tier, with 40 features. This adds the full lipid panel including cholesterol, HDL, LDL, log triglycerides, and three derived ratios.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We used a nested design </a:t>
            </a:r>
            <a:r>
              <a:rPr lang="en-US"/>
              <a:t>because</a:t>
            </a:r>
            <a:r>
              <a:rPr lang="en-US"/>
              <a:t> a</a:t>
            </a:r>
            <a:r>
              <a:rPr lang="en-US"/>
              <a:t>bout 66 percent of NHIS records lack a lipid panel, because the test is optional. The tiered design lets us measure exactly how much each data category buys us — a clean ablation of marginal value, which becomes one of our key results.</a:t>
            </a:r>
            <a:endParaRPr/>
          </a:p>
        </p:txBody>
      </p:sp>
      <p:sp>
        <p:nvSpPr>
          <p:cNvPr id="299" name="Google Shape;299;g3d96f1d5e86_2_167:notes"/>
          <p:cNvSpPr/>
          <p:nvPr>
            <p:ph idx="2" type="sldImg"/>
          </p:nvPr>
        </p:nvSpPr>
        <p:spPr>
          <a:xfrm>
            <a:off x="1676730" y="582930"/>
            <a:ext cx="6705930" cy="29146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g3d96f1d5e86_2_197:notes"/>
          <p:cNvSpPr txBox="1"/>
          <p:nvPr>
            <p:ph idx="1" type="body"/>
          </p:nvPr>
        </p:nvSpPr>
        <p:spPr>
          <a:xfrm>
            <a:off x="1005840" y="3691890"/>
            <a:ext cx="8046720" cy="349758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The preprocessing pipeline is four stages. First, we applied domain validation and set out-of-range values to missing, or NaN.  This prevents extreme outliers from distorting feature engineering. </a:t>
            </a:r>
            <a:r>
              <a:rPr lang="en-US"/>
              <a:t>Second</a:t>
            </a:r>
            <a:r>
              <a:rPr lang="en-US"/>
              <a:t>, we l</a:t>
            </a:r>
            <a:r>
              <a:rPr lang="en-US"/>
              <a:t>og transformed variables right-skewed variables like liver enzymes and triglycerides</a:t>
            </a:r>
            <a:r>
              <a:rPr lang="en-US"/>
              <a:t>. Third, age encoding converted the NHIS five-year band code into a continuous midpoint. And finally, we created a stratified 60-20-20 split.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Critically, we do not impute missing values for CatBoost. CatBoost handles missingness natively, and we'll see in the results why that turned out to be the right call.</a:t>
            </a:r>
            <a:endParaRPr/>
          </a:p>
        </p:txBody>
      </p:sp>
      <p:sp>
        <p:nvSpPr>
          <p:cNvPr id="330" name="Google Shape;330;g3d96f1d5e86_2_197:notes"/>
          <p:cNvSpPr/>
          <p:nvPr>
            <p:ph idx="2" type="sldImg"/>
          </p:nvPr>
        </p:nvSpPr>
        <p:spPr>
          <a:xfrm>
            <a:off x="1676730" y="582930"/>
            <a:ext cx="6705930" cy="29146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g3d96f1d5e86_2_207:notes"/>
          <p:cNvSpPr txBox="1"/>
          <p:nvPr>
            <p:ph idx="1" type="body"/>
          </p:nvPr>
        </p:nvSpPr>
        <p:spPr>
          <a:xfrm>
            <a:off x="1005840" y="3691890"/>
            <a:ext cx="8046720" cy="349758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We trained eight models on identical splits to make the comparison fair. These came from three model families.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For tree models, we used CatBoost in three feature-set configurations, Core, Core-plus-Labs, and Full, with a Decision Tree baseline. For neural networks, a PyTorch tabular network with learned categorical embeddings, and a scikit-learn MLP was used. For linear baselines, we used logistic regression and a linear SVM.</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Class imbalance is handled with inverse-frequency weighting on most models, and minority upsampling for the MLP.</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The primary metric was ROC-AUC, because it's threshold-independent and stays informative under our roughly twelve-to-one class imbalance.</a:t>
            </a:r>
            <a:endParaRPr/>
          </a:p>
        </p:txBody>
      </p:sp>
      <p:sp>
        <p:nvSpPr>
          <p:cNvPr id="341" name="Google Shape;341;g3d96f1d5e86_2_207:notes"/>
          <p:cNvSpPr/>
          <p:nvPr>
            <p:ph idx="2" type="sldImg"/>
          </p:nvPr>
        </p:nvSpPr>
        <p:spPr>
          <a:xfrm>
            <a:off x="1676730" y="582930"/>
            <a:ext cx="6705930" cy="29146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 name="Shape 396"/>
        <p:cNvGrpSpPr/>
        <p:nvPr/>
      </p:nvGrpSpPr>
      <p:grpSpPr>
        <a:xfrm>
          <a:off x="0" y="0"/>
          <a:ext cx="0" cy="0"/>
          <a:chOff x="0" y="0"/>
          <a:chExt cx="0" cy="0"/>
        </a:xfrm>
      </p:grpSpPr>
      <p:sp>
        <p:nvSpPr>
          <p:cNvPr id="397" name="Google Shape;397;g3d96f1d5e86_2_262:notes"/>
          <p:cNvSpPr txBox="1"/>
          <p:nvPr>
            <p:ph idx="1" type="body"/>
          </p:nvPr>
        </p:nvSpPr>
        <p:spPr>
          <a:xfrm>
            <a:off x="1005840" y="3691890"/>
            <a:ext cx="8046720" cy="349758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CatBoost ended up as our production model for three reasons.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One, using </a:t>
            </a:r>
            <a:r>
              <a:rPr lang="en-US"/>
              <a:t>ordered</a:t>
            </a:r>
            <a:r>
              <a:rPr lang="en-US"/>
              <a:t> boosting and </a:t>
            </a:r>
            <a:r>
              <a:rPr lang="en-US"/>
              <a:t>native categorical handling</a:t>
            </a:r>
            <a:r>
              <a:rPr lang="en-US"/>
              <a:t>, so no manual one-hot encoding, no target leakage. Two, it gives us exact TreeSHAP values — not the approximate values from model-agnostic methods. That matters for clinical adoption, because the SHAP rankings have to be defensible. Three, it handles native missing-value</a:t>
            </a:r>
            <a:r>
              <a:rPr lang="en-US"/>
              <a:t> handling</a:t>
            </a:r>
            <a:r>
              <a:rPr lang="en-US"/>
              <a:t> — no imputation pipeline at inference time — and substantially faster training and inference than the neural alternatives.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Hyperparameters are on the slide: depth 6, learning rate 0.03, L2 of 5.0, up to 1,500 iterations with early stopping. The best iteration was 1,324.</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The panel on the right is a previews the main outcome: test ROC-AUC of 0.817, sensitivity 85 percent, NPV 98 percent. With that, I'll hand it to Nithila to walk through what we found.</a:t>
            </a:r>
            <a:endParaRPr/>
          </a:p>
        </p:txBody>
      </p:sp>
      <p:sp>
        <p:nvSpPr>
          <p:cNvPr id="398" name="Google Shape;398;g3d96f1d5e86_2_262:notes"/>
          <p:cNvSpPr/>
          <p:nvPr>
            <p:ph idx="2" type="sldImg"/>
          </p:nvPr>
        </p:nvSpPr>
        <p:spPr>
          <a:xfrm>
            <a:off x="1676730" y="582930"/>
            <a:ext cx="6705930" cy="29146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2" name="Shape 432"/>
        <p:cNvGrpSpPr/>
        <p:nvPr/>
      </p:nvGrpSpPr>
      <p:grpSpPr>
        <a:xfrm>
          <a:off x="0" y="0"/>
          <a:ext cx="0" cy="0"/>
          <a:chOff x="0" y="0"/>
          <a:chExt cx="0" cy="0"/>
        </a:xfrm>
      </p:grpSpPr>
      <p:sp>
        <p:nvSpPr>
          <p:cNvPr id="433" name="Google Shape;433;g3d96f1d5e86_2_300:notes"/>
          <p:cNvSpPr txBox="1"/>
          <p:nvPr>
            <p:ph idx="1" type="body"/>
          </p:nvPr>
        </p:nvSpPr>
        <p:spPr>
          <a:xfrm>
            <a:off x="1005840" y="3691890"/>
            <a:ext cx="8046720" cy="349758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Thanks, Alizeh. Two things had to be done before we could talk about clinical performance: calibration and threshold selection.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Raw boosting probabilities are poorly calibrated — a predicted 10 percent doesn't actually correspond to a true 10 percent prevalence. So we applied Platt scaling on the validation set. Because it's monotonic, it leaves ROC-AUC unchanged but pulls the reliability curve onto the diagonal.</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For the threshold, we made an explicit screening choice: a false negative is much costlier than a false positive. We picked the lowest probability that achieves at least 85 percent sensitivity on validation — that landed at 0.0659.</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The plot on the right shows pre- and post-calibration. The post-calibration curve hugs the diagonal, and Brier score drops to 0.064.</a:t>
            </a:r>
            <a:endParaRPr/>
          </a:p>
        </p:txBody>
      </p:sp>
      <p:sp>
        <p:nvSpPr>
          <p:cNvPr id="434" name="Google Shape;434;g3d96f1d5e86_2_300:notes"/>
          <p:cNvSpPr/>
          <p:nvPr>
            <p:ph idx="2" type="sldImg"/>
          </p:nvPr>
        </p:nvSpPr>
        <p:spPr>
          <a:xfrm>
            <a:off x="1676730" y="582930"/>
            <a:ext cx="6705930" cy="29146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8" name="Shape 458"/>
        <p:cNvGrpSpPr/>
        <p:nvPr/>
      </p:nvGrpSpPr>
      <p:grpSpPr>
        <a:xfrm>
          <a:off x="0" y="0"/>
          <a:ext cx="0" cy="0"/>
          <a:chOff x="0" y="0"/>
          <a:chExt cx="0" cy="0"/>
        </a:xfrm>
      </p:grpSpPr>
      <p:sp>
        <p:nvSpPr>
          <p:cNvPr id="459" name="Google Shape;459;g3d96f1d5e86_2_325:notes"/>
          <p:cNvSpPr txBox="1"/>
          <p:nvPr>
            <p:ph idx="1" type="body"/>
          </p:nvPr>
        </p:nvSpPr>
        <p:spPr>
          <a:xfrm>
            <a:off x="1005840" y="3691890"/>
            <a:ext cx="8046720" cy="349758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Here's the headline result. CatBoost on the full 40-feature set hits 0.817 ROC-AUC on the held-out test set.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PyTorch Tabular Net is at 0.816, the sklearn MLP is at 0.812. The top three models are within 0.005 AUC of each other, despite fundamentally different architectures. That's consistent with the broader finding from Grinsztajn at NeurIPS that tree models match or beat deep learning on tabular data.</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The linear baselines — logistic regression and linear SVM — both come in at 0.792, and the single decision tree at 0.776. So neural depth isn't doing extra work here.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We picked CatBoost over the neural alternatives for the reasons Alizeh covered: exact SHAP, native missingness, faster inference.</a:t>
            </a:r>
            <a:endParaRPr/>
          </a:p>
        </p:txBody>
      </p:sp>
      <p:sp>
        <p:nvSpPr>
          <p:cNvPr id="460" name="Google Shape;460;g3d96f1d5e86_2_325:notes"/>
          <p:cNvSpPr/>
          <p:nvPr>
            <p:ph idx="2" type="sldImg"/>
          </p:nvPr>
        </p:nvSpPr>
        <p:spPr>
          <a:xfrm>
            <a:off x="1676730" y="582930"/>
            <a:ext cx="6705930" cy="29146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8" name="Shape 488"/>
        <p:cNvGrpSpPr/>
        <p:nvPr/>
      </p:nvGrpSpPr>
      <p:grpSpPr>
        <a:xfrm>
          <a:off x="0" y="0"/>
          <a:ext cx="0" cy="0"/>
          <a:chOff x="0" y="0"/>
          <a:chExt cx="0" cy="0"/>
        </a:xfrm>
      </p:grpSpPr>
      <p:sp>
        <p:nvSpPr>
          <p:cNvPr id="489" name="Google Shape;489;g3d96f1d5e86_2_354:notes"/>
          <p:cNvSpPr txBox="1"/>
          <p:nvPr>
            <p:ph idx="1" type="body"/>
          </p:nvPr>
        </p:nvSpPr>
        <p:spPr>
          <a:xfrm>
            <a:off x="1005840" y="3691890"/>
            <a:ext cx="8046720" cy="349758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This was one of our most useful findings. We trained CatBoost on each tier with identical hyperparameters.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The c</a:t>
            </a:r>
            <a:r>
              <a:rPr lang="en-US"/>
              <a:t>ore alone hits 0.775. Adding the six routine lab values- hemoglobin, creatinine, the liver enzymes — jumps us to 0.808, a gain of 0.033. Adding the entire lipid panel only adds another 0.009, taking us to 0.817.</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We also found </a:t>
            </a:r>
            <a:r>
              <a:rPr lang="en-US"/>
              <a:t>on the 130,000 test patients who lack lipid data, the model still gets an AUC of 0.821. The model degrades gracefully when lipids are missing. The policy implication is real: cholesterol tests are not required for effective screening.</a:t>
            </a:r>
            <a:endParaRPr/>
          </a:p>
        </p:txBody>
      </p:sp>
      <p:sp>
        <p:nvSpPr>
          <p:cNvPr id="490" name="Google Shape;490;g3d96f1d5e86_2_354:notes"/>
          <p:cNvSpPr/>
          <p:nvPr>
            <p:ph idx="2" type="sldImg"/>
          </p:nvPr>
        </p:nvSpPr>
        <p:spPr>
          <a:xfrm>
            <a:off x="1676730" y="582930"/>
            <a:ext cx="6705930" cy="29146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7" name="Shape 517"/>
        <p:cNvGrpSpPr/>
        <p:nvPr/>
      </p:nvGrpSpPr>
      <p:grpSpPr>
        <a:xfrm>
          <a:off x="0" y="0"/>
          <a:ext cx="0" cy="0"/>
          <a:chOff x="0" y="0"/>
          <a:chExt cx="0" cy="0"/>
        </a:xfrm>
      </p:grpSpPr>
      <p:sp>
        <p:nvSpPr>
          <p:cNvPr id="518" name="Google Shape;518;g3d96f1d5e86_2_383:notes"/>
          <p:cNvSpPr txBox="1"/>
          <p:nvPr>
            <p:ph idx="1" type="body"/>
          </p:nvPr>
        </p:nvSpPr>
        <p:spPr>
          <a:xfrm>
            <a:off x="1005840" y="3691890"/>
            <a:ext cx="8046720" cy="349758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At our screening threshold, the production model catches 85.2 percent of diabetic patients — 13,376 out of 15,694 — and a negative result rules out diabetes with 98 percent confidence.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Specificity is 62.5 percent, PPV is 16.3 percent. We're deliberately trading specificity for sensitivity, because in screening a false positive costs one follow-up blood test and a false negative leaves disease undetected.</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So with that, I'll pass it to Tariq for what those results mean and where the tool goes from here.</a:t>
            </a:r>
            <a:endParaRPr/>
          </a:p>
        </p:txBody>
      </p:sp>
      <p:sp>
        <p:nvSpPr>
          <p:cNvPr id="519" name="Google Shape;519;g3d96f1d5e86_2_383:notes"/>
          <p:cNvSpPr/>
          <p:nvPr>
            <p:ph idx="2" type="sldImg"/>
          </p:nvPr>
        </p:nvSpPr>
        <p:spPr>
          <a:xfrm>
            <a:off x="1676730" y="582930"/>
            <a:ext cx="6705930" cy="29146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5" name="Shape 545"/>
        <p:cNvGrpSpPr/>
        <p:nvPr/>
      </p:nvGrpSpPr>
      <p:grpSpPr>
        <a:xfrm>
          <a:off x="0" y="0"/>
          <a:ext cx="0" cy="0"/>
          <a:chOff x="0" y="0"/>
          <a:chExt cx="0" cy="0"/>
        </a:xfrm>
      </p:grpSpPr>
      <p:sp>
        <p:nvSpPr>
          <p:cNvPr id="546" name="Google Shape;546;g3d96f1d5e86_2_410:notes"/>
          <p:cNvSpPr txBox="1"/>
          <p:nvPr>
            <p:ph idx="1" type="body"/>
          </p:nvPr>
        </p:nvSpPr>
        <p:spPr>
          <a:xfrm>
            <a:off x="1005840" y="3691890"/>
            <a:ext cx="8046720" cy="349758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Thanks, Nithila. To be useful in a clinic, the model has to be interprettble, as clinicians need to see why it made a prediction. We used SHAP, computed exactly with SHAP, on a 5,000-patient sample to see which features were driving predictions.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Age was by far the strongest feature, with a mean absolute SHAP of 0.94- this is three times the runner-up. After that, the top features include AST/ALT ratio, log GGT, LDL, hemoglobin, waist-to-height ratio, and log AST. Every one of those is an established T2D risk factor. That alignment with clinical priors is reassuring that the model is learning real pathophysiology, not dataset artifacts.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One side note: all nine of our missingness-indicator flags came out at essentially zero SHAP. That suggests CatBoost's native handling of missing values is already capturing that information effectively.</a:t>
            </a:r>
            <a:endParaRPr/>
          </a:p>
        </p:txBody>
      </p:sp>
      <p:sp>
        <p:nvSpPr>
          <p:cNvPr id="547" name="Google Shape;547;g3d96f1d5e86_2_410:notes"/>
          <p:cNvSpPr/>
          <p:nvPr>
            <p:ph idx="2" type="sldImg"/>
          </p:nvPr>
        </p:nvSpPr>
        <p:spPr>
          <a:xfrm>
            <a:off x="1676730" y="582930"/>
            <a:ext cx="6705930" cy="29146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0" name="Shape 590"/>
        <p:cNvGrpSpPr/>
        <p:nvPr/>
      </p:nvGrpSpPr>
      <p:grpSpPr>
        <a:xfrm>
          <a:off x="0" y="0"/>
          <a:ext cx="0" cy="0"/>
          <a:chOff x="0" y="0"/>
          <a:chExt cx="0" cy="0"/>
        </a:xfrm>
      </p:grpSpPr>
      <p:sp>
        <p:nvSpPr>
          <p:cNvPr id="591" name="Google Shape;591;g3d96f1d5e86_2_454:notes"/>
          <p:cNvSpPr txBox="1"/>
          <p:nvPr>
            <p:ph idx="1" type="body"/>
          </p:nvPr>
        </p:nvSpPr>
        <p:spPr>
          <a:xfrm>
            <a:off x="1005840" y="3691890"/>
            <a:ext cx="8046720" cy="349758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We also wanted to show how this could work as an actual screening tool rather than just a model in a notebook. So we built an end-to-end web tool.</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The backend is a FastAPI service that serves the calibrated CatBoost model, and the frontend is a lightweight JavaScript interface designed for clinicians or community health workers. Users can enter whatever fields they have available, and the tool returns a calibrated probability along with a risk tier.</a:t>
            </a:r>
            <a:r>
              <a:rPr lang="en-US"/>
              <a:t>Partial inputs are fine, because CatBoost handles missing fields natively.</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Rather than a single binary classification, we split the calibrated probability distribution by test-set quantile into four tiers: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Low </a:t>
            </a:r>
            <a:r>
              <a:rPr lang="en-US"/>
              <a:t>—</a:t>
            </a:r>
            <a:r>
              <a:rPr lang="en-US"/>
              <a:t> below the median, p in [0, 0.046] — routine recheck.</a:t>
            </a:r>
            <a:endParaRPr/>
          </a:p>
          <a:p>
            <a:pPr indent="0" lvl="0" marL="0" rtl="0" algn="l">
              <a:spcBef>
                <a:spcPts val="0"/>
              </a:spcBef>
              <a:spcAft>
                <a:spcPts val="0"/>
              </a:spcAft>
              <a:buNone/>
            </a:pPr>
            <a:r>
              <a:rPr lang="en-US"/>
              <a:t>Moderate — p50 to p80, up to 0.138 — lifestyle counseling.</a:t>
            </a:r>
            <a:endParaRPr/>
          </a:p>
          <a:p>
            <a:pPr indent="0" lvl="0" marL="0" rtl="0" algn="l">
              <a:spcBef>
                <a:spcPts val="0"/>
              </a:spcBef>
              <a:spcAft>
                <a:spcPts val="0"/>
              </a:spcAft>
              <a:buNone/>
            </a:pPr>
            <a:r>
              <a:rPr lang="en-US"/>
              <a:t>High — p80 to p95, up to 0.261 — schedule a follow-up.</a:t>
            </a:r>
            <a:endParaRPr/>
          </a:p>
          <a:p>
            <a:pPr indent="0" lvl="0" marL="0" rtl="0" algn="l">
              <a:spcBef>
                <a:spcPts val="0"/>
              </a:spcBef>
              <a:spcAft>
                <a:spcPts val="0"/>
              </a:spcAft>
              <a:buNone/>
            </a:pPr>
            <a:r>
              <a:rPr lang="en-US"/>
              <a:t>Very High — top 5 percent, above 0.261 — prompt confirmatory blood test.</a:t>
            </a:r>
            <a:endParaRPr/>
          </a:p>
          <a:p>
            <a:pPr indent="0" lvl="0" marL="0" rtl="0" algn="l">
              <a:spcBef>
                <a:spcPts val="0"/>
              </a:spcBef>
              <a:spcAft>
                <a:spcPts val="0"/>
              </a:spcAft>
              <a:buNone/>
            </a:pPr>
            <a:r>
              <a:rPr lang="en-US"/>
              <a:t>That gives the clinician an actionable output — not just a number.</a:t>
            </a:r>
            <a:endParaRPr/>
          </a:p>
        </p:txBody>
      </p:sp>
      <p:sp>
        <p:nvSpPr>
          <p:cNvPr id="592" name="Google Shape;592;g3d96f1d5e86_2_454:notes"/>
          <p:cNvSpPr/>
          <p:nvPr>
            <p:ph idx="2" type="sldImg"/>
          </p:nvPr>
        </p:nvSpPr>
        <p:spPr>
          <a:xfrm>
            <a:off x="1676730" y="582930"/>
            <a:ext cx="6705930" cy="29146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3" name="Shape 633"/>
        <p:cNvGrpSpPr/>
        <p:nvPr/>
      </p:nvGrpSpPr>
      <p:grpSpPr>
        <a:xfrm>
          <a:off x="0" y="0"/>
          <a:ext cx="0" cy="0"/>
          <a:chOff x="0" y="0"/>
          <a:chExt cx="0" cy="0"/>
        </a:xfrm>
      </p:grpSpPr>
      <p:sp>
        <p:nvSpPr>
          <p:cNvPr id="634" name="Google Shape;634;g3d96f1d5e86_2_496:notes"/>
          <p:cNvSpPr txBox="1"/>
          <p:nvPr>
            <p:ph idx="1" type="body"/>
          </p:nvPr>
        </p:nvSpPr>
        <p:spPr>
          <a:xfrm>
            <a:off x="1005840" y="3691890"/>
            <a:ext cx="8046720" cy="349758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We also want to be clear about the limitations of this work.</a:t>
            </a:r>
            <a:endParaRPr/>
          </a:p>
          <a:p>
            <a:pPr indent="0" lvl="0" marL="0" rtl="0" algn="l">
              <a:spcBef>
                <a:spcPts val="0"/>
              </a:spcBef>
              <a:spcAft>
                <a:spcPts val="0"/>
              </a:spcAft>
              <a:buNone/>
            </a:pPr>
            <a:r>
              <a:t/>
            </a:r>
            <a:endParaRPr/>
          </a:p>
          <a:p>
            <a:pPr indent="0" lvl="0" marL="0" rtl="0" algn="l">
              <a:lnSpc>
                <a:spcPct val="115000"/>
              </a:lnSpc>
              <a:spcBef>
                <a:spcPts val="1200"/>
              </a:spcBef>
              <a:spcAft>
                <a:spcPts val="0"/>
              </a:spcAft>
              <a:buClr>
                <a:schemeClr val="dk1"/>
              </a:buClr>
              <a:buSzPts val="1100"/>
              <a:buFont typeface="Arial"/>
              <a:buNone/>
            </a:pPr>
            <a:r>
              <a:rPr lang="en-US"/>
              <a:t>First, the model was trained only on Korean NHIS data, so outside populations still need external validation. Second, the label was based on a single FPG threshold rather than a confirmed diagnosis, so there is some unavoidable label noise. Third, this is a cross-sectional study, so it identifies likely current undiagnosed diabetes rather than future incident diabetes risk.</a:t>
            </a:r>
            <a:endParaRPr/>
          </a:p>
          <a:p>
            <a:pPr indent="0" lvl="0" marL="0" rtl="0" algn="l">
              <a:lnSpc>
                <a:spcPct val="115000"/>
              </a:lnSpc>
              <a:spcBef>
                <a:spcPts val="1200"/>
              </a:spcBef>
              <a:spcAft>
                <a:spcPts val="0"/>
              </a:spcAft>
              <a:buClr>
                <a:schemeClr val="dk1"/>
              </a:buClr>
              <a:buSzPts val="1100"/>
              <a:buFont typeface="Arial"/>
              <a:buNone/>
            </a:pPr>
            <a:r>
              <a:rPr lang="en-US"/>
              <a:t>We also used a single random seed, did not run significance testing, and have not yet completed subgroup fairness analysis by age, sex, or BMI.</a:t>
            </a:r>
            <a:endParaRPr/>
          </a:p>
          <a:p>
            <a:pPr indent="0" lvl="0" marL="0" rtl="0" algn="l">
              <a:lnSpc>
                <a:spcPct val="115000"/>
              </a:lnSpc>
              <a:spcBef>
                <a:spcPts val="1200"/>
              </a:spcBef>
              <a:spcAft>
                <a:spcPts val="0"/>
              </a:spcAft>
              <a:buClr>
                <a:schemeClr val="dk1"/>
              </a:buClr>
              <a:buSzPts val="1100"/>
              <a:buFont typeface="Arial"/>
              <a:buNone/>
            </a:pPr>
            <a:r>
              <a:rPr lang="en-US"/>
              <a:t>The next steps would be external validation across multiple cohorts, longitudinal modeling, subgroup analysis, and regional threshold tuning based on local prevalence and screening goals.”</a:t>
            </a:r>
            <a:endParaRPr/>
          </a:p>
          <a:p>
            <a:pPr indent="0" lvl="0" marL="0" rtl="0" algn="l">
              <a:spcBef>
                <a:spcPts val="1200"/>
              </a:spcBef>
              <a:spcAft>
                <a:spcPts val="0"/>
              </a:spcAft>
              <a:buNone/>
            </a:pPr>
            <a:r>
              <a:t/>
            </a:r>
            <a:endParaRPr/>
          </a:p>
        </p:txBody>
      </p:sp>
      <p:sp>
        <p:nvSpPr>
          <p:cNvPr id="635" name="Google Shape;635;g3d96f1d5e86_2_496:notes"/>
          <p:cNvSpPr/>
          <p:nvPr>
            <p:ph idx="2" type="sldImg"/>
          </p:nvPr>
        </p:nvSpPr>
        <p:spPr>
          <a:xfrm>
            <a:off x="1676730" y="582930"/>
            <a:ext cx="6705930" cy="29146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9" name="Shape 659"/>
        <p:cNvGrpSpPr/>
        <p:nvPr/>
      </p:nvGrpSpPr>
      <p:grpSpPr>
        <a:xfrm>
          <a:off x="0" y="0"/>
          <a:ext cx="0" cy="0"/>
          <a:chOff x="0" y="0"/>
          <a:chExt cx="0" cy="0"/>
        </a:xfrm>
      </p:grpSpPr>
      <p:sp>
        <p:nvSpPr>
          <p:cNvPr id="660" name="Google Shape;660;g3d96f1d5e86_2_521:notes"/>
          <p:cNvSpPr txBox="1"/>
          <p:nvPr>
            <p:ph idx="1" type="body"/>
          </p:nvPr>
        </p:nvSpPr>
        <p:spPr>
          <a:xfrm>
            <a:off x="1005840" y="3691890"/>
            <a:ext cx="8046720" cy="349758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To wrap up, our project shows that CatBoost can effectively identify undiagnosed type 2 diabetes risk using routine health checkup data at large scale.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Our final CatBoost model reached a test ROC-AUC of 0.817, matched deep learning performance, achieved about 85 percent sensitivity at the screening threshold, and produced a 98 percent negative predictive value. The lipid panel is helpful but not essential, </a:t>
            </a:r>
            <a:r>
              <a:rPr lang="en-US"/>
              <a:t>as</a:t>
            </a:r>
            <a:r>
              <a:rPr lang="en-US"/>
              <a:t> Core-plus-Labs performs strongly with 0.808 AUC. SHAP rankings line up with established clinical risk factors, and we have a deployed tool that turns the calibrated probability into four interpretable risk tiers.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Thank you — we'd be happy to take your questions.</a:t>
            </a:r>
            <a:endParaRPr/>
          </a:p>
        </p:txBody>
      </p:sp>
      <p:sp>
        <p:nvSpPr>
          <p:cNvPr id="661" name="Google Shape;661;g3d96f1d5e86_2_521:notes"/>
          <p:cNvSpPr/>
          <p:nvPr>
            <p:ph idx="2" type="sldImg"/>
          </p:nvPr>
        </p:nvSpPr>
        <p:spPr>
          <a:xfrm>
            <a:off x="1676730" y="582930"/>
            <a:ext cx="6705930" cy="29146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op Title &amp; Content">
  <p:cSld name="1_Top Title &amp; Content">
    <p:spTree>
      <p:nvGrpSpPr>
        <p:cNvPr id="15" name="Shape 15"/>
        <p:cNvGrpSpPr/>
        <p:nvPr/>
      </p:nvGrpSpPr>
      <p:grpSpPr>
        <a:xfrm>
          <a:off x="0" y="0"/>
          <a:ext cx="0" cy="0"/>
          <a:chOff x="0" y="0"/>
          <a:chExt cx="0" cy="0"/>
        </a:xfrm>
      </p:grpSpPr>
      <p:pic>
        <p:nvPicPr>
          <p:cNvPr descr="A blue and white rectangle&#10;&#10;Description automatically generated" id="16" name="Google Shape;16;p2"/>
          <p:cNvPicPr preferRelativeResize="0"/>
          <p:nvPr/>
        </p:nvPicPr>
        <p:blipFill rotWithShape="1">
          <a:blip r:embed="rId2">
            <a:alphaModFix/>
          </a:blip>
          <a:srcRect b="68627" l="0" r="0" t="0"/>
          <a:stretch/>
        </p:blipFill>
        <p:spPr>
          <a:xfrm>
            <a:off x="0" y="2667000"/>
            <a:ext cx="10058400" cy="2438400"/>
          </a:xfrm>
          <a:prstGeom prst="rect">
            <a:avLst/>
          </a:prstGeom>
          <a:noFill/>
          <a:ln>
            <a:noFill/>
          </a:ln>
        </p:spPr>
      </p:pic>
      <p:sp>
        <p:nvSpPr>
          <p:cNvPr id="17" name="Google Shape;17;p2"/>
          <p:cNvSpPr txBox="1"/>
          <p:nvPr>
            <p:ph type="title"/>
          </p:nvPr>
        </p:nvSpPr>
        <p:spPr>
          <a:xfrm>
            <a:off x="228600" y="2857500"/>
            <a:ext cx="9525000" cy="2057400"/>
          </a:xfrm>
          <a:prstGeom prst="rect">
            <a:avLst/>
          </a:prstGeom>
          <a:noFill/>
          <a:ln>
            <a:noFill/>
          </a:ln>
        </p:spPr>
        <p:txBody>
          <a:bodyPr anchorCtr="0" anchor="ctr" bIns="91425" lIns="91425" spcFirstLastPara="1" rIns="91425" wrap="square" tIns="91425">
            <a:noAutofit/>
          </a:bodyPr>
          <a:lstStyle>
            <a:lvl1pPr lvl="0" algn="l">
              <a:lnSpc>
                <a:spcPct val="90000"/>
              </a:lnSpc>
              <a:spcBef>
                <a:spcPts val="0"/>
              </a:spcBef>
              <a:spcAft>
                <a:spcPts val="0"/>
              </a:spcAft>
              <a:buClr>
                <a:schemeClr val="lt1"/>
              </a:buClr>
              <a:buSzPts val="3600"/>
              <a:buFont typeface="Calibri"/>
              <a:buNone/>
              <a:defRPr sz="3600">
                <a:solidFill>
                  <a:schemeClr val="lt1"/>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 name="Google Shape;18;p2"/>
          <p:cNvSpPr txBox="1"/>
          <p:nvPr>
            <p:ph idx="12" type="sldNum"/>
          </p:nvPr>
        </p:nvSpPr>
        <p:spPr>
          <a:xfrm>
            <a:off x="9580180" y="7543800"/>
            <a:ext cx="478220" cy="228600"/>
          </a:xfrm>
          <a:prstGeom prst="rect">
            <a:avLst/>
          </a:prstGeom>
          <a:noFill/>
          <a:ln>
            <a:noFill/>
          </a:ln>
        </p:spPr>
        <p:txBody>
          <a:bodyPr anchorCtr="0" anchor="ctr" bIns="9125" lIns="91425" spcFirstLastPara="1" rIns="91425" wrap="square" tIns="9125">
            <a:noAutofit/>
          </a:bodyPr>
          <a:lstStyle>
            <a:lvl1pPr indent="0" lvl="0" algn="r">
              <a:spcBef>
                <a:spcPts val="0"/>
              </a:spcBef>
              <a:buNone/>
              <a:defRPr sz="1100">
                <a:solidFill>
                  <a:srgbClr val="757575"/>
                </a:solidFill>
                <a:latin typeface="Calibri"/>
                <a:ea typeface="Calibri"/>
                <a:cs typeface="Calibri"/>
                <a:sym typeface="Calibri"/>
              </a:defRPr>
            </a:lvl1pPr>
            <a:lvl2pPr indent="0" lvl="1" algn="r">
              <a:spcBef>
                <a:spcPts val="0"/>
              </a:spcBef>
              <a:buNone/>
              <a:defRPr sz="1100">
                <a:solidFill>
                  <a:srgbClr val="757575"/>
                </a:solidFill>
                <a:latin typeface="Calibri"/>
                <a:ea typeface="Calibri"/>
                <a:cs typeface="Calibri"/>
                <a:sym typeface="Calibri"/>
              </a:defRPr>
            </a:lvl2pPr>
            <a:lvl3pPr indent="0" lvl="2" algn="r">
              <a:spcBef>
                <a:spcPts val="0"/>
              </a:spcBef>
              <a:buNone/>
              <a:defRPr sz="1100">
                <a:solidFill>
                  <a:srgbClr val="757575"/>
                </a:solidFill>
                <a:latin typeface="Calibri"/>
                <a:ea typeface="Calibri"/>
                <a:cs typeface="Calibri"/>
                <a:sym typeface="Calibri"/>
              </a:defRPr>
            </a:lvl3pPr>
            <a:lvl4pPr indent="0" lvl="3" algn="r">
              <a:spcBef>
                <a:spcPts val="0"/>
              </a:spcBef>
              <a:buNone/>
              <a:defRPr sz="1100">
                <a:solidFill>
                  <a:srgbClr val="757575"/>
                </a:solidFill>
                <a:latin typeface="Calibri"/>
                <a:ea typeface="Calibri"/>
                <a:cs typeface="Calibri"/>
                <a:sym typeface="Calibri"/>
              </a:defRPr>
            </a:lvl4pPr>
            <a:lvl5pPr indent="0" lvl="4" algn="r">
              <a:spcBef>
                <a:spcPts val="0"/>
              </a:spcBef>
              <a:buNone/>
              <a:defRPr sz="1100">
                <a:solidFill>
                  <a:srgbClr val="757575"/>
                </a:solidFill>
                <a:latin typeface="Calibri"/>
                <a:ea typeface="Calibri"/>
                <a:cs typeface="Calibri"/>
                <a:sym typeface="Calibri"/>
              </a:defRPr>
            </a:lvl5pPr>
            <a:lvl6pPr indent="0" lvl="5" algn="r">
              <a:spcBef>
                <a:spcPts val="0"/>
              </a:spcBef>
              <a:buNone/>
              <a:defRPr sz="1100">
                <a:solidFill>
                  <a:srgbClr val="757575"/>
                </a:solidFill>
                <a:latin typeface="Calibri"/>
                <a:ea typeface="Calibri"/>
                <a:cs typeface="Calibri"/>
                <a:sym typeface="Calibri"/>
              </a:defRPr>
            </a:lvl6pPr>
            <a:lvl7pPr indent="0" lvl="6" algn="r">
              <a:spcBef>
                <a:spcPts val="0"/>
              </a:spcBef>
              <a:buNone/>
              <a:defRPr sz="1100">
                <a:solidFill>
                  <a:srgbClr val="757575"/>
                </a:solidFill>
                <a:latin typeface="Calibri"/>
                <a:ea typeface="Calibri"/>
                <a:cs typeface="Calibri"/>
                <a:sym typeface="Calibri"/>
              </a:defRPr>
            </a:lvl7pPr>
            <a:lvl8pPr indent="0" lvl="7" algn="r">
              <a:spcBef>
                <a:spcPts val="0"/>
              </a:spcBef>
              <a:buNone/>
              <a:defRPr sz="1100">
                <a:solidFill>
                  <a:srgbClr val="757575"/>
                </a:solidFill>
                <a:latin typeface="Calibri"/>
                <a:ea typeface="Calibri"/>
                <a:cs typeface="Calibri"/>
                <a:sym typeface="Calibri"/>
              </a:defRPr>
            </a:lvl8pPr>
            <a:lvl9pPr indent="0" lvl="8" algn="r">
              <a:spcBef>
                <a:spcPts val="0"/>
              </a:spcBef>
              <a:buNone/>
              <a:defRPr sz="1100">
                <a:solidFill>
                  <a:srgbClr val="757575"/>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op Title &amp; Content">
  <p:cSld name="Top Title &amp; Content">
    <p:spTree>
      <p:nvGrpSpPr>
        <p:cNvPr id="19" name="Shape 19"/>
        <p:cNvGrpSpPr/>
        <p:nvPr/>
      </p:nvGrpSpPr>
      <p:grpSpPr>
        <a:xfrm>
          <a:off x="0" y="0"/>
          <a:ext cx="0" cy="0"/>
          <a:chOff x="0" y="0"/>
          <a:chExt cx="0" cy="0"/>
        </a:xfrm>
      </p:grpSpPr>
      <p:sp>
        <p:nvSpPr>
          <p:cNvPr id="20" name="Google Shape;20;p3"/>
          <p:cNvSpPr txBox="1"/>
          <p:nvPr>
            <p:ph idx="1" type="body"/>
          </p:nvPr>
        </p:nvSpPr>
        <p:spPr>
          <a:xfrm>
            <a:off x="266700" y="2057400"/>
            <a:ext cx="9525000" cy="5486400"/>
          </a:xfrm>
          <a:prstGeom prst="rect">
            <a:avLst/>
          </a:prstGeom>
          <a:noFill/>
          <a:ln cap="flat" cmpd="sng" w="25400">
            <a:solidFill>
              <a:schemeClr val="accent1"/>
            </a:solidFill>
            <a:prstDash val="solid"/>
            <a:round/>
            <a:headEnd len="sm" w="sm" type="none"/>
            <a:tailEnd len="sm" w="sm" type="none"/>
          </a:ln>
        </p:spPr>
        <p:txBody>
          <a:bodyPr anchorCtr="0" anchor="t" bIns="91425" lIns="91425" spcFirstLastPara="1" rIns="91425" wrap="square" tIns="91425">
            <a:normAutofit/>
          </a:bodyPr>
          <a:lstStyle>
            <a:lvl1pPr indent="-355600" lvl="0" marL="457200" algn="l">
              <a:lnSpc>
                <a:spcPct val="90000"/>
              </a:lnSpc>
              <a:spcBef>
                <a:spcPts val="1000"/>
              </a:spcBef>
              <a:spcAft>
                <a:spcPts val="0"/>
              </a:spcAft>
              <a:buClr>
                <a:schemeClr val="dk1"/>
              </a:buClr>
              <a:buSzPts val="2000"/>
              <a:buChar char="•"/>
              <a:defRPr sz="2000">
                <a:latin typeface="Calibri"/>
                <a:ea typeface="Calibri"/>
                <a:cs typeface="Calibri"/>
                <a:sym typeface="Calibri"/>
              </a:defRPr>
            </a:lvl1pPr>
            <a:lvl2pPr indent="-342900" lvl="1" marL="914400" algn="l">
              <a:lnSpc>
                <a:spcPct val="90000"/>
              </a:lnSpc>
              <a:spcBef>
                <a:spcPts val="500"/>
              </a:spcBef>
              <a:spcAft>
                <a:spcPts val="0"/>
              </a:spcAft>
              <a:buClr>
                <a:schemeClr val="dk1"/>
              </a:buClr>
              <a:buSzPts val="1800"/>
              <a:buChar char="•"/>
              <a:defRPr sz="1800">
                <a:latin typeface="Calibri"/>
                <a:ea typeface="Calibri"/>
                <a:cs typeface="Calibri"/>
                <a:sym typeface="Calibri"/>
              </a:defRPr>
            </a:lvl2pPr>
            <a:lvl3pPr indent="-330200" lvl="2" marL="1371600" algn="l">
              <a:lnSpc>
                <a:spcPct val="90000"/>
              </a:lnSpc>
              <a:spcBef>
                <a:spcPts val="500"/>
              </a:spcBef>
              <a:spcAft>
                <a:spcPts val="0"/>
              </a:spcAft>
              <a:buClr>
                <a:schemeClr val="dk1"/>
              </a:buClr>
              <a:buSzPts val="1600"/>
              <a:buChar char="•"/>
              <a:defRPr sz="1600">
                <a:latin typeface="Calibri"/>
                <a:ea typeface="Calibri"/>
                <a:cs typeface="Calibri"/>
                <a:sym typeface="Calibri"/>
              </a:defRPr>
            </a:lvl3pPr>
            <a:lvl4pPr indent="-317500" lvl="3" marL="1828800" algn="l">
              <a:lnSpc>
                <a:spcPct val="90000"/>
              </a:lnSpc>
              <a:spcBef>
                <a:spcPts val="500"/>
              </a:spcBef>
              <a:spcAft>
                <a:spcPts val="0"/>
              </a:spcAft>
              <a:buClr>
                <a:schemeClr val="dk1"/>
              </a:buClr>
              <a:buSzPts val="1400"/>
              <a:buChar char="•"/>
              <a:defRPr sz="1400">
                <a:latin typeface="Calibri"/>
                <a:ea typeface="Calibri"/>
                <a:cs typeface="Calibri"/>
                <a:sym typeface="Calibri"/>
              </a:defRPr>
            </a:lvl4pPr>
            <a:lvl5pPr indent="-304800" lvl="4" marL="2286000" algn="l">
              <a:lnSpc>
                <a:spcPct val="90000"/>
              </a:lnSpc>
              <a:spcBef>
                <a:spcPts val="500"/>
              </a:spcBef>
              <a:spcAft>
                <a:spcPts val="0"/>
              </a:spcAft>
              <a:buClr>
                <a:schemeClr val="dk1"/>
              </a:buClr>
              <a:buSzPts val="1200"/>
              <a:buChar char="•"/>
              <a:defRPr sz="1200">
                <a:latin typeface="Calibri"/>
                <a:ea typeface="Calibri"/>
                <a:cs typeface="Calibri"/>
                <a:sym typeface="Calibri"/>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1" name="Google Shape;21;p3"/>
          <p:cNvSpPr/>
          <p:nvPr/>
        </p:nvSpPr>
        <p:spPr>
          <a:xfrm>
            <a:off x="9829800" y="7391401"/>
            <a:ext cx="152400" cy="228599"/>
          </a:xfrm>
          <a:prstGeom prst="rect">
            <a:avLst/>
          </a:prstGeom>
          <a:solidFill>
            <a:schemeClr val="lt1"/>
          </a:solidFill>
          <a:ln>
            <a:noFill/>
          </a:ln>
        </p:spPr>
        <p:txBody>
          <a:bodyPr anchorCtr="0" anchor="ctr" bIns="45700" lIns="91425" spcFirstLastPara="1" rIns="91425" wrap="square" tIns="45700">
            <a:noAutofit/>
          </a:bodyPr>
          <a:lstStyle/>
          <a:p>
            <a:pPr indent="0" lvl="0" marL="0" rtl="0" algn="ctr">
              <a:spcBef>
                <a:spcPts val="0"/>
              </a:spcBef>
              <a:spcAft>
                <a:spcPts val="0"/>
              </a:spcAft>
              <a:buNone/>
            </a:pPr>
            <a:r>
              <a:t/>
            </a:r>
            <a:endParaRPr sz="1800">
              <a:solidFill>
                <a:schemeClr val="lt1"/>
              </a:solidFill>
            </a:endParaRPr>
          </a:p>
        </p:txBody>
      </p:sp>
      <p:pic>
        <p:nvPicPr>
          <p:cNvPr descr="A blue and white rectangle&#10;&#10;Description automatically generated" id="22" name="Google Shape;22;p3"/>
          <p:cNvPicPr preferRelativeResize="0"/>
          <p:nvPr/>
        </p:nvPicPr>
        <p:blipFill rotWithShape="1">
          <a:blip r:embed="rId2">
            <a:alphaModFix/>
          </a:blip>
          <a:srcRect b="75490" l="0" r="0" t="0"/>
          <a:stretch/>
        </p:blipFill>
        <p:spPr>
          <a:xfrm flipH="1" rot="10800000">
            <a:off x="0" y="0"/>
            <a:ext cx="10058400" cy="1905000"/>
          </a:xfrm>
          <a:prstGeom prst="rect">
            <a:avLst/>
          </a:prstGeom>
          <a:noFill/>
          <a:ln>
            <a:noFill/>
          </a:ln>
        </p:spPr>
      </p:pic>
      <p:sp>
        <p:nvSpPr>
          <p:cNvPr id="23" name="Google Shape;23;p3"/>
          <p:cNvSpPr txBox="1"/>
          <p:nvPr>
            <p:ph type="title"/>
          </p:nvPr>
        </p:nvSpPr>
        <p:spPr>
          <a:xfrm>
            <a:off x="266700" y="114300"/>
            <a:ext cx="9525000" cy="1676400"/>
          </a:xfrm>
          <a:prstGeom prst="rect">
            <a:avLst/>
          </a:prstGeom>
          <a:noFill/>
          <a:ln>
            <a:noFill/>
          </a:ln>
        </p:spPr>
        <p:txBody>
          <a:bodyPr anchorCtr="0" anchor="ctr" bIns="91425" lIns="91425" spcFirstLastPara="1" rIns="91425" wrap="square" tIns="91425">
            <a:noAutofit/>
          </a:bodyPr>
          <a:lstStyle>
            <a:lvl1pPr lvl="0" algn="l">
              <a:lnSpc>
                <a:spcPct val="90000"/>
              </a:lnSpc>
              <a:spcBef>
                <a:spcPts val="0"/>
              </a:spcBef>
              <a:spcAft>
                <a:spcPts val="0"/>
              </a:spcAft>
              <a:buClr>
                <a:schemeClr val="lt1"/>
              </a:buClr>
              <a:buSzPts val="3600"/>
              <a:buFont typeface="Calibri"/>
              <a:buNone/>
              <a:defRPr sz="3600">
                <a:solidFill>
                  <a:schemeClr val="lt1"/>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 name="Google Shape;24;p3"/>
          <p:cNvSpPr txBox="1"/>
          <p:nvPr>
            <p:ph idx="12" type="sldNum"/>
          </p:nvPr>
        </p:nvSpPr>
        <p:spPr>
          <a:xfrm>
            <a:off x="9580180" y="7543800"/>
            <a:ext cx="478220" cy="228600"/>
          </a:xfrm>
          <a:prstGeom prst="rect">
            <a:avLst/>
          </a:prstGeom>
          <a:noFill/>
          <a:ln>
            <a:noFill/>
          </a:ln>
        </p:spPr>
        <p:txBody>
          <a:bodyPr anchorCtr="0" anchor="ctr" bIns="9125" lIns="91425" spcFirstLastPara="1" rIns="91425" wrap="square" tIns="9125">
            <a:noAutofit/>
          </a:bodyPr>
          <a:lstStyle>
            <a:lvl1pPr indent="0" lvl="0" algn="r">
              <a:spcBef>
                <a:spcPts val="0"/>
              </a:spcBef>
              <a:buNone/>
              <a:defRPr sz="1100">
                <a:solidFill>
                  <a:srgbClr val="757575"/>
                </a:solidFill>
                <a:latin typeface="Calibri"/>
                <a:ea typeface="Calibri"/>
                <a:cs typeface="Calibri"/>
                <a:sym typeface="Calibri"/>
              </a:defRPr>
            </a:lvl1pPr>
            <a:lvl2pPr indent="0" lvl="1" algn="r">
              <a:spcBef>
                <a:spcPts val="0"/>
              </a:spcBef>
              <a:buNone/>
              <a:defRPr sz="1100">
                <a:solidFill>
                  <a:srgbClr val="757575"/>
                </a:solidFill>
                <a:latin typeface="Calibri"/>
                <a:ea typeface="Calibri"/>
                <a:cs typeface="Calibri"/>
                <a:sym typeface="Calibri"/>
              </a:defRPr>
            </a:lvl2pPr>
            <a:lvl3pPr indent="0" lvl="2" algn="r">
              <a:spcBef>
                <a:spcPts val="0"/>
              </a:spcBef>
              <a:buNone/>
              <a:defRPr sz="1100">
                <a:solidFill>
                  <a:srgbClr val="757575"/>
                </a:solidFill>
                <a:latin typeface="Calibri"/>
                <a:ea typeface="Calibri"/>
                <a:cs typeface="Calibri"/>
                <a:sym typeface="Calibri"/>
              </a:defRPr>
            </a:lvl3pPr>
            <a:lvl4pPr indent="0" lvl="3" algn="r">
              <a:spcBef>
                <a:spcPts val="0"/>
              </a:spcBef>
              <a:buNone/>
              <a:defRPr sz="1100">
                <a:solidFill>
                  <a:srgbClr val="757575"/>
                </a:solidFill>
                <a:latin typeface="Calibri"/>
                <a:ea typeface="Calibri"/>
                <a:cs typeface="Calibri"/>
                <a:sym typeface="Calibri"/>
              </a:defRPr>
            </a:lvl4pPr>
            <a:lvl5pPr indent="0" lvl="4" algn="r">
              <a:spcBef>
                <a:spcPts val="0"/>
              </a:spcBef>
              <a:buNone/>
              <a:defRPr sz="1100">
                <a:solidFill>
                  <a:srgbClr val="757575"/>
                </a:solidFill>
                <a:latin typeface="Calibri"/>
                <a:ea typeface="Calibri"/>
                <a:cs typeface="Calibri"/>
                <a:sym typeface="Calibri"/>
              </a:defRPr>
            </a:lvl5pPr>
            <a:lvl6pPr indent="0" lvl="5" algn="r">
              <a:spcBef>
                <a:spcPts val="0"/>
              </a:spcBef>
              <a:buNone/>
              <a:defRPr sz="1100">
                <a:solidFill>
                  <a:srgbClr val="757575"/>
                </a:solidFill>
                <a:latin typeface="Calibri"/>
                <a:ea typeface="Calibri"/>
                <a:cs typeface="Calibri"/>
                <a:sym typeface="Calibri"/>
              </a:defRPr>
            </a:lvl6pPr>
            <a:lvl7pPr indent="0" lvl="6" algn="r">
              <a:spcBef>
                <a:spcPts val="0"/>
              </a:spcBef>
              <a:buNone/>
              <a:defRPr sz="1100">
                <a:solidFill>
                  <a:srgbClr val="757575"/>
                </a:solidFill>
                <a:latin typeface="Calibri"/>
                <a:ea typeface="Calibri"/>
                <a:cs typeface="Calibri"/>
                <a:sym typeface="Calibri"/>
              </a:defRPr>
            </a:lvl7pPr>
            <a:lvl8pPr indent="0" lvl="7" algn="r">
              <a:spcBef>
                <a:spcPts val="0"/>
              </a:spcBef>
              <a:buNone/>
              <a:defRPr sz="1100">
                <a:solidFill>
                  <a:srgbClr val="757575"/>
                </a:solidFill>
                <a:latin typeface="Calibri"/>
                <a:ea typeface="Calibri"/>
                <a:cs typeface="Calibri"/>
                <a:sym typeface="Calibri"/>
              </a:defRPr>
            </a:lvl8pPr>
            <a:lvl9pPr indent="0" lvl="8" algn="r">
              <a:spcBef>
                <a:spcPts val="0"/>
              </a:spcBef>
              <a:buNone/>
              <a:defRPr sz="1100">
                <a:solidFill>
                  <a:srgbClr val="757575"/>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25" name="Shape 25"/>
        <p:cNvGrpSpPr/>
        <p:nvPr/>
      </p:nvGrpSpPr>
      <p:grpSpPr>
        <a:xfrm>
          <a:off x="0" y="0"/>
          <a:ext cx="0" cy="0"/>
          <a:chOff x="0" y="0"/>
          <a:chExt cx="0" cy="0"/>
        </a:xfrm>
      </p:grpSpPr>
      <p:pic>
        <p:nvPicPr>
          <p:cNvPr descr="A blue and white background&#10;&#10;Description automatically generated" id="26" name="Google Shape;26;p4"/>
          <p:cNvPicPr preferRelativeResize="0"/>
          <p:nvPr/>
        </p:nvPicPr>
        <p:blipFill rotWithShape="1">
          <a:blip r:embed="rId2">
            <a:alphaModFix/>
          </a:blip>
          <a:srcRect b="0" l="0" r="0" t="0"/>
          <a:stretch/>
        </p:blipFill>
        <p:spPr>
          <a:xfrm>
            <a:off x="0" y="0"/>
            <a:ext cx="10058400" cy="7772400"/>
          </a:xfrm>
          <a:prstGeom prst="rect">
            <a:avLst/>
          </a:prstGeom>
          <a:noFill/>
          <a:ln>
            <a:noFill/>
          </a:ln>
        </p:spPr>
      </p:pic>
      <p:sp>
        <p:nvSpPr>
          <p:cNvPr id="27" name="Google Shape;27;p4"/>
          <p:cNvSpPr txBox="1"/>
          <p:nvPr>
            <p:ph type="ctrTitle"/>
          </p:nvPr>
        </p:nvSpPr>
        <p:spPr>
          <a:xfrm>
            <a:off x="1266711" y="1789113"/>
            <a:ext cx="8254910" cy="2706687"/>
          </a:xfrm>
          <a:prstGeom prst="rect">
            <a:avLst/>
          </a:prstGeom>
          <a:noFill/>
          <a:ln>
            <a:noFill/>
          </a:ln>
        </p:spPr>
        <p:txBody>
          <a:bodyPr anchorCtr="0" anchor="b" bIns="91425" lIns="91425" spcFirstLastPara="1" rIns="91425" wrap="square" tIns="91425">
            <a:normAutofit/>
          </a:bodyPr>
          <a:lstStyle>
            <a:lvl1pPr lvl="0" algn="l">
              <a:lnSpc>
                <a:spcPct val="90000"/>
              </a:lnSpc>
              <a:spcBef>
                <a:spcPts val="0"/>
              </a:spcBef>
              <a:spcAft>
                <a:spcPts val="0"/>
              </a:spcAft>
              <a:buClr>
                <a:schemeClr val="lt1"/>
              </a:buClr>
              <a:buSzPts val="4400"/>
              <a:buFont typeface="Calibri"/>
              <a:buNone/>
              <a:defRPr sz="4400">
                <a:solidFill>
                  <a:schemeClr val="lt1"/>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 name="Google Shape;28;p4"/>
          <p:cNvSpPr txBox="1"/>
          <p:nvPr>
            <p:ph idx="1" type="subTitle"/>
          </p:nvPr>
        </p:nvSpPr>
        <p:spPr>
          <a:xfrm>
            <a:off x="1266711" y="5672667"/>
            <a:ext cx="8254910" cy="1652692"/>
          </a:xfrm>
          <a:prstGeom prst="rect">
            <a:avLst/>
          </a:prstGeom>
          <a:noFill/>
          <a:ln>
            <a:noFill/>
          </a:ln>
        </p:spPr>
        <p:txBody>
          <a:bodyPr anchorCtr="0" anchor="ctr" bIns="91425" lIns="91425" spcFirstLastPara="1" rIns="91425" wrap="square" tIns="91425">
            <a:normAutofit/>
          </a:bodyPr>
          <a:lstStyle>
            <a:lvl1pPr lvl="0" algn="l">
              <a:lnSpc>
                <a:spcPct val="90000"/>
              </a:lnSpc>
              <a:spcBef>
                <a:spcPts val="1000"/>
              </a:spcBef>
              <a:spcAft>
                <a:spcPts val="0"/>
              </a:spcAft>
              <a:buClr>
                <a:schemeClr val="dk1"/>
              </a:buClr>
              <a:buSzPts val="2400"/>
              <a:buNone/>
              <a:defRPr b="0" sz="2400">
                <a:latin typeface="Calibri"/>
                <a:ea typeface="Calibri"/>
                <a:cs typeface="Calibri"/>
                <a:sym typeface="Calibri"/>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op Title &amp; Long Content" type="obj">
  <p:cSld name="OBJECT">
    <p:spTree>
      <p:nvGrpSpPr>
        <p:cNvPr id="29" name="Shape 29"/>
        <p:cNvGrpSpPr/>
        <p:nvPr/>
      </p:nvGrpSpPr>
      <p:grpSpPr>
        <a:xfrm>
          <a:off x="0" y="0"/>
          <a:ext cx="0" cy="0"/>
          <a:chOff x="0" y="0"/>
          <a:chExt cx="0" cy="0"/>
        </a:xfrm>
      </p:grpSpPr>
      <p:pic>
        <p:nvPicPr>
          <p:cNvPr descr="A blue and white rectangle&#10;&#10;Description automatically generated" id="30" name="Google Shape;30;p5"/>
          <p:cNvPicPr preferRelativeResize="0"/>
          <p:nvPr/>
        </p:nvPicPr>
        <p:blipFill rotWithShape="1">
          <a:blip r:embed="rId2">
            <a:alphaModFix/>
          </a:blip>
          <a:srcRect b="87256" l="0" r="0" t="0"/>
          <a:stretch/>
        </p:blipFill>
        <p:spPr>
          <a:xfrm>
            <a:off x="0" y="0"/>
            <a:ext cx="10058400" cy="990600"/>
          </a:xfrm>
          <a:prstGeom prst="rect">
            <a:avLst/>
          </a:prstGeom>
          <a:noFill/>
          <a:ln>
            <a:noFill/>
          </a:ln>
        </p:spPr>
      </p:pic>
      <p:sp>
        <p:nvSpPr>
          <p:cNvPr id="31" name="Google Shape;31;p5"/>
          <p:cNvSpPr txBox="1"/>
          <p:nvPr>
            <p:ph type="title"/>
          </p:nvPr>
        </p:nvSpPr>
        <p:spPr>
          <a:xfrm>
            <a:off x="228600" y="152400"/>
            <a:ext cx="9525000" cy="685800"/>
          </a:xfrm>
          <a:prstGeom prst="rect">
            <a:avLst/>
          </a:prstGeom>
          <a:noFill/>
          <a:ln>
            <a:noFill/>
          </a:ln>
        </p:spPr>
        <p:txBody>
          <a:bodyPr anchorCtr="0" anchor="ctr" bIns="91425" lIns="91425" spcFirstLastPara="1" rIns="91425" wrap="square" tIns="91425">
            <a:noAutofit/>
          </a:bodyPr>
          <a:lstStyle>
            <a:lvl1pPr lvl="0" algn="l">
              <a:lnSpc>
                <a:spcPct val="90000"/>
              </a:lnSpc>
              <a:spcBef>
                <a:spcPts val="0"/>
              </a:spcBef>
              <a:spcAft>
                <a:spcPts val="0"/>
              </a:spcAft>
              <a:buClr>
                <a:schemeClr val="lt1"/>
              </a:buClr>
              <a:buSzPts val="3600"/>
              <a:buFont typeface="Calibri"/>
              <a:buNone/>
              <a:defRPr sz="3600">
                <a:solidFill>
                  <a:schemeClr val="lt1"/>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2" name="Google Shape;32;p5"/>
          <p:cNvSpPr txBox="1"/>
          <p:nvPr>
            <p:ph idx="1" type="body"/>
          </p:nvPr>
        </p:nvSpPr>
        <p:spPr>
          <a:xfrm>
            <a:off x="228600" y="1143000"/>
            <a:ext cx="9525000" cy="6248401"/>
          </a:xfrm>
          <a:prstGeom prst="rect">
            <a:avLst/>
          </a:prstGeom>
          <a:noFill/>
          <a:ln cap="flat" cmpd="sng" w="25400">
            <a:solidFill>
              <a:schemeClr val="accent1"/>
            </a:solidFill>
            <a:prstDash val="solid"/>
            <a:round/>
            <a:headEnd len="sm" w="sm" type="none"/>
            <a:tailEnd len="sm" w="sm" type="none"/>
          </a:ln>
        </p:spPr>
        <p:txBody>
          <a:bodyPr anchorCtr="0" anchor="t" bIns="91425" lIns="91425" spcFirstLastPara="1" rIns="91425" wrap="square" tIns="91425">
            <a:normAutofit/>
          </a:bodyPr>
          <a:lstStyle>
            <a:lvl1pPr indent="-355600" lvl="0" marL="457200" algn="l">
              <a:lnSpc>
                <a:spcPct val="90000"/>
              </a:lnSpc>
              <a:spcBef>
                <a:spcPts val="1000"/>
              </a:spcBef>
              <a:spcAft>
                <a:spcPts val="0"/>
              </a:spcAft>
              <a:buClr>
                <a:schemeClr val="dk1"/>
              </a:buClr>
              <a:buSzPts val="2000"/>
              <a:buChar char="•"/>
              <a:defRPr sz="2000">
                <a:latin typeface="Calibri"/>
                <a:ea typeface="Calibri"/>
                <a:cs typeface="Calibri"/>
                <a:sym typeface="Calibri"/>
              </a:defRPr>
            </a:lvl1pPr>
            <a:lvl2pPr indent="-342900" lvl="1" marL="914400" algn="l">
              <a:lnSpc>
                <a:spcPct val="90000"/>
              </a:lnSpc>
              <a:spcBef>
                <a:spcPts val="500"/>
              </a:spcBef>
              <a:spcAft>
                <a:spcPts val="0"/>
              </a:spcAft>
              <a:buClr>
                <a:schemeClr val="dk1"/>
              </a:buClr>
              <a:buSzPts val="1800"/>
              <a:buChar char="•"/>
              <a:defRPr sz="1800">
                <a:latin typeface="Calibri"/>
                <a:ea typeface="Calibri"/>
                <a:cs typeface="Calibri"/>
                <a:sym typeface="Calibri"/>
              </a:defRPr>
            </a:lvl2pPr>
            <a:lvl3pPr indent="-330200" lvl="2" marL="1371600" algn="l">
              <a:lnSpc>
                <a:spcPct val="90000"/>
              </a:lnSpc>
              <a:spcBef>
                <a:spcPts val="500"/>
              </a:spcBef>
              <a:spcAft>
                <a:spcPts val="0"/>
              </a:spcAft>
              <a:buClr>
                <a:schemeClr val="dk1"/>
              </a:buClr>
              <a:buSzPts val="1600"/>
              <a:buChar char="•"/>
              <a:defRPr sz="1600">
                <a:latin typeface="Calibri"/>
                <a:ea typeface="Calibri"/>
                <a:cs typeface="Calibri"/>
                <a:sym typeface="Calibri"/>
              </a:defRPr>
            </a:lvl3pPr>
            <a:lvl4pPr indent="-317500" lvl="3" marL="1828800" algn="l">
              <a:lnSpc>
                <a:spcPct val="90000"/>
              </a:lnSpc>
              <a:spcBef>
                <a:spcPts val="500"/>
              </a:spcBef>
              <a:spcAft>
                <a:spcPts val="0"/>
              </a:spcAft>
              <a:buClr>
                <a:schemeClr val="dk1"/>
              </a:buClr>
              <a:buSzPts val="1400"/>
              <a:buChar char="•"/>
              <a:defRPr sz="1400">
                <a:latin typeface="Calibri"/>
                <a:ea typeface="Calibri"/>
                <a:cs typeface="Calibri"/>
                <a:sym typeface="Calibri"/>
              </a:defRPr>
            </a:lvl4pPr>
            <a:lvl5pPr indent="-304800" lvl="4" marL="2286000" algn="l">
              <a:lnSpc>
                <a:spcPct val="90000"/>
              </a:lnSpc>
              <a:spcBef>
                <a:spcPts val="500"/>
              </a:spcBef>
              <a:spcAft>
                <a:spcPts val="0"/>
              </a:spcAft>
              <a:buClr>
                <a:schemeClr val="dk1"/>
              </a:buClr>
              <a:buSzPts val="1200"/>
              <a:buChar char="•"/>
              <a:defRPr sz="1200">
                <a:latin typeface="Calibri"/>
                <a:ea typeface="Calibri"/>
                <a:cs typeface="Calibri"/>
                <a:sym typeface="Calibri"/>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3" name="Google Shape;33;p5"/>
          <p:cNvSpPr txBox="1"/>
          <p:nvPr>
            <p:ph idx="12" type="sldNum"/>
          </p:nvPr>
        </p:nvSpPr>
        <p:spPr>
          <a:xfrm>
            <a:off x="9580180" y="7543800"/>
            <a:ext cx="478220" cy="228600"/>
          </a:xfrm>
          <a:prstGeom prst="rect">
            <a:avLst/>
          </a:prstGeom>
          <a:noFill/>
          <a:ln>
            <a:noFill/>
          </a:ln>
        </p:spPr>
        <p:txBody>
          <a:bodyPr anchorCtr="0" anchor="ctr" bIns="9125" lIns="91425" spcFirstLastPara="1" rIns="91425" wrap="square" tIns="9125">
            <a:noAutofit/>
          </a:bodyPr>
          <a:lstStyle>
            <a:lvl1pPr indent="0" lvl="0" algn="r">
              <a:spcBef>
                <a:spcPts val="0"/>
              </a:spcBef>
              <a:buNone/>
              <a:defRPr sz="1100">
                <a:solidFill>
                  <a:srgbClr val="757575"/>
                </a:solidFill>
                <a:latin typeface="Calibri"/>
                <a:ea typeface="Calibri"/>
                <a:cs typeface="Calibri"/>
                <a:sym typeface="Calibri"/>
              </a:defRPr>
            </a:lvl1pPr>
            <a:lvl2pPr indent="0" lvl="1" algn="r">
              <a:spcBef>
                <a:spcPts val="0"/>
              </a:spcBef>
              <a:buNone/>
              <a:defRPr sz="1100">
                <a:solidFill>
                  <a:srgbClr val="757575"/>
                </a:solidFill>
                <a:latin typeface="Calibri"/>
                <a:ea typeface="Calibri"/>
                <a:cs typeface="Calibri"/>
                <a:sym typeface="Calibri"/>
              </a:defRPr>
            </a:lvl2pPr>
            <a:lvl3pPr indent="0" lvl="2" algn="r">
              <a:spcBef>
                <a:spcPts val="0"/>
              </a:spcBef>
              <a:buNone/>
              <a:defRPr sz="1100">
                <a:solidFill>
                  <a:srgbClr val="757575"/>
                </a:solidFill>
                <a:latin typeface="Calibri"/>
                <a:ea typeface="Calibri"/>
                <a:cs typeface="Calibri"/>
                <a:sym typeface="Calibri"/>
              </a:defRPr>
            </a:lvl3pPr>
            <a:lvl4pPr indent="0" lvl="3" algn="r">
              <a:spcBef>
                <a:spcPts val="0"/>
              </a:spcBef>
              <a:buNone/>
              <a:defRPr sz="1100">
                <a:solidFill>
                  <a:srgbClr val="757575"/>
                </a:solidFill>
                <a:latin typeface="Calibri"/>
                <a:ea typeface="Calibri"/>
                <a:cs typeface="Calibri"/>
                <a:sym typeface="Calibri"/>
              </a:defRPr>
            </a:lvl4pPr>
            <a:lvl5pPr indent="0" lvl="4" algn="r">
              <a:spcBef>
                <a:spcPts val="0"/>
              </a:spcBef>
              <a:buNone/>
              <a:defRPr sz="1100">
                <a:solidFill>
                  <a:srgbClr val="757575"/>
                </a:solidFill>
                <a:latin typeface="Calibri"/>
                <a:ea typeface="Calibri"/>
                <a:cs typeface="Calibri"/>
                <a:sym typeface="Calibri"/>
              </a:defRPr>
            </a:lvl5pPr>
            <a:lvl6pPr indent="0" lvl="5" algn="r">
              <a:spcBef>
                <a:spcPts val="0"/>
              </a:spcBef>
              <a:buNone/>
              <a:defRPr sz="1100">
                <a:solidFill>
                  <a:srgbClr val="757575"/>
                </a:solidFill>
                <a:latin typeface="Calibri"/>
                <a:ea typeface="Calibri"/>
                <a:cs typeface="Calibri"/>
                <a:sym typeface="Calibri"/>
              </a:defRPr>
            </a:lvl6pPr>
            <a:lvl7pPr indent="0" lvl="6" algn="r">
              <a:spcBef>
                <a:spcPts val="0"/>
              </a:spcBef>
              <a:buNone/>
              <a:defRPr sz="1100">
                <a:solidFill>
                  <a:srgbClr val="757575"/>
                </a:solidFill>
                <a:latin typeface="Calibri"/>
                <a:ea typeface="Calibri"/>
                <a:cs typeface="Calibri"/>
                <a:sym typeface="Calibri"/>
              </a:defRPr>
            </a:lvl7pPr>
            <a:lvl8pPr indent="0" lvl="7" algn="r">
              <a:spcBef>
                <a:spcPts val="0"/>
              </a:spcBef>
              <a:buNone/>
              <a:defRPr sz="1100">
                <a:solidFill>
                  <a:srgbClr val="757575"/>
                </a:solidFill>
                <a:latin typeface="Calibri"/>
                <a:ea typeface="Calibri"/>
                <a:cs typeface="Calibri"/>
                <a:sym typeface="Calibri"/>
              </a:defRPr>
            </a:lvl8pPr>
            <a:lvl9pPr indent="0" lvl="8" algn="r">
              <a:spcBef>
                <a:spcPts val="0"/>
              </a:spcBef>
              <a:buNone/>
              <a:defRPr sz="1100">
                <a:solidFill>
                  <a:srgbClr val="757575"/>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ottom Title &amp; Content">
  <p:cSld name="Bottom Title &amp; Content">
    <p:spTree>
      <p:nvGrpSpPr>
        <p:cNvPr id="34" name="Shape 34"/>
        <p:cNvGrpSpPr/>
        <p:nvPr/>
      </p:nvGrpSpPr>
      <p:grpSpPr>
        <a:xfrm>
          <a:off x="0" y="0"/>
          <a:ext cx="0" cy="0"/>
          <a:chOff x="0" y="0"/>
          <a:chExt cx="0" cy="0"/>
        </a:xfrm>
      </p:grpSpPr>
      <p:pic>
        <p:nvPicPr>
          <p:cNvPr descr="A blue and white rectangle&#10;&#10;Description automatically generated" id="35" name="Google Shape;35;p6"/>
          <p:cNvPicPr preferRelativeResize="0"/>
          <p:nvPr/>
        </p:nvPicPr>
        <p:blipFill rotWithShape="1">
          <a:blip r:embed="rId2">
            <a:alphaModFix/>
          </a:blip>
          <a:srcRect b="75490" l="0" r="0" t="0"/>
          <a:stretch/>
        </p:blipFill>
        <p:spPr>
          <a:xfrm flipH="1" rot="10800000">
            <a:off x="0" y="5867400"/>
            <a:ext cx="10058400" cy="1905000"/>
          </a:xfrm>
          <a:prstGeom prst="rect">
            <a:avLst/>
          </a:prstGeom>
          <a:noFill/>
          <a:ln>
            <a:noFill/>
          </a:ln>
        </p:spPr>
      </p:pic>
      <p:sp>
        <p:nvSpPr>
          <p:cNvPr id="36" name="Google Shape;36;p6"/>
          <p:cNvSpPr txBox="1"/>
          <p:nvPr>
            <p:ph idx="1" type="body"/>
          </p:nvPr>
        </p:nvSpPr>
        <p:spPr>
          <a:xfrm>
            <a:off x="266700" y="228600"/>
            <a:ext cx="9525000" cy="5486400"/>
          </a:xfrm>
          <a:prstGeom prst="rect">
            <a:avLst/>
          </a:prstGeom>
          <a:noFill/>
          <a:ln cap="flat" cmpd="sng" w="25400">
            <a:solidFill>
              <a:schemeClr val="accent1"/>
            </a:solidFill>
            <a:prstDash val="solid"/>
            <a:round/>
            <a:headEnd len="sm" w="sm" type="none"/>
            <a:tailEnd len="sm" w="sm" type="none"/>
          </a:ln>
        </p:spPr>
        <p:txBody>
          <a:bodyPr anchorCtr="0" anchor="t" bIns="91425" lIns="91425" spcFirstLastPara="1" rIns="91425" wrap="square" tIns="91425">
            <a:normAutofit/>
          </a:bodyPr>
          <a:lstStyle>
            <a:lvl1pPr indent="-355600" lvl="0" marL="457200" algn="l">
              <a:lnSpc>
                <a:spcPct val="90000"/>
              </a:lnSpc>
              <a:spcBef>
                <a:spcPts val="1000"/>
              </a:spcBef>
              <a:spcAft>
                <a:spcPts val="0"/>
              </a:spcAft>
              <a:buClr>
                <a:schemeClr val="dk1"/>
              </a:buClr>
              <a:buSzPts val="2000"/>
              <a:buChar char="•"/>
              <a:defRPr sz="2000">
                <a:latin typeface="Calibri"/>
                <a:ea typeface="Calibri"/>
                <a:cs typeface="Calibri"/>
                <a:sym typeface="Calibri"/>
              </a:defRPr>
            </a:lvl1pPr>
            <a:lvl2pPr indent="-342900" lvl="1" marL="914400" algn="l">
              <a:lnSpc>
                <a:spcPct val="90000"/>
              </a:lnSpc>
              <a:spcBef>
                <a:spcPts val="500"/>
              </a:spcBef>
              <a:spcAft>
                <a:spcPts val="0"/>
              </a:spcAft>
              <a:buClr>
                <a:schemeClr val="dk1"/>
              </a:buClr>
              <a:buSzPts val="1800"/>
              <a:buChar char="•"/>
              <a:defRPr sz="1800">
                <a:latin typeface="Calibri"/>
                <a:ea typeface="Calibri"/>
                <a:cs typeface="Calibri"/>
                <a:sym typeface="Calibri"/>
              </a:defRPr>
            </a:lvl2pPr>
            <a:lvl3pPr indent="-330200" lvl="2" marL="1371600" algn="l">
              <a:lnSpc>
                <a:spcPct val="90000"/>
              </a:lnSpc>
              <a:spcBef>
                <a:spcPts val="500"/>
              </a:spcBef>
              <a:spcAft>
                <a:spcPts val="0"/>
              </a:spcAft>
              <a:buClr>
                <a:schemeClr val="dk1"/>
              </a:buClr>
              <a:buSzPts val="1600"/>
              <a:buChar char="•"/>
              <a:defRPr sz="1600">
                <a:latin typeface="Calibri"/>
                <a:ea typeface="Calibri"/>
                <a:cs typeface="Calibri"/>
                <a:sym typeface="Calibri"/>
              </a:defRPr>
            </a:lvl3pPr>
            <a:lvl4pPr indent="-317500" lvl="3" marL="1828800" algn="l">
              <a:lnSpc>
                <a:spcPct val="90000"/>
              </a:lnSpc>
              <a:spcBef>
                <a:spcPts val="500"/>
              </a:spcBef>
              <a:spcAft>
                <a:spcPts val="0"/>
              </a:spcAft>
              <a:buClr>
                <a:schemeClr val="dk1"/>
              </a:buClr>
              <a:buSzPts val="1400"/>
              <a:buChar char="•"/>
              <a:defRPr sz="1400">
                <a:latin typeface="Calibri"/>
                <a:ea typeface="Calibri"/>
                <a:cs typeface="Calibri"/>
                <a:sym typeface="Calibri"/>
              </a:defRPr>
            </a:lvl4pPr>
            <a:lvl5pPr indent="-304800" lvl="4" marL="2286000" algn="l">
              <a:lnSpc>
                <a:spcPct val="90000"/>
              </a:lnSpc>
              <a:spcBef>
                <a:spcPts val="500"/>
              </a:spcBef>
              <a:spcAft>
                <a:spcPts val="0"/>
              </a:spcAft>
              <a:buClr>
                <a:schemeClr val="dk1"/>
              </a:buClr>
              <a:buSzPts val="1200"/>
              <a:buChar char="•"/>
              <a:defRPr sz="1200">
                <a:latin typeface="Calibri"/>
                <a:ea typeface="Calibri"/>
                <a:cs typeface="Calibri"/>
                <a:sym typeface="Calibri"/>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6"/>
          <p:cNvSpPr txBox="1"/>
          <p:nvPr>
            <p:ph type="title"/>
          </p:nvPr>
        </p:nvSpPr>
        <p:spPr>
          <a:xfrm>
            <a:off x="266700" y="5981700"/>
            <a:ext cx="9525000" cy="1676400"/>
          </a:xfrm>
          <a:prstGeom prst="rect">
            <a:avLst/>
          </a:prstGeom>
          <a:noFill/>
          <a:ln>
            <a:noFill/>
          </a:ln>
        </p:spPr>
        <p:txBody>
          <a:bodyPr anchorCtr="0" anchor="ctr" bIns="91425" lIns="91425" spcFirstLastPara="1" rIns="91425" wrap="square" tIns="91425">
            <a:noAutofit/>
          </a:bodyPr>
          <a:lstStyle>
            <a:lvl1pPr lvl="0" algn="l">
              <a:lnSpc>
                <a:spcPct val="90000"/>
              </a:lnSpc>
              <a:spcBef>
                <a:spcPts val="0"/>
              </a:spcBef>
              <a:spcAft>
                <a:spcPts val="0"/>
              </a:spcAft>
              <a:buClr>
                <a:schemeClr val="lt1"/>
              </a:buClr>
              <a:buSzPts val="3600"/>
              <a:buFont typeface="Calibri"/>
              <a:buNone/>
              <a:defRPr sz="3600">
                <a:solidFill>
                  <a:schemeClr val="lt1"/>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6"/>
          <p:cNvSpPr txBox="1"/>
          <p:nvPr>
            <p:ph idx="12" type="sldNum"/>
          </p:nvPr>
        </p:nvSpPr>
        <p:spPr>
          <a:xfrm>
            <a:off x="9580180" y="7543800"/>
            <a:ext cx="478220" cy="228600"/>
          </a:xfrm>
          <a:prstGeom prst="rect">
            <a:avLst/>
          </a:prstGeom>
          <a:noFill/>
          <a:ln>
            <a:noFill/>
          </a:ln>
        </p:spPr>
        <p:txBody>
          <a:bodyPr anchorCtr="0" anchor="ctr" bIns="9125" lIns="91425" spcFirstLastPara="1" rIns="91425" wrap="square" tIns="9125">
            <a:noAutofit/>
          </a:bodyPr>
          <a:lstStyle>
            <a:lvl1pPr indent="0" lvl="0" algn="r">
              <a:spcBef>
                <a:spcPts val="0"/>
              </a:spcBef>
              <a:buNone/>
              <a:defRPr sz="1100">
                <a:solidFill>
                  <a:srgbClr val="757575"/>
                </a:solidFill>
                <a:latin typeface="Calibri"/>
                <a:ea typeface="Calibri"/>
                <a:cs typeface="Calibri"/>
                <a:sym typeface="Calibri"/>
              </a:defRPr>
            </a:lvl1pPr>
            <a:lvl2pPr indent="0" lvl="1" algn="r">
              <a:spcBef>
                <a:spcPts val="0"/>
              </a:spcBef>
              <a:buNone/>
              <a:defRPr sz="1100">
                <a:solidFill>
                  <a:srgbClr val="757575"/>
                </a:solidFill>
                <a:latin typeface="Calibri"/>
                <a:ea typeface="Calibri"/>
                <a:cs typeface="Calibri"/>
                <a:sym typeface="Calibri"/>
              </a:defRPr>
            </a:lvl2pPr>
            <a:lvl3pPr indent="0" lvl="2" algn="r">
              <a:spcBef>
                <a:spcPts val="0"/>
              </a:spcBef>
              <a:buNone/>
              <a:defRPr sz="1100">
                <a:solidFill>
                  <a:srgbClr val="757575"/>
                </a:solidFill>
                <a:latin typeface="Calibri"/>
                <a:ea typeface="Calibri"/>
                <a:cs typeface="Calibri"/>
                <a:sym typeface="Calibri"/>
              </a:defRPr>
            </a:lvl3pPr>
            <a:lvl4pPr indent="0" lvl="3" algn="r">
              <a:spcBef>
                <a:spcPts val="0"/>
              </a:spcBef>
              <a:buNone/>
              <a:defRPr sz="1100">
                <a:solidFill>
                  <a:srgbClr val="757575"/>
                </a:solidFill>
                <a:latin typeface="Calibri"/>
                <a:ea typeface="Calibri"/>
                <a:cs typeface="Calibri"/>
                <a:sym typeface="Calibri"/>
              </a:defRPr>
            </a:lvl4pPr>
            <a:lvl5pPr indent="0" lvl="4" algn="r">
              <a:spcBef>
                <a:spcPts val="0"/>
              </a:spcBef>
              <a:buNone/>
              <a:defRPr sz="1100">
                <a:solidFill>
                  <a:srgbClr val="757575"/>
                </a:solidFill>
                <a:latin typeface="Calibri"/>
                <a:ea typeface="Calibri"/>
                <a:cs typeface="Calibri"/>
                <a:sym typeface="Calibri"/>
              </a:defRPr>
            </a:lvl5pPr>
            <a:lvl6pPr indent="0" lvl="5" algn="r">
              <a:spcBef>
                <a:spcPts val="0"/>
              </a:spcBef>
              <a:buNone/>
              <a:defRPr sz="1100">
                <a:solidFill>
                  <a:srgbClr val="757575"/>
                </a:solidFill>
                <a:latin typeface="Calibri"/>
                <a:ea typeface="Calibri"/>
                <a:cs typeface="Calibri"/>
                <a:sym typeface="Calibri"/>
              </a:defRPr>
            </a:lvl6pPr>
            <a:lvl7pPr indent="0" lvl="6" algn="r">
              <a:spcBef>
                <a:spcPts val="0"/>
              </a:spcBef>
              <a:buNone/>
              <a:defRPr sz="1100">
                <a:solidFill>
                  <a:srgbClr val="757575"/>
                </a:solidFill>
                <a:latin typeface="Calibri"/>
                <a:ea typeface="Calibri"/>
                <a:cs typeface="Calibri"/>
                <a:sym typeface="Calibri"/>
              </a:defRPr>
            </a:lvl7pPr>
            <a:lvl8pPr indent="0" lvl="7" algn="r">
              <a:spcBef>
                <a:spcPts val="0"/>
              </a:spcBef>
              <a:buNone/>
              <a:defRPr sz="1100">
                <a:solidFill>
                  <a:srgbClr val="757575"/>
                </a:solidFill>
                <a:latin typeface="Calibri"/>
                <a:ea typeface="Calibri"/>
                <a:cs typeface="Calibri"/>
                <a:sym typeface="Calibri"/>
              </a:defRPr>
            </a:lvl8pPr>
            <a:lvl9pPr indent="0" lvl="8" algn="r">
              <a:spcBef>
                <a:spcPts val="0"/>
              </a:spcBef>
              <a:buNone/>
              <a:defRPr sz="1100">
                <a:solidFill>
                  <a:srgbClr val="757575"/>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op Title &amp; Long Content">
  <p:cSld name="1_Top Title &amp; Long Content">
    <p:spTree>
      <p:nvGrpSpPr>
        <p:cNvPr id="39" name="Shape 39"/>
        <p:cNvGrpSpPr/>
        <p:nvPr/>
      </p:nvGrpSpPr>
      <p:grpSpPr>
        <a:xfrm>
          <a:off x="0" y="0"/>
          <a:ext cx="0" cy="0"/>
          <a:chOff x="0" y="0"/>
          <a:chExt cx="0" cy="0"/>
        </a:xfrm>
      </p:grpSpPr>
      <p:pic>
        <p:nvPicPr>
          <p:cNvPr descr="A blue and white rectangle&#10;&#10;Description automatically generated" id="40" name="Google Shape;40;p7"/>
          <p:cNvPicPr preferRelativeResize="0"/>
          <p:nvPr/>
        </p:nvPicPr>
        <p:blipFill rotWithShape="1">
          <a:blip r:embed="rId2">
            <a:alphaModFix/>
          </a:blip>
          <a:srcRect b="87256" l="0" r="0" t="0"/>
          <a:stretch/>
        </p:blipFill>
        <p:spPr>
          <a:xfrm>
            <a:off x="0" y="6781800"/>
            <a:ext cx="10058400" cy="990600"/>
          </a:xfrm>
          <a:prstGeom prst="rect">
            <a:avLst/>
          </a:prstGeom>
          <a:noFill/>
          <a:ln>
            <a:noFill/>
          </a:ln>
        </p:spPr>
      </p:pic>
      <p:sp>
        <p:nvSpPr>
          <p:cNvPr id="41" name="Google Shape;41;p7"/>
          <p:cNvSpPr txBox="1"/>
          <p:nvPr>
            <p:ph type="title"/>
          </p:nvPr>
        </p:nvSpPr>
        <p:spPr>
          <a:xfrm>
            <a:off x="228600" y="6934200"/>
            <a:ext cx="9525000" cy="685800"/>
          </a:xfrm>
          <a:prstGeom prst="rect">
            <a:avLst/>
          </a:prstGeom>
          <a:noFill/>
          <a:ln>
            <a:noFill/>
          </a:ln>
        </p:spPr>
        <p:txBody>
          <a:bodyPr anchorCtr="0" anchor="ctr" bIns="91425" lIns="91425" spcFirstLastPara="1" rIns="91425" wrap="square" tIns="91425">
            <a:noAutofit/>
          </a:bodyPr>
          <a:lstStyle>
            <a:lvl1pPr lvl="0" algn="l">
              <a:lnSpc>
                <a:spcPct val="90000"/>
              </a:lnSpc>
              <a:spcBef>
                <a:spcPts val="0"/>
              </a:spcBef>
              <a:spcAft>
                <a:spcPts val="0"/>
              </a:spcAft>
              <a:buClr>
                <a:schemeClr val="lt1"/>
              </a:buClr>
              <a:buSzPts val="3600"/>
              <a:buFont typeface="Calibri"/>
              <a:buNone/>
              <a:defRPr sz="3600">
                <a:solidFill>
                  <a:schemeClr val="lt1"/>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228600" y="304800"/>
            <a:ext cx="9525000" cy="6248401"/>
          </a:xfrm>
          <a:prstGeom prst="rect">
            <a:avLst/>
          </a:prstGeom>
          <a:noFill/>
          <a:ln cap="flat" cmpd="sng" w="25400">
            <a:solidFill>
              <a:schemeClr val="accent1"/>
            </a:solidFill>
            <a:prstDash val="solid"/>
            <a:round/>
            <a:headEnd len="sm" w="sm" type="none"/>
            <a:tailEnd len="sm" w="sm" type="none"/>
          </a:ln>
        </p:spPr>
        <p:txBody>
          <a:bodyPr anchorCtr="0" anchor="t" bIns="91425" lIns="91425" spcFirstLastPara="1" rIns="91425" wrap="square" tIns="91425">
            <a:normAutofit/>
          </a:bodyPr>
          <a:lstStyle>
            <a:lvl1pPr indent="-355600" lvl="0" marL="457200" algn="l">
              <a:lnSpc>
                <a:spcPct val="90000"/>
              </a:lnSpc>
              <a:spcBef>
                <a:spcPts val="1000"/>
              </a:spcBef>
              <a:spcAft>
                <a:spcPts val="0"/>
              </a:spcAft>
              <a:buClr>
                <a:schemeClr val="dk1"/>
              </a:buClr>
              <a:buSzPts val="2000"/>
              <a:buChar char="•"/>
              <a:defRPr sz="2000">
                <a:latin typeface="Calibri"/>
                <a:ea typeface="Calibri"/>
                <a:cs typeface="Calibri"/>
                <a:sym typeface="Calibri"/>
              </a:defRPr>
            </a:lvl1pPr>
            <a:lvl2pPr indent="-342900" lvl="1" marL="914400" algn="l">
              <a:lnSpc>
                <a:spcPct val="90000"/>
              </a:lnSpc>
              <a:spcBef>
                <a:spcPts val="500"/>
              </a:spcBef>
              <a:spcAft>
                <a:spcPts val="0"/>
              </a:spcAft>
              <a:buClr>
                <a:schemeClr val="dk1"/>
              </a:buClr>
              <a:buSzPts val="1800"/>
              <a:buChar char="•"/>
              <a:defRPr sz="1800">
                <a:latin typeface="Calibri"/>
                <a:ea typeface="Calibri"/>
                <a:cs typeface="Calibri"/>
                <a:sym typeface="Calibri"/>
              </a:defRPr>
            </a:lvl2pPr>
            <a:lvl3pPr indent="-330200" lvl="2" marL="1371600" algn="l">
              <a:lnSpc>
                <a:spcPct val="90000"/>
              </a:lnSpc>
              <a:spcBef>
                <a:spcPts val="500"/>
              </a:spcBef>
              <a:spcAft>
                <a:spcPts val="0"/>
              </a:spcAft>
              <a:buClr>
                <a:schemeClr val="dk1"/>
              </a:buClr>
              <a:buSzPts val="1600"/>
              <a:buChar char="•"/>
              <a:defRPr sz="1600">
                <a:latin typeface="Calibri"/>
                <a:ea typeface="Calibri"/>
                <a:cs typeface="Calibri"/>
                <a:sym typeface="Calibri"/>
              </a:defRPr>
            </a:lvl3pPr>
            <a:lvl4pPr indent="-317500" lvl="3" marL="1828800" algn="l">
              <a:lnSpc>
                <a:spcPct val="90000"/>
              </a:lnSpc>
              <a:spcBef>
                <a:spcPts val="500"/>
              </a:spcBef>
              <a:spcAft>
                <a:spcPts val="0"/>
              </a:spcAft>
              <a:buClr>
                <a:schemeClr val="dk1"/>
              </a:buClr>
              <a:buSzPts val="1400"/>
              <a:buChar char="•"/>
              <a:defRPr sz="1400">
                <a:latin typeface="Calibri"/>
                <a:ea typeface="Calibri"/>
                <a:cs typeface="Calibri"/>
                <a:sym typeface="Calibri"/>
              </a:defRPr>
            </a:lvl4pPr>
            <a:lvl5pPr indent="-304800" lvl="4" marL="2286000" algn="l">
              <a:lnSpc>
                <a:spcPct val="90000"/>
              </a:lnSpc>
              <a:spcBef>
                <a:spcPts val="500"/>
              </a:spcBef>
              <a:spcAft>
                <a:spcPts val="0"/>
              </a:spcAft>
              <a:buClr>
                <a:schemeClr val="dk1"/>
              </a:buClr>
              <a:buSzPts val="1200"/>
              <a:buChar char="•"/>
              <a:defRPr sz="1200">
                <a:latin typeface="Calibri"/>
                <a:ea typeface="Calibri"/>
                <a:cs typeface="Calibri"/>
                <a:sym typeface="Calibri"/>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3" name="Google Shape;43;p7"/>
          <p:cNvSpPr txBox="1"/>
          <p:nvPr>
            <p:ph idx="12" type="sldNum"/>
          </p:nvPr>
        </p:nvSpPr>
        <p:spPr>
          <a:xfrm>
            <a:off x="9580180" y="7543800"/>
            <a:ext cx="478220" cy="228600"/>
          </a:xfrm>
          <a:prstGeom prst="rect">
            <a:avLst/>
          </a:prstGeom>
          <a:noFill/>
          <a:ln>
            <a:noFill/>
          </a:ln>
        </p:spPr>
        <p:txBody>
          <a:bodyPr anchorCtr="0" anchor="ctr" bIns="9125" lIns="91425" spcFirstLastPara="1" rIns="91425" wrap="square" tIns="9125">
            <a:noAutofit/>
          </a:bodyPr>
          <a:lstStyle>
            <a:lvl1pPr indent="0" lvl="0" algn="r">
              <a:spcBef>
                <a:spcPts val="0"/>
              </a:spcBef>
              <a:buNone/>
              <a:defRPr sz="1100">
                <a:solidFill>
                  <a:srgbClr val="757575"/>
                </a:solidFill>
                <a:latin typeface="Calibri"/>
                <a:ea typeface="Calibri"/>
                <a:cs typeface="Calibri"/>
                <a:sym typeface="Calibri"/>
              </a:defRPr>
            </a:lvl1pPr>
            <a:lvl2pPr indent="0" lvl="1" algn="r">
              <a:spcBef>
                <a:spcPts val="0"/>
              </a:spcBef>
              <a:buNone/>
              <a:defRPr sz="1100">
                <a:solidFill>
                  <a:srgbClr val="757575"/>
                </a:solidFill>
                <a:latin typeface="Calibri"/>
                <a:ea typeface="Calibri"/>
                <a:cs typeface="Calibri"/>
                <a:sym typeface="Calibri"/>
              </a:defRPr>
            </a:lvl2pPr>
            <a:lvl3pPr indent="0" lvl="2" algn="r">
              <a:spcBef>
                <a:spcPts val="0"/>
              </a:spcBef>
              <a:buNone/>
              <a:defRPr sz="1100">
                <a:solidFill>
                  <a:srgbClr val="757575"/>
                </a:solidFill>
                <a:latin typeface="Calibri"/>
                <a:ea typeface="Calibri"/>
                <a:cs typeface="Calibri"/>
                <a:sym typeface="Calibri"/>
              </a:defRPr>
            </a:lvl3pPr>
            <a:lvl4pPr indent="0" lvl="3" algn="r">
              <a:spcBef>
                <a:spcPts val="0"/>
              </a:spcBef>
              <a:buNone/>
              <a:defRPr sz="1100">
                <a:solidFill>
                  <a:srgbClr val="757575"/>
                </a:solidFill>
                <a:latin typeface="Calibri"/>
                <a:ea typeface="Calibri"/>
                <a:cs typeface="Calibri"/>
                <a:sym typeface="Calibri"/>
              </a:defRPr>
            </a:lvl4pPr>
            <a:lvl5pPr indent="0" lvl="4" algn="r">
              <a:spcBef>
                <a:spcPts val="0"/>
              </a:spcBef>
              <a:buNone/>
              <a:defRPr sz="1100">
                <a:solidFill>
                  <a:srgbClr val="757575"/>
                </a:solidFill>
                <a:latin typeface="Calibri"/>
                <a:ea typeface="Calibri"/>
                <a:cs typeface="Calibri"/>
                <a:sym typeface="Calibri"/>
              </a:defRPr>
            </a:lvl5pPr>
            <a:lvl6pPr indent="0" lvl="5" algn="r">
              <a:spcBef>
                <a:spcPts val="0"/>
              </a:spcBef>
              <a:buNone/>
              <a:defRPr sz="1100">
                <a:solidFill>
                  <a:srgbClr val="757575"/>
                </a:solidFill>
                <a:latin typeface="Calibri"/>
                <a:ea typeface="Calibri"/>
                <a:cs typeface="Calibri"/>
                <a:sym typeface="Calibri"/>
              </a:defRPr>
            </a:lvl6pPr>
            <a:lvl7pPr indent="0" lvl="6" algn="r">
              <a:spcBef>
                <a:spcPts val="0"/>
              </a:spcBef>
              <a:buNone/>
              <a:defRPr sz="1100">
                <a:solidFill>
                  <a:srgbClr val="757575"/>
                </a:solidFill>
                <a:latin typeface="Calibri"/>
                <a:ea typeface="Calibri"/>
                <a:cs typeface="Calibri"/>
                <a:sym typeface="Calibri"/>
              </a:defRPr>
            </a:lvl7pPr>
            <a:lvl8pPr indent="0" lvl="7" algn="r">
              <a:spcBef>
                <a:spcPts val="0"/>
              </a:spcBef>
              <a:buNone/>
              <a:defRPr sz="1100">
                <a:solidFill>
                  <a:srgbClr val="757575"/>
                </a:solidFill>
                <a:latin typeface="Calibri"/>
                <a:ea typeface="Calibri"/>
                <a:cs typeface="Calibri"/>
                <a:sym typeface="Calibri"/>
              </a:defRPr>
            </a:lvl8pPr>
            <a:lvl9pPr indent="0" lvl="8" algn="r">
              <a:spcBef>
                <a:spcPts val="0"/>
              </a:spcBef>
              <a:buNone/>
              <a:defRPr sz="1100">
                <a:solidFill>
                  <a:srgbClr val="757575"/>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and Content">
  <p:cSld name="1_Title and Content">
    <p:spTree>
      <p:nvGrpSpPr>
        <p:cNvPr id="44" name="Shape 44"/>
        <p:cNvGrpSpPr/>
        <p:nvPr/>
      </p:nvGrpSpPr>
      <p:grpSpPr>
        <a:xfrm>
          <a:off x="0" y="0"/>
          <a:ext cx="0" cy="0"/>
          <a:chOff x="0" y="0"/>
          <a:chExt cx="0" cy="0"/>
        </a:xfrm>
      </p:grpSpPr>
      <p:sp>
        <p:nvSpPr>
          <p:cNvPr id="45" name="Google Shape;45;p8"/>
          <p:cNvSpPr txBox="1"/>
          <p:nvPr>
            <p:ph type="title"/>
          </p:nvPr>
        </p:nvSpPr>
        <p:spPr>
          <a:xfrm>
            <a:off x="692150" y="414338"/>
            <a:ext cx="8674100" cy="1501775"/>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 name="Google Shape;46;p8"/>
          <p:cNvSpPr txBox="1"/>
          <p:nvPr>
            <p:ph idx="1" type="body"/>
          </p:nvPr>
        </p:nvSpPr>
        <p:spPr>
          <a:xfrm>
            <a:off x="692150" y="2068513"/>
            <a:ext cx="8674100" cy="4932362"/>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7" name="Google Shape;47;p8"/>
          <p:cNvSpPr txBox="1"/>
          <p:nvPr>
            <p:ph idx="10" type="dt"/>
          </p:nvPr>
        </p:nvSpPr>
        <p:spPr>
          <a:xfrm>
            <a:off x="692150" y="7204075"/>
            <a:ext cx="2262188" cy="41433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8" name="Google Shape;48;p8"/>
          <p:cNvSpPr txBox="1"/>
          <p:nvPr>
            <p:ph idx="11" type="ftr"/>
          </p:nvPr>
        </p:nvSpPr>
        <p:spPr>
          <a:xfrm>
            <a:off x="3332163" y="7204075"/>
            <a:ext cx="3394075" cy="414338"/>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9" name="Google Shape;49;p8"/>
          <p:cNvSpPr txBox="1"/>
          <p:nvPr>
            <p:ph idx="12" type="sldNum"/>
          </p:nvPr>
        </p:nvSpPr>
        <p:spPr>
          <a:xfrm>
            <a:off x="7104063" y="7204075"/>
            <a:ext cx="2262187" cy="414338"/>
          </a:xfrm>
          <a:prstGeom prst="rect">
            <a:avLst/>
          </a:prstGeom>
          <a:noFill/>
          <a:ln>
            <a:noFill/>
          </a:ln>
        </p:spPr>
        <p:txBody>
          <a:bodyPr anchorCtr="0" anchor="ctr" bIns="45700" lIns="91425" spcFirstLastPara="1" rIns="91425" wrap="square" tIns="45700">
            <a:noAutofit/>
          </a:bodyPr>
          <a:lstStyle>
            <a:lvl1pPr indent="0" lvl="0" algn="r">
              <a:spcBef>
                <a:spcPts val="0"/>
              </a:spcBef>
              <a:buNone/>
              <a:defRPr/>
            </a:lvl1pPr>
            <a:lvl2pPr indent="0" lvl="1" algn="r">
              <a:spcBef>
                <a:spcPts val="0"/>
              </a:spcBef>
              <a:buNone/>
              <a:defRPr/>
            </a:lvl2pPr>
            <a:lvl3pPr indent="0" lvl="2" algn="r">
              <a:spcBef>
                <a:spcPts val="0"/>
              </a:spcBef>
              <a:buNone/>
              <a:defRPr/>
            </a:lvl3pPr>
            <a:lvl4pPr indent="0" lvl="3" algn="r">
              <a:spcBef>
                <a:spcPts val="0"/>
              </a:spcBef>
              <a:buNone/>
              <a:defRPr/>
            </a:lvl4pPr>
            <a:lvl5pPr indent="0" lvl="4" algn="r">
              <a:spcBef>
                <a:spcPts val="0"/>
              </a:spcBef>
              <a:buNone/>
              <a:defRPr/>
            </a:lvl5pPr>
            <a:lvl6pPr indent="0" lvl="5" algn="r">
              <a:spcBef>
                <a:spcPts val="0"/>
              </a:spcBef>
              <a:buNone/>
              <a:defRPr/>
            </a:lvl6pPr>
            <a:lvl7pPr indent="0" lvl="6" algn="r">
              <a:spcBef>
                <a:spcPts val="0"/>
              </a:spcBef>
              <a:buNone/>
              <a:defRPr/>
            </a:lvl7pPr>
            <a:lvl8pPr indent="0" lvl="7" algn="r">
              <a:spcBef>
                <a:spcPts val="0"/>
              </a:spcBef>
              <a:buNone/>
              <a:defRPr/>
            </a:lvl8pPr>
            <a:lvl9pPr indent="0" lvl="8"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50" name="Shape 50"/>
        <p:cNvGrpSpPr/>
        <p:nvPr/>
      </p:nvGrpSpPr>
      <p:grpSpPr>
        <a:xfrm>
          <a:off x="0" y="0"/>
          <a:ext cx="0" cy="0"/>
          <a:chOff x="0" y="0"/>
          <a:chExt cx="0" cy="0"/>
        </a:xfrm>
      </p:grpSpPr>
      <p:sp>
        <p:nvSpPr>
          <p:cNvPr id="51" name="Google Shape;51;p9"/>
          <p:cNvSpPr txBox="1"/>
          <p:nvPr>
            <p:ph type="title"/>
          </p:nvPr>
        </p:nvSpPr>
        <p:spPr>
          <a:xfrm>
            <a:off x="685800" y="1938338"/>
            <a:ext cx="8675688" cy="323215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2" name="Google Shape;52;p9"/>
          <p:cNvSpPr txBox="1"/>
          <p:nvPr>
            <p:ph idx="1" type="body"/>
          </p:nvPr>
        </p:nvSpPr>
        <p:spPr>
          <a:xfrm>
            <a:off x="685800" y="5200650"/>
            <a:ext cx="8675688" cy="1700213"/>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757575"/>
              </a:buClr>
              <a:buSzPts val="2400"/>
              <a:buNone/>
              <a:defRPr sz="2400">
                <a:solidFill>
                  <a:srgbClr val="757575"/>
                </a:solidFill>
              </a:defRPr>
            </a:lvl1pPr>
            <a:lvl2pPr indent="-228600" lvl="1" marL="914400" algn="l">
              <a:lnSpc>
                <a:spcPct val="90000"/>
              </a:lnSpc>
              <a:spcBef>
                <a:spcPts val="500"/>
              </a:spcBef>
              <a:spcAft>
                <a:spcPts val="0"/>
              </a:spcAft>
              <a:buClr>
                <a:srgbClr val="757575"/>
              </a:buClr>
              <a:buSzPts val="2000"/>
              <a:buNone/>
              <a:defRPr sz="2000">
                <a:solidFill>
                  <a:srgbClr val="757575"/>
                </a:solidFill>
              </a:defRPr>
            </a:lvl2pPr>
            <a:lvl3pPr indent="-228600" lvl="2" marL="1371600" algn="l">
              <a:lnSpc>
                <a:spcPct val="90000"/>
              </a:lnSpc>
              <a:spcBef>
                <a:spcPts val="500"/>
              </a:spcBef>
              <a:spcAft>
                <a:spcPts val="0"/>
              </a:spcAft>
              <a:buClr>
                <a:srgbClr val="757575"/>
              </a:buClr>
              <a:buSzPts val="1800"/>
              <a:buNone/>
              <a:defRPr sz="1800">
                <a:solidFill>
                  <a:srgbClr val="757575"/>
                </a:solidFill>
              </a:defRPr>
            </a:lvl3pPr>
            <a:lvl4pPr indent="-228600" lvl="3" marL="1828800" algn="l">
              <a:lnSpc>
                <a:spcPct val="90000"/>
              </a:lnSpc>
              <a:spcBef>
                <a:spcPts val="500"/>
              </a:spcBef>
              <a:spcAft>
                <a:spcPts val="0"/>
              </a:spcAft>
              <a:buClr>
                <a:srgbClr val="757575"/>
              </a:buClr>
              <a:buSzPts val="1600"/>
              <a:buNone/>
              <a:defRPr sz="1600">
                <a:solidFill>
                  <a:srgbClr val="757575"/>
                </a:solidFill>
              </a:defRPr>
            </a:lvl4pPr>
            <a:lvl5pPr indent="-228600" lvl="4" marL="2286000" algn="l">
              <a:lnSpc>
                <a:spcPct val="90000"/>
              </a:lnSpc>
              <a:spcBef>
                <a:spcPts val="500"/>
              </a:spcBef>
              <a:spcAft>
                <a:spcPts val="0"/>
              </a:spcAft>
              <a:buClr>
                <a:srgbClr val="757575"/>
              </a:buClr>
              <a:buSzPts val="1600"/>
              <a:buNone/>
              <a:defRPr sz="1600">
                <a:solidFill>
                  <a:srgbClr val="757575"/>
                </a:solidFill>
              </a:defRPr>
            </a:lvl5pPr>
            <a:lvl6pPr indent="-228600" lvl="5" marL="2743200" algn="l">
              <a:lnSpc>
                <a:spcPct val="90000"/>
              </a:lnSpc>
              <a:spcBef>
                <a:spcPts val="500"/>
              </a:spcBef>
              <a:spcAft>
                <a:spcPts val="0"/>
              </a:spcAft>
              <a:buClr>
                <a:srgbClr val="757575"/>
              </a:buClr>
              <a:buSzPts val="1600"/>
              <a:buNone/>
              <a:defRPr sz="1600">
                <a:solidFill>
                  <a:srgbClr val="757575"/>
                </a:solidFill>
              </a:defRPr>
            </a:lvl6pPr>
            <a:lvl7pPr indent="-228600" lvl="6" marL="3200400" algn="l">
              <a:lnSpc>
                <a:spcPct val="90000"/>
              </a:lnSpc>
              <a:spcBef>
                <a:spcPts val="500"/>
              </a:spcBef>
              <a:spcAft>
                <a:spcPts val="0"/>
              </a:spcAft>
              <a:buClr>
                <a:srgbClr val="757575"/>
              </a:buClr>
              <a:buSzPts val="1600"/>
              <a:buNone/>
              <a:defRPr sz="1600">
                <a:solidFill>
                  <a:srgbClr val="757575"/>
                </a:solidFill>
              </a:defRPr>
            </a:lvl7pPr>
            <a:lvl8pPr indent="-228600" lvl="7" marL="3657600" algn="l">
              <a:lnSpc>
                <a:spcPct val="90000"/>
              </a:lnSpc>
              <a:spcBef>
                <a:spcPts val="500"/>
              </a:spcBef>
              <a:spcAft>
                <a:spcPts val="0"/>
              </a:spcAft>
              <a:buClr>
                <a:srgbClr val="757575"/>
              </a:buClr>
              <a:buSzPts val="1600"/>
              <a:buNone/>
              <a:defRPr sz="1600">
                <a:solidFill>
                  <a:srgbClr val="757575"/>
                </a:solidFill>
              </a:defRPr>
            </a:lvl8pPr>
            <a:lvl9pPr indent="-228600" lvl="8" marL="4114800" algn="l">
              <a:lnSpc>
                <a:spcPct val="90000"/>
              </a:lnSpc>
              <a:spcBef>
                <a:spcPts val="500"/>
              </a:spcBef>
              <a:spcAft>
                <a:spcPts val="0"/>
              </a:spcAft>
              <a:buClr>
                <a:srgbClr val="757575"/>
              </a:buClr>
              <a:buSzPts val="1600"/>
              <a:buNone/>
              <a:defRPr sz="1600">
                <a:solidFill>
                  <a:srgbClr val="757575"/>
                </a:solidFill>
              </a:defRPr>
            </a:lvl9pPr>
          </a:lstStyle>
          <a:p/>
        </p:txBody>
      </p:sp>
      <p:sp>
        <p:nvSpPr>
          <p:cNvPr id="53" name="Google Shape;53;p9"/>
          <p:cNvSpPr txBox="1"/>
          <p:nvPr>
            <p:ph idx="10" type="dt"/>
          </p:nvPr>
        </p:nvSpPr>
        <p:spPr>
          <a:xfrm>
            <a:off x="692150" y="7204075"/>
            <a:ext cx="2262188" cy="41433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4" name="Google Shape;54;p9"/>
          <p:cNvSpPr txBox="1"/>
          <p:nvPr>
            <p:ph idx="11" type="ftr"/>
          </p:nvPr>
        </p:nvSpPr>
        <p:spPr>
          <a:xfrm>
            <a:off x="3332163" y="7204075"/>
            <a:ext cx="3394075" cy="414338"/>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5" name="Google Shape;55;p9"/>
          <p:cNvSpPr txBox="1"/>
          <p:nvPr>
            <p:ph idx="12" type="sldNum"/>
          </p:nvPr>
        </p:nvSpPr>
        <p:spPr>
          <a:xfrm>
            <a:off x="7104063" y="7204075"/>
            <a:ext cx="2262187" cy="414338"/>
          </a:xfrm>
          <a:prstGeom prst="rect">
            <a:avLst/>
          </a:prstGeom>
          <a:noFill/>
          <a:ln>
            <a:noFill/>
          </a:ln>
        </p:spPr>
        <p:txBody>
          <a:bodyPr anchorCtr="0" anchor="ctr" bIns="45700" lIns="91425" spcFirstLastPara="1" rIns="91425" wrap="square" tIns="45700">
            <a:noAutofit/>
          </a:bodyPr>
          <a:lstStyle>
            <a:lvl1pPr indent="0" lvl="0" algn="r">
              <a:spcBef>
                <a:spcPts val="0"/>
              </a:spcBef>
              <a:buNone/>
              <a:defRPr/>
            </a:lvl1pPr>
            <a:lvl2pPr indent="0" lvl="1" algn="r">
              <a:spcBef>
                <a:spcPts val="0"/>
              </a:spcBef>
              <a:buNone/>
              <a:defRPr/>
            </a:lvl2pPr>
            <a:lvl3pPr indent="0" lvl="2" algn="r">
              <a:spcBef>
                <a:spcPts val="0"/>
              </a:spcBef>
              <a:buNone/>
              <a:defRPr/>
            </a:lvl3pPr>
            <a:lvl4pPr indent="0" lvl="3" algn="r">
              <a:spcBef>
                <a:spcPts val="0"/>
              </a:spcBef>
              <a:buNone/>
              <a:defRPr/>
            </a:lvl4pPr>
            <a:lvl5pPr indent="0" lvl="4" algn="r">
              <a:spcBef>
                <a:spcPts val="0"/>
              </a:spcBef>
              <a:buNone/>
              <a:defRPr/>
            </a:lvl5pPr>
            <a:lvl6pPr indent="0" lvl="5" algn="r">
              <a:spcBef>
                <a:spcPts val="0"/>
              </a:spcBef>
              <a:buNone/>
              <a:defRPr/>
            </a:lvl6pPr>
            <a:lvl7pPr indent="0" lvl="6" algn="r">
              <a:spcBef>
                <a:spcPts val="0"/>
              </a:spcBef>
              <a:buNone/>
              <a:defRPr/>
            </a:lvl7pPr>
            <a:lvl8pPr indent="0" lvl="7" algn="r">
              <a:spcBef>
                <a:spcPts val="0"/>
              </a:spcBef>
              <a:buNone/>
              <a:defRPr/>
            </a:lvl8pPr>
            <a:lvl9pPr indent="0" lvl="8"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56" name="Shape 56"/>
        <p:cNvGrpSpPr/>
        <p:nvPr/>
      </p:nvGrpSpPr>
      <p:grpSpPr>
        <a:xfrm>
          <a:off x="0" y="0"/>
          <a:ext cx="0" cy="0"/>
          <a:chOff x="0" y="0"/>
          <a:chExt cx="0" cy="0"/>
        </a:xfrm>
      </p:grpSpPr>
      <p:sp>
        <p:nvSpPr>
          <p:cNvPr id="57" name="Google Shape;57;p10"/>
          <p:cNvSpPr txBox="1"/>
          <p:nvPr>
            <p:ph type="title"/>
          </p:nvPr>
        </p:nvSpPr>
        <p:spPr>
          <a:xfrm>
            <a:off x="692150" y="414338"/>
            <a:ext cx="8674100" cy="1501775"/>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8" name="Google Shape;58;p10"/>
          <p:cNvSpPr txBox="1"/>
          <p:nvPr>
            <p:ph idx="1" type="body"/>
          </p:nvPr>
        </p:nvSpPr>
        <p:spPr>
          <a:xfrm>
            <a:off x="692150" y="2068513"/>
            <a:ext cx="4260850" cy="4932362"/>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9" name="Google Shape;59;p10"/>
          <p:cNvSpPr txBox="1"/>
          <p:nvPr>
            <p:ph idx="2" type="body"/>
          </p:nvPr>
        </p:nvSpPr>
        <p:spPr>
          <a:xfrm>
            <a:off x="5105400" y="2068513"/>
            <a:ext cx="4260850" cy="4932362"/>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0" name="Google Shape;60;p10"/>
          <p:cNvSpPr txBox="1"/>
          <p:nvPr>
            <p:ph idx="10" type="dt"/>
          </p:nvPr>
        </p:nvSpPr>
        <p:spPr>
          <a:xfrm>
            <a:off x="692150" y="7204075"/>
            <a:ext cx="2262188" cy="41433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1" name="Google Shape;61;p10"/>
          <p:cNvSpPr txBox="1"/>
          <p:nvPr>
            <p:ph idx="11" type="ftr"/>
          </p:nvPr>
        </p:nvSpPr>
        <p:spPr>
          <a:xfrm>
            <a:off x="3332163" y="7204075"/>
            <a:ext cx="3394075" cy="414338"/>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2" name="Google Shape;62;p10"/>
          <p:cNvSpPr txBox="1"/>
          <p:nvPr>
            <p:ph idx="12" type="sldNum"/>
          </p:nvPr>
        </p:nvSpPr>
        <p:spPr>
          <a:xfrm>
            <a:off x="7104063" y="7204075"/>
            <a:ext cx="2262187" cy="414338"/>
          </a:xfrm>
          <a:prstGeom prst="rect">
            <a:avLst/>
          </a:prstGeom>
          <a:noFill/>
          <a:ln>
            <a:noFill/>
          </a:ln>
        </p:spPr>
        <p:txBody>
          <a:bodyPr anchorCtr="0" anchor="ctr" bIns="45700" lIns="91425" spcFirstLastPara="1" rIns="91425" wrap="square" tIns="45700">
            <a:noAutofit/>
          </a:bodyPr>
          <a:lstStyle>
            <a:lvl1pPr indent="0" lvl="0" algn="r">
              <a:spcBef>
                <a:spcPts val="0"/>
              </a:spcBef>
              <a:buNone/>
              <a:defRPr/>
            </a:lvl1pPr>
            <a:lvl2pPr indent="0" lvl="1" algn="r">
              <a:spcBef>
                <a:spcPts val="0"/>
              </a:spcBef>
              <a:buNone/>
              <a:defRPr/>
            </a:lvl2pPr>
            <a:lvl3pPr indent="0" lvl="2" algn="r">
              <a:spcBef>
                <a:spcPts val="0"/>
              </a:spcBef>
              <a:buNone/>
              <a:defRPr/>
            </a:lvl3pPr>
            <a:lvl4pPr indent="0" lvl="3" algn="r">
              <a:spcBef>
                <a:spcPts val="0"/>
              </a:spcBef>
              <a:buNone/>
              <a:defRPr/>
            </a:lvl4pPr>
            <a:lvl5pPr indent="0" lvl="4" algn="r">
              <a:spcBef>
                <a:spcPts val="0"/>
              </a:spcBef>
              <a:buNone/>
              <a:defRPr/>
            </a:lvl5pPr>
            <a:lvl6pPr indent="0" lvl="5" algn="r">
              <a:spcBef>
                <a:spcPts val="0"/>
              </a:spcBef>
              <a:buNone/>
              <a:defRPr/>
            </a:lvl6pPr>
            <a:lvl7pPr indent="0" lvl="6" algn="r">
              <a:spcBef>
                <a:spcPts val="0"/>
              </a:spcBef>
              <a:buNone/>
              <a:defRPr/>
            </a:lvl7pPr>
            <a:lvl8pPr indent="0" lvl="7" algn="r">
              <a:spcBef>
                <a:spcPts val="0"/>
              </a:spcBef>
              <a:buNone/>
              <a:defRPr/>
            </a:lvl8pPr>
            <a:lvl9pPr indent="0" lvl="8"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63" name="Shape 63"/>
        <p:cNvGrpSpPr/>
        <p:nvPr/>
      </p:nvGrpSpPr>
      <p:grpSpPr>
        <a:xfrm>
          <a:off x="0" y="0"/>
          <a:ext cx="0" cy="0"/>
          <a:chOff x="0" y="0"/>
          <a:chExt cx="0" cy="0"/>
        </a:xfrm>
      </p:grpSpPr>
      <p:sp>
        <p:nvSpPr>
          <p:cNvPr id="64" name="Google Shape;64;p11"/>
          <p:cNvSpPr txBox="1"/>
          <p:nvPr>
            <p:ph type="title"/>
          </p:nvPr>
        </p:nvSpPr>
        <p:spPr>
          <a:xfrm>
            <a:off x="692150" y="414338"/>
            <a:ext cx="8675688" cy="1501775"/>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5" name="Google Shape;65;p11"/>
          <p:cNvSpPr txBox="1"/>
          <p:nvPr>
            <p:ph idx="1" type="body"/>
          </p:nvPr>
        </p:nvSpPr>
        <p:spPr>
          <a:xfrm>
            <a:off x="692150" y="1905000"/>
            <a:ext cx="4256088" cy="933450"/>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66" name="Google Shape;66;p11"/>
          <p:cNvSpPr txBox="1"/>
          <p:nvPr>
            <p:ph idx="2" type="body"/>
          </p:nvPr>
        </p:nvSpPr>
        <p:spPr>
          <a:xfrm>
            <a:off x="692150" y="2838450"/>
            <a:ext cx="4256088" cy="4176713"/>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7" name="Google Shape;67;p11"/>
          <p:cNvSpPr txBox="1"/>
          <p:nvPr>
            <p:ph idx="3" type="body"/>
          </p:nvPr>
        </p:nvSpPr>
        <p:spPr>
          <a:xfrm>
            <a:off x="5092700" y="1905000"/>
            <a:ext cx="4275138" cy="933450"/>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68" name="Google Shape;68;p11"/>
          <p:cNvSpPr txBox="1"/>
          <p:nvPr>
            <p:ph idx="4" type="body"/>
          </p:nvPr>
        </p:nvSpPr>
        <p:spPr>
          <a:xfrm>
            <a:off x="5092700" y="2838450"/>
            <a:ext cx="4275138" cy="4176713"/>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9" name="Google Shape;69;p11"/>
          <p:cNvSpPr txBox="1"/>
          <p:nvPr>
            <p:ph idx="10" type="dt"/>
          </p:nvPr>
        </p:nvSpPr>
        <p:spPr>
          <a:xfrm>
            <a:off x="692150" y="7204075"/>
            <a:ext cx="2262188" cy="41433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1" type="ftr"/>
          </p:nvPr>
        </p:nvSpPr>
        <p:spPr>
          <a:xfrm>
            <a:off x="3332163" y="7204075"/>
            <a:ext cx="3394075" cy="414338"/>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1" name="Google Shape;71;p11"/>
          <p:cNvSpPr txBox="1"/>
          <p:nvPr>
            <p:ph idx="12" type="sldNum"/>
          </p:nvPr>
        </p:nvSpPr>
        <p:spPr>
          <a:xfrm>
            <a:off x="7104063" y="7204075"/>
            <a:ext cx="2262187" cy="414338"/>
          </a:xfrm>
          <a:prstGeom prst="rect">
            <a:avLst/>
          </a:prstGeom>
          <a:noFill/>
          <a:ln>
            <a:noFill/>
          </a:ln>
        </p:spPr>
        <p:txBody>
          <a:bodyPr anchorCtr="0" anchor="ctr" bIns="45700" lIns="91425" spcFirstLastPara="1" rIns="91425" wrap="square" tIns="45700">
            <a:noAutofit/>
          </a:bodyPr>
          <a:lstStyle>
            <a:lvl1pPr indent="0" lvl="0" algn="r">
              <a:spcBef>
                <a:spcPts val="0"/>
              </a:spcBef>
              <a:buNone/>
              <a:defRPr/>
            </a:lvl1pPr>
            <a:lvl2pPr indent="0" lvl="1" algn="r">
              <a:spcBef>
                <a:spcPts val="0"/>
              </a:spcBef>
              <a:buNone/>
              <a:defRPr/>
            </a:lvl2pPr>
            <a:lvl3pPr indent="0" lvl="2" algn="r">
              <a:spcBef>
                <a:spcPts val="0"/>
              </a:spcBef>
              <a:buNone/>
              <a:defRPr/>
            </a:lvl3pPr>
            <a:lvl4pPr indent="0" lvl="3" algn="r">
              <a:spcBef>
                <a:spcPts val="0"/>
              </a:spcBef>
              <a:buNone/>
              <a:defRPr/>
            </a:lvl4pPr>
            <a:lvl5pPr indent="0" lvl="4" algn="r">
              <a:spcBef>
                <a:spcPts val="0"/>
              </a:spcBef>
              <a:buNone/>
              <a:defRPr/>
            </a:lvl5pPr>
            <a:lvl6pPr indent="0" lvl="5" algn="r">
              <a:spcBef>
                <a:spcPts val="0"/>
              </a:spcBef>
              <a:buNone/>
              <a:defRPr/>
            </a:lvl6pPr>
            <a:lvl7pPr indent="0" lvl="6" algn="r">
              <a:spcBef>
                <a:spcPts val="0"/>
              </a:spcBef>
              <a:buNone/>
              <a:defRPr/>
            </a:lvl7pPr>
            <a:lvl8pPr indent="0" lvl="7" algn="r">
              <a:spcBef>
                <a:spcPts val="0"/>
              </a:spcBef>
              <a:buNone/>
              <a:defRPr/>
            </a:lvl8pPr>
            <a:lvl9pPr indent="0" lvl="8"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2" name="Shape 72"/>
        <p:cNvGrpSpPr/>
        <p:nvPr/>
      </p:nvGrpSpPr>
      <p:grpSpPr>
        <a:xfrm>
          <a:off x="0" y="0"/>
          <a:ext cx="0" cy="0"/>
          <a:chOff x="0" y="0"/>
          <a:chExt cx="0" cy="0"/>
        </a:xfrm>
      </p:grpSpPr>
      <p:sp>
        <p:nvSpPr>
          <p:cNvPr id="73" name="Google Shape;73;p12"/>
          <p:cNvSpPr txBox="1"/>
          <p:nvPr>
            <p:ph type="title"/>
          </p:nvPr>
        </p:nvSpPr>
        <p:spPr>
          <a:xfrm>
            <a:off x="692150" y="414338"/>
            <a:ext cx="8674100" cy="1501775"/>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12"/>
          <p:cNvSpPr txBox="1"/>
          <p:nvPr>
            <p:ph idx="10" type="dt"/>
          </p:nvPr>
        </p:nvSpPr>
        <p:spPr>
          <a:xfrm>
            <a:off x="692150" y="7204075"/>
            <a:ext cx="2262188" cy="41433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5" name="Google Shape;75;p12"/>
          <p:cNvSpPr txBox="1"/>
          <p:nvPr>
            <p:ph idx="11" type="ftr"/>
          </p:nvPr>
        </p:nvSpPr>
        <p:spPr>
          <a:xfrm>
            <a:off x="3332163" y="7204075"/>
            <a:ext cx="3394075" cy="414338"/>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2" type="sldNum"/>
          </p:nvPr>
        </p:nvSpPr>
        <p:spPr>
          <a:xfrm>
            <a:off x="7104063" y="7204075"/>
            <a:ext cx="2262187" cy="414338"/>
          </a:xfrm>
          <a:prstGeom prst="rect">
            <a:avLst/>
          </a:prstGeom>
          <a:noFill/>
          <a:ln>
            <a:noFill/>
          </a:ln>
        </p:spPr>
        <p:txBody>
          <a:bodyPr anchorCtr="0" anchor="ctr" bIns="45700" lIns="91425" spcFirstLastPara="1" rIns="91425" wrap="square" tIns="45700">
            <a:noAutofit/>
          </a:bodyPr>
          <a:lstStyle>
            <a:lvl1pPr indent="0" lvl="0" algn="r">
              <a:spcBef>
                <a:spcPts val="0"/>
              </a:spcBef>
              <a:buNone/>
              <a:defRPr/>
            </a:lvl1pPr>
            <a:lvl2pPr indent="0" lvl="1" algn="r">
              <a:spcBef>
                <a:spcPts val="0"/>
              </a:spcBef>
              <a:buNone/>
              <a:defRPr/>
            </a:lvl2pPr>
            <a:lvl3pPr indent="0" lvl="2" algn="r">
              <a:spcBef>
                <a:spcPts val="0"/>
              </a:spcBef>
              <a:buNone/>
              <a:defRPr/>
            </a:lvl3pPr>
            <a:lvl4pPr indent="0" lvl="3" algn="r">
              <a:spcBef>
                <a:spcPts val="0"/>
              </a:spcBef>
              <a:buNone/>
              <a:defRPr/>
            </a:lvl4pPr>
            <a:lvl5pPr indent="0" lvl="4" algn="r">
              <a:spcBef>
                <a:spcPts val="0"/>
              </a:spcBef>
              <a:buNone/>
              <a:defRPr/>
            </a:lvl5pPr>
            <a:lvl6pPr indent="0" lvl="5" algn="r">
              <a:spcBef>
                <a:spcPts val="0"/>
              </a:spcBef>
              <a:buNone/>
              <a:defRPr/>
            </a:lvl6pPr>
            <a:lvl7pPr indent="0" lvl="6" algn="r">
              <a:spcBef>
                <a:spcPts val="0"/>
              </a:spcBef>
              <a:buNone/>
              <a:defRPr/>
            </a:lvl7pPr>
            <a:lvl8pPr indent="0" lvl="7" algn="r">
              <a:spcBef>
                <a:spcPts val="0"/>
              </a:spcBef>
              <a:buNone/>
              <a:defRPr/>
            </a:lvl8pPr>
            <a:lvl9pPr indent="0" lvl="8"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7" name="Shape 77"/>
        <p:cNvGrpSpPr/>
        <p:nvPr/>
      </p:nvGrpSpPr>
      <p:grpSpPr>
        <a:xfrm>
          <a:off x="0" y="0"/>
          <a:ext cx="0" cy="0"/>
          <a:chOff x="0" y="0"/>
          <a:chExt cx="0" cy="0"/>
        </a:xfrm>
      </p:grpSpPr>
      <p:sp>
        <p:nvSpPr>
          <p:cNvPr id="78" name="Google Shape;78;p13"/>
          <p:cNvSpPr txBox="1"/>
          <p:nvPr>
            <p:ph idx="10" type="dt"/>
          </p:nvPr>
        </p:nvSpPr>
        <p:spPr>
          <a:xfrm>
            <a:off x="692150" y="7204075"/>
            <a:ext cx="2262188" cy="41433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9" name="Google Shape;79;p13"/>
          <p:cNvSpPr txBox="1"/>
          <p:nvPr>
            <p:ph idx="11" type="ftr"/>
          </p:nvPr>
        </p:nvSpPr>
        <p:spPr>
          <a:xfrm>
            <a:off x="3332163" y="7204075"/>
            <a:ext cx="3394075" cy="414338"/>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13"/>
          <p:cNvSpPr txBox="1"/>
          <p:nvPr>
            <p:ph idx="12" type="sldNum"/>
          </p:nvPr>
        </p:nvSpPr>
        <p:spPr>
          <a:xfrm>
            <a:off x="7104063" y="7204075"/>
            <a:ext cx="2262187" cy="414338"/>
          </a:xfrm>
          <a:prstGeom prst="rect">
            <a:avLst/>
          </a:prstGeom>
          <a:noFill/>
          <a:ln>
            <a:noFill/>
          </a:ln>
        </p:spPr>
        <p:txBody>
          <a:bodyPr anchorCtr="0" anchor="ctr" bIns="45700" lIns="91425" spcFirstLastPara="1" rIns="91425" wrap="square" tIns="45700">
            <a:noAutofit/>
          </a:bodyPr>
          <a:lstStyle>
            <a:lvl1pPr indent="0" lvl="0" algn="r">
              <a:spcBef>
                <a:spcPts val="0"/>
              </a:spcBef>
              <a:buNone/>
              <a:defRPr/>
            </a:lvl1pPr>
            <a:lvl2pPr indent="0" lvl="1" algn="r">
              <a:spcBef>
                <a:spcPts val="0"/>
              </a:spcBef>
              <a:buNone/>
              <a:defRPr/>
            </a:lvl2pPr>
            <a:lvl3pPr indent="0" lvl="2" algn="r">
              <a:spcBef>
                <a:spcPts val="0"/>
              </a:spcBef>
              <a:buNone/>
              <a:defRPr/>
            </a:lvl3pPr>
            <a:lvl4pPr indent="0" lvl="3" algn="r">
              <a:spcBef>
                <a:spcPts val="0"/>
              </a:spcBef>
              <a:buNone/>
              <a:defRPr/>
            </a:lvl4pPr>
            <a:lvl5pPr indent="0" lvl="4" algn="r">
              <a:spcBef>
                <a:spcPts val="0"/>
              </a:spcBef>
              <a:buNone/>
              <a:defRPr/>
            </a:lvl5pPr>
            <a:lvl6pPr indent="0" lvl="5" algn="r">
              <a:spcBef>
                <a:spcPts val="0"/>
              </a:spcBef>
              <a:buNone/>
              <a:defRPr/>
            </a:lvl6pPr>
            <a:lvl7pPr indent="0" lvl="6" algn="r">
              <a:spcBef>
                <a:spcPts val="0"/>
              </a:spcBef>
              <a:buNone/>
              <a:defRPr/>
            </a:lvl7pPr>
            <a:lvl8pPr indent="0" lvl="7" algn="r">
              <a:spcBef>
                <a:spcPts val="0"/>
              </a:spcBef>
              <a:buNone/>
              <a:defRPr/>
            </a:lvl8pPr>
            <a:lvl9pPr indent="0" lvl="8"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81" name="Shape 81"/>
        <p:cNvGrpSpPr/>
        <p:nvPr/>
      </p:nvGrpSpPr>
      <p:grpSpPr>
        <a:xfrm>
          <a:off x="0" y="0"/>
          <a:ext cx="0" cy="0"/>
          <a:chOff x="0" y="0"/>
          <a:chExt cx="0" cy="0"/>
        </a:xfrm>
      </p:grpSpPr>
      <p:sp>
        <p:nvSpPr>
          <p:cNvPr id="82" name="Google Shape;82;p14"/>
          <p:cNvSpPr txBox="1"/>
          <p:nvPr>
            <p:ph type="title"/>
          </p:nvPr>
        </p:nvSpPr>
        <p:spPr>
          <a:xfrm>
            <a:off x="692150" y="517525"/>
            <a:ext cx="3244850" cy="1814513"/>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3" name="Google Shape;83;p14"/>
          <p:cNvSpPr txBox="1"/>
          <p:nvPr>
            <p:ph idx="1" type="body"/>
          </p:nvPr>
        </p:nvSpPr>
        <p:spPr>
          <a:xfrm>
            <a:off x="4276725" y="1119188"/>
            <a:ext cx="5091113" cy="5522912"/>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84" name="Google Shape;84;p14"/>
          <p:cNvSpPr txBox="1"/>
          <p:nvPr>
            <p:ph idx="2" type="body"/>
          </p:nvPr>
        </p:nvSpPr>
        <p:spPr>
          <a:xfrm>
            <a:off x="692150" y="2332038"/>
            <a:ext cx="3244850" cy="43195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85" name="Google Shape;85;p14"/>
          <p:cNvSpPr txBox="1"/>
          <p:nvPr>
            <p:ph idx="10" type="dt"/>
          </p:nvPr>
        </p:nvSpPr>
        <p:spPr>
          <a:xfrm>
            <a:off x="692150" y="7204075"/>
            <a:ext cx="2262188" cy="41433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6" name="Google Shape;86;p14"/>
          <p:cNvSpPr txBox="1"/>
          <p:nvPr>
            <p:ph idx="11" type="ftr"/>
          </p:nvPr>
        </p:nvSpPr>
        <p:spPr>
          <a:xfrm>
            <a:off x="3332163" y="7204075"/>
            <a:ext cx="3394075" cy="414338"/>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7" name="Google Shape;87;p14"/>
          <p:cNvSpPr txBox="1"/>
          <p:nvPr>
            <p:ph idx="12" type="sldNum"/>
          </p:nvPr>
        </p:nvSpPr>
        <p:spPr>
          <a:xfrm>
            <a:off x="7104063" y="7204075"/>
            <a:ext cx="2262187" cy="414338"/>
          </a:xfrm>
          <a:prstGeom prst="rect">
            <a:avLst/>
          </a:prstGeom>
          <a:noFill/>
          <a:ln>
            <a:noFill/>
          </a:ln>
        </p:spPr>
        <p:txBody>
          <a:bodyPr anchorCtr="0" anchor="ctr" bIns="45700" lIns="91425" spcFirstLastPara="1" rIns="91425" wrap="square" tIns="45700">
            <a:noAutofit/>
          </a:bodyPr>
          <a:lstStyle>
            <a:lvl1pPr indent="0" lvl="0" algn="r">
              <a:spcBef>
                <a:spcPts val="0"/>
              </a:spcBef>
              <a:buNone/>
              <a:defRPr/>
            </a:lvl1pPr>
            <a:lvl2pPr indent="0" lvl="1" algn="r">
              <a:spcBef>
                <a:spcPts val="0"/>
              </a:spcBef>
              <a:buNone/>
              <a:defRPr/>
            </a:lvl2pPr>
            <a:lvl3pPr indent="0" lvl="2" algn="r">
              <a:spcBef>
                <a:spcPts val="0"/>
              </a:spcBef>
              <a:buNone/>
              <a:defRPr/>
            </a:lvl3pPr>
            <a:lvl4pPr indent="0" lvl="3" algn="r">
              <a:spcBef>
                <a:spcPts val="0"/>
              </a:spcBef>
              <a:buNone/>
              <a:defRPr/>
            </a:lvl4pPr>
            <a:lvl5pPr indent="0" lvl="4" algn="r">
              <a:spcBef>
                <a:spcPts val="0"/>
              </a:spcBef>
              <a:buNone/>
              <a:defRPr/>
            </a:lvl5pPr>
            <a:lvl6pPr indent="0" lvl="5" algn="r">
              <a:spcBef>
                <a:spcPts val="0"/>
              </a:spcBef>
              <a:buNone/>
              <a:defRPr/>
            </a:lvl6pPr>
            <a:lvl7pPr indent="0" lvl="6" algn="r">
              <a:spcBef>
                <a:spcPts val="0"/>
              </a:spcBef>
              <a:buNone/>
              <a:defRPr/>
            </a:lvl7pPr>
            <a:lvl8pPr indent="0" lvl="7" algn="r">
              <a:spcBef>
                <a:spcPts val="0"/>
              </a:spcBef>
              <a:buNone/>
              <a:defRPr/>
            </a:lvl8pPr>
            <a:lvl9pPr indent="0" lvl="8"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88" name="Shape 88"/>
        <p:cNvGrpSpPr/>
        <p:nvPr/>
      </p:nvGrpSpPr>
      <p:grpSpPr>
        <a:xfrm>
          <a:off x="0" y="0"/>
          <a:ext cx="0" cy="0"/>
          <a:chOff x="0" y="0"/>
          <a:chExt cx="0" cy="0"/>
        </a:xfrm>
      </p:grpSpPr>
      <p:sp>
        <p:nvSpPr>
          <p:cNvPr id="89" name="Google Shape;89;p15"/>
          <p:cNvSpPr txBox="1"/>
          <p:nvPr>
            <p:ph type="title"/>
          </p:nvPr>
        </p:nvSpPr>
        <p:spPr>
          <a:xfrm>
            <a:off x="692150" y="517525"/>
            <a:ext cx="3244850" cy="1814513"/>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0" name="Google Shape;90;p15"/>
          <p:cNvSpPr/>
          <p:nvPr>
            <p:ph idx="2" type="pic"/>
          </p:nvPr>
        </p:nvSpPr>
        <p:spPr>
          <a:xfrm>
            <a:off x="4276725" y="1119188"/>
            <a:ext cx="5091113" cy="5522912"/>
          </a:xfrm>
          <a:prstGeom prst="rect">
            <a:avLst/>
          </a:prstGeom>
          <a:noFill/>
          <a:ln>
            <a:noFill/>
          </a:ln>
        </p:spPr>
      </p:sp>
      <p:sp>
        <p:nvSpPr>
          <p:cNvPr id="91" name="Google Shape;91;p15"/>
          <p:cNvSpPr txBox="1"/>
          <p:nvPr>
            <p:ph idx="1" type="body"/>
          </p:nvPr>
        </p:nvSpPr>
        <p:spPr>
          <a:xfrm>
            <a:off x="692150" y="2332038"/>
            <a:ext cx="3244850" cy="43195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92" name="Google Shape;92;p15"/>
          <p:cNvSpPr txBox="1"/>
          <p:nvPr>
            <p:ph idx="10" type="dt"/>
          </p:nvPr>
        </p:nvSpPr>
        <p:spPr>
          <a:xfrm>
            <a:off x="692150" y="7204075"/>
            <a:ext cx="2262188" cy="41433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3" name="Google Shape;93;p15"/>
          <p:cNvSpPr txBox="1"/>
          <p:nvPr>
            <p:ph idx="11" type="ftr"/>
          </p:nvPr>
        </p:nvSpPr>
        <p:spPr>
          <a:xfrm>
            <a:off x="3332163" y="7204075"/>
            <a:ext cx="3394075" cy="414338"/>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4" name="Google Shape;94;p15"/>
          <p:cNvSpPr txBox="1"/>
          <p:nvPr>
            <p:ph idx="12" type="sldNum"/>
          </p:nvPr>
        </p:nvSpPr>
        <p:spPr>
          <a:xfrm>
            <a:off x="7104063" y="7204075"/>
            <a:ext cx="2262187" cy="414338"/>
          </a:xfrm>
          <a:prstGeom prst="rect">
            <a:avLst/>
          </a:prstGeom>
          <a:noFill/>
          <a:ln>
            <a:noFill/>
          </a:ln>
        </p:spPr>
        <p:txBody>
          <a:bodyPr anchorCtr="0" anchor="ctr" bIns="45700" lIns="91425" spcFirstLastPara="1" rIns="91425" wrap="square" tIns="45700">
            <a:noAutofit/>
          </a:bodyPr>
          <a:lstStyle>
            <a:lvl1pPr indent="0" lvl="0" algn="r">
              <a:spcBef>
                <a:spcPts val="0"/>
              </a:spcBef>
              <a:buNone/>
              <a:defRPr/>
            </a:lvl1pPr>
            <a:lvl2pPr indent="0" lvl="1" algn="r">
              <a:spcBef>
                <a:spcPts val="0"/>
              </a:spcBef>
              <a:buNone/>
              <a:defRPr/>
            </a:lvl2pPr>
            <a:lvl3pPr indent="0" lvl="2" algn="r">
              <a:spcBef>
                <a:spcPts val="0"/>
              </a:spcBef>
              <a:buNone/>
              <a:defRPr/>
            </a:lvl3pPr>
            <a:lvl4pPr indent="0" lvl="3" algn="r">
              <a:spcBef>
                <a:spcPts val="0"/>
              </a:spcBef>
              <a:buNone/>
              <a:defRPr/>
            </a:lvl4pPr>
            <a:lvl5pPr indent="0" lvl="4" algn="r">
              <a:spcBef>
                <a:spcPts val="0"/>
              </a:spcBef>
              <a:buNone/>
              <a:defRPr/>
            </a:lvl5pPr>
            <a:lvl6pPr indent="0" lvl="5" algn="r">
              <a:spcBef>
                <a:spcPts val="0"/>
              </a:spcBef>
              <a:buNone/>
              <a:defRPr/>
            </a:lvl6pPr>
            <a:lvl7pPr indent="0" lvl="6" algn="r">
              <a:spcBef>
                <a:spcPts val="0"/>
              </a:spcBef>
              <a:buNone/>
              <a:defRPr/>
            </a:lvl7pPr>
            <a:lvl8pPr indent="0" lvl="7" algn="r">
              <a:spcBef>
                <a:spcPts val="0"/>
              </a:spcBef>
              <a:buNone/>
              <a:defRPr/>
            </a:lvl8pPr>
            <a:lvl9pPr indent="0" lvl="8"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95" name="Shape 95"/>
        <p:cNvGrpSpPr/>
        <p:nvPr/>
      </p:nvGrpSpPr>
      <p:grpSpPr>
        <a:xfrm>
          <a:off x="0" y="0"/>
          <a:ext cx="0" cy="0"/>
          <a:chOff x="0" y="0"/>
          <a:chExt cx="0" cy="0"/>
        </a:xfrm>
      </p:grpSpPr>
      <p:sp>
        <p:nvSpPr>
          <p:cNvPr id="96" name="Google Shape;96;p16"/>
          <p:cNvSpPr txBox="1"/>
          <p:nvPr>
            <p:ph type="title"/>
          </p:nvPr>
        </p:nvSpPr>
        <p:spPr>
          <a:xfrm>
            <a:off x="692150" y="414338"/>
            <a:ext cx="8674100" cy="1501775"/>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7" name="Google Shape;97;p16"/>
          <p:cNvSpPr txBox="1"/>
          <p:nvPr>
            <p:ph idx="1" type="body"/>
          </p:nvPr>
        </p:nvSpPr>
        <p:spPr>
          <a:xfrm rot="5400000">
            <a:off x="2563019" y="197644"/>
            <a:ext cx="4932362" cy="86741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8" name="Google Shape;98;p16"/>
          <p:cNvSpPr txBox="1"/>
          <p:nvPr>
            <p:ph idx="10" type="dt"/>
          </p:nvPr>
        </p:nvSpPr>
        <p:spPr>
          <a:xfrm>
            <a:off x="692150" y="7204075"/>
            <a:ext cx="2262188" cy="41433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9" name="Google Shape;99;p16"/>
          <p:cNvSpPr txBox="1"/>
          <p:nvPr>
            <p:ph idx="11" type="ftr"/>
          </p:nvPr>
        </p:nvSpPr>
        <p:spPr>
          <a:xfrm>
            <a:off x="3332163" y="7204075"/>
            <a:ext cx="3394075" cy="414338"/>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0" name="Google Shape;100;p16"/>
          <p:cNvSpPr txBox="1"/>
          <p:nvPr>
            <p:ph idx="12" type="sldNum"/>
          </p:nvPr>
        </p:nvSpPr>
        <p:spPr>
          <a:xfrm>
            <a:off x="7104063" y="7204075"/>
            <a:ext cx="2262187" cy="414338"/>
          </a:xfrm>
          <a:prstGeom prst="rect">
            <a:avLst/>
          </a:prstGeom>
          <a:noFill/>
          <a:ln>
            <a:noFill/>
          </a:ln>
        </p:spPr>
        <p:txBody>
          <a:bodyPr anchorCtr="0" anchor="ctr" bIns="45700" lIns="91425" spcFirstLastPara="1" rIns="91425" wrap="square" tIns="45700">
            <a:noAutofit/>
          </a:bodyPr>
          <a:lstStyle>
            <a:lvl1pPr indent="0" lvl="0" algn="r">
              <a:spcBef>
                <a:spcPts val="0"/>
              </a:spcBef>
              <a:buNone/>
              <a:defRPr/>
            </a:lvl1pPr>
            <a:lvl2pPr indent="0" lvl="1" algn="r">
              <a:spcBef>
                <a:spcPts val="0"/>
              </a:spcBef>
              <a:buNone/>
              <a:defRPr/>
            </a:lvl2pPr>
            <a:lvl3pPr indent="0" lvl="2" algn="r">
              <a:spcBef>
                <a:spcPts val="0"/>
              </a:spcBef>
              <a:buNone/>
              <a:defRPr/>
            </a:lvl3pPr>
            <a:lvl4pPr indent="0" lvl="3" algn="r">
              <a:spcBef>
                <a:spcPts val="0"/>
              </a:spcBef>
              <a:buNone/>
              <a:defRPr/>
            </a:lvl4pPr>
            <a:lvl5pPr indent="0" lvl="4" algn="r">
              <a:spcBef>
                <a:spcPts val="0"/>
              </a:spcBef>
              <a:buNone/>
              <a:defRPr/>
            </a:lvl5pPr>
            <a:lvl6pPr indent="0" lvl="5" algn="r">
              <a:spcBef>
                <a:spcPts val="0"/>
              </a:spcBef>
              <a:buNone/>
              <a:defRPr/>
            </a:lvl6pPr>
            <a:lvl7pPr indent="0" lvl="6" algn="r">
              <a:spcBef>
                <a:spcPts val="0"/>
              </a:spcBef>
              <a:buNone/>
              <a:defRPr/>
            </a:lvl7pPr>
            <a:lvl8pPr indent="0" lvl="7" algn="r">
              <a:spcBef>
                <a:spcPts val="0"/>
              </a:spcBef>
              <a:buNone/>
              <a:defRPr/>
            </a:lvl8pPr>
            <a:lvl9pPr indent="0" lvl="8"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01" name="Shape 101"/>
        <p:cNvGrpSpPr/>
        <p:nvPr/>
      </p:nvGrpSpPr>
      <p:grpSpPr>
        <a:xfrm>
          <a:off x="0" y="0"/>
          <a:ext cx="0" cy="0"/>
          <a:chOff x="0" y="0"/>
          <a:chExt cx="0" cy="0"/>
        </a:xfrm>
      </p:grpSpPr>
      <p:sp>
        <p:nvSpPr>
          <p:cNvPr id="102" name="Google Shape;102;p17"/>
          <p:cNvSpPr txBox="1"/>
          <p:nvPr>
            <p:ph type="title"/>
          </p:nvPr>
        </p:nvSpPr>
        <p:spPr>
          <a:xfrm rot="5400000">
            <a:off x="4988719" y="2623344"/>
            <a:ext cx="6586537" cy="2168525"/>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3" name="Google Shape;103;p17"/>
          <p:cNvSpPr txBox="1"/>
          <p:nvPr>
            <p:ph idx="1" type="body"/>
          </p:nvPr>
        </p:nvSpPr>
        <p:spPr>
          <a:xfrm rot="5400000">
            <a:off x="575469" y="531019"/>
            <a:ext cx="6586537" cy="6353175"/>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4" name="Google Shape;104;p17"/>
          <p:cNvSpPr txBox="1"/>
          <p:nvPr>
            <p:ph idx="10" type="dt"/>
          </p:nvPr>
        </p:nvSpPr>
        <p:spPr>
          <a:xfrm>
            <a:off x="692150" y="7204075"/>
            <a:ext cx="2262188" cy="41433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5" name="Google Shape;105;p17"/>
          <p:cNvSpPr txBox="1"/>
          <p:nvPr>
            <p:ph idx="11" type="ftr"/>
          </p:nvPr>
        </p:nvSpPr>
        <p:spPr>
          <a:xfrm>
            <a:off x="3332163" y="7204075"/>
            <a:ext cx="3394075" cy="414338"/>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6" name="Google Shape;106;p17"/>
          <p:cNvSpPr txBox="1"/>
          <p:nvPr>
            <p:ph idx="12" type="sldNum"/>
          </p:nvPr>
        </p:nvSpPr>
        <p:spPr>
          <a:xfrm>
            <a:off x="7104063" y="7204075"/>
            <a:ext cx="2262187" cy="414338"/>
          </a:xfrm>
          <a:prstGeom prst="rect">
            <a:avLst/>
          </a:prstGeom>
          <a:noFill/>
          <a:ln>
            <a:noFill/>
          </a:ln>
        </p:spPr>
        <p:txBody>
          <a:bodyPr anchorCtr="0" anchor="ctr" bIns="45700" lIns="91425" spcFirstLastPara="1" rIns="91425" wrap="square" tIns="45700">
            <a:noAutofit/>
          </a:bodyPr>
          <a:lstStyle>
            <a:lvl1pPr indent="0" lvl="0" algn="r">
              <a:spcBef>
                <a:spcPts val="0"/>
              </a:spcBef>
              <a:buNone/>
              <a:defRPr/>
            </a:lvl1pPr>
            <a:lvl2pPr indent="0" lvl="1" algn="r">
              <a:spcBef>
                <a:spcPts val="0"/>
              </a:spcBef>
              <a:buNone/>
              <a:defRPr/>
            </a:lvl2pPr>
            <a:lvl3pPr indent="0" lvl="2" algn="r">
              <a:spcBef>
                <a:spcPts val="0"/>
              </a:spcBef>
              <a:buNone/>
              <a:defRPr/>
            </a:lvl3pPr>
            <a:lvl4pPr indent="0" lvl="3" algn="r">
              <a:spcBef>
                <a:spcPts val="0"/>
              </a:spcBef>
              <a:buNone/>
              <a:defRPr/>
            </a:lvl4pPr>
            <a:lvl5pPr indent="0" lvl="4" algn="r">
              <a:spcBef>
                <a:spcPts val="0"/>
              </a:spcBef>
              <a:buNone/>
              <a:defRPr/>
            </a:lvl5pPr>
            <a:lvl6pPr indent="0" lvl="5" algn="r">
              <a:spcBef>
                <a:spcPts val="0"/>
              </a:spcBef>
              <a:buNone/>
              <a:defRPr/>
            </a:lvl6pPr>
            <a:lvl7pPr indent="0" lvl="6" algn="r">
              <a:spcBef>
                <a:spcPts val="0"/>
              </a:spcBef>
              <a:buNone/>
              <a:defRPr/>
            </a:lvl7pPr>
            <a:lvl8pPr indent="0" lvl="7" algn="r">
              <a:spcBef>
                <a:spcPts val="0"/>
              </a:spcBef>
              <a:buNone/>
              <a:defRPr/>
            </a:lvl8pPr>
            <a:lvl9pPr indent="0" lvl="8"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wo Content">
  <p:cSld name="1_Two Content">
    <p:spTree>
      <p:nvGrpSpPr>
        <p:cNvPr id="107" name="Shape 107"/>
        <p:cNvGrpSpPr/>
        <p:nvPr/>
      </p:nvGrpSpPr>
      <p:grpSpPr>
        <a:xfrm>
          <a:off x="0" y="0"/>
          <a:ext cx="0" cy="0"/>
          <a:chOff x="0" y="0"/>
          <a:chExt cx="0" cy="0"/>
        </a:xfrm>
      </p:grpSpPr>
      <p:sp>
        <p:nvSpPr>
          <p:cNvPr id="108" name="Google Shape;108;p18"/>
          <p:cNvSpPr txBox="1"/>
          <p:nvPr>
            <p:ph type="title"/>
          </p:nvPr>
        </p:nvSpPr>
        <p:spPr>
          <a:xfrm>
            <a:off x="692150" y="414338"/>
            <a:ext cx="8674100" cy="1501775"/>
          </a:xfrm>
          <a:prstGeom prst="rect">
            <a:avLst/>
          </a:prstGeom>
          <a:noFill/>
          <a:ln>
            <a:noFill/>
          </a:ln>
        </p:spPr>
        <p:txBody>
          <a:bodyPr anchorCtr="0" anchor="ctr" bIns="0" lIns="0" spcFirstLastPara="1" rIns="0" wrap="square" tIns="0">
            <a:normAutofit/>
          </a:bodyPr>
          <a:lstStyle>
            <a:lvl1pPr lvl="0" algn="l">
              <a:lnSpc>
                <a:spcPct val="90000"/>
              </a:lnSpc>
              <a:spcBef>
                <a:spcPts val="0"/>
              </a:spcBef>
              <a:spcAft>
                <a:spcPts val="0"/>
              </a:spcAft>
              <a:buClr>
                <a:schemeClr val="dk1"/>
              </a:buClr>
              <a:buSzPts val="3600"/>
              <a:buFont typeface="Calibri"/>
              <a:buNone/>
              <a:defRPr b="0" i="0" sz="3600">
                <a:solidFill>
                  <a:schemeClr val="dk1"/>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9" name="Google Shape;109;p18"/>
          <p:cNvSpPr txBox="1"/>
          <p:nvPr>
            <p:ph idx="1" type="body"/>
          </p:nvPr>
        </p:nvSpPr>
        <p:spPr>
          <a:xfrm>
            <a:off x="502920" y="1787652"/>
            <a:ext cx="4375404" cy="5129784"/>
          </a:xfrm>
          <a:prstGeom prst="rect">
            <a:avLst/>
          </a:prstGeom>
          <a:noFill/>
          <a:ln>
            <a:noFill/>
          </a:ln>
        </p:spPr>
        <p:txBody>
          <a:bodyPr anchorCtr="0" anchor="t" bIns="0" lIns="0" spcFirstLastPara="1" rIns="0" wrap="square" tIns="0">
            <a:spAutoFit/>
          </a:bodyPr>
          <a:lstStyle>
            <a:lvl1pPr indent="-406400" lvl="0" marL="457200" algn="l">
              <a:lnSpc>
                <a:spcPct val="90000"/>
              </a:lnSpc>
              <a:spcBef>
                <a:spcPts val="1000"/>
              </a:spcBef>
              <a:spcAft>
                <a:spcPts val="0"/>
              </a:spcAft>
              <a:buClr>
                <a:schemeClr val="dk1"/>
              </a:buClr>
              <a:buSzPts val="2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0" name="Google Shape;110;p18"/>
          <p:cNvSpPr txBox="1"/>
          <p:nvPr>
            <p:ph idx="2" type="body"/>
          </p:nvPr>
        </p:nvSpPr>
        <p:spPr>
          <a:xfrm>
            <a:off x="5180076" y="1787652"/>
            <a:ext cx="4375404" cy="5129784"/>
          </a:xfrm>
          <a:prstGeom prst="rect">
            <a:avLst/>
          </a:prstGeom>
          <a:noFill/>
          <a:ln>
            <a:noFill/>
          </a:ln>
        </p:spPr>
        <p:txBody>
          <a:bodyPr anchorCtr="0" anchor="t" bIns="0" lIns="0" spcFirstLastPara="1" rIns="0" wrap="square" tIns="0">
            <a:spAutoFit/>
          </a:bodyPr>
          <a:lstStyle>
            <a:lvl1pPr indent="-406400" lvl="0" marL="457200" algn="l">
              <a:lnSpc>
                <a:spcPct val="90000"/>
              </a:lnSpc>
              <a:spcBef>
                <a:spcPts val="1000"/>
              </a:spcBef>
              <a:spcAft>
                <a:spcPts val="0"/>
              </a:spcAft>
              <a:buClr>
                <a:schemeClr val="dk1"/>
              </a:buClr>
              <a:buSzPts val="2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1" name="Google Shape;111;p18"/>
          <p:cNvSpPr txBox="1"/>
          <p:nvPr>
            <p:ph idx="11" type="ftr"/>
          </p:nvPr>
        </p:nvSpPr>
        <p:spPr>
          <a:xfrm>
            <a:off x="3332163" y="7204075"/>
            <a:ext cx="3394075" cy="414338"/>
          </a:xfrm>
          <a:prstGeom prst="rect">
            <a:avLst/>
          </a:prstGeom>
          <a:noFill/>
          <a:ln>
            <a:noFill/>
          </a:ln>
        </p:spPr>
        <p:txBody>
          <a:bodyPr anchorCtr="0" anchor="ctr" bIns="0" lIns="0" spcFirstLastPara="1" rIns="0" wrap="square" tIns="0">
            <a:noAutofit/>
          </a:bodyPr>
          <a:lstStyle>
            <a:lvl1pPr lvl="0" algn="ctr">
              <a:spcBef>
                <a:spcPts val="0"/>
              </a:spcBef>
              <a:spcAft>
                <a:spcPts val="0"/>
              </a:spcAft>
              <a:buSzPts val="1400"/>
              <a:buNone/>
              <a:defRPr b="0" i="0" sz="1000">
                <a:solidFill>
                  <a:srgbClr val="898989"/>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2" name="Google Shape;112;p18"/>
          <p:cNvSpPr txBox="1"/>
          <p:nvPr>
            <p:ph idx="10" type="dt"/>
          </p:nvPr>
        </p:nvSpPr>
        <p:spPr>
          <a:xfrm>
            <a:off x="692150" y="7204075"/>
            <a:ext cx="2262188" cy="414338"/>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3" name="Google Shape;113;p18"/>
          <p:cNvSpPr txBox="1"/>
          <p:nvPr>
            <p:ph idx="12" type="sldNum"/>
          </p:nvPr>
        </p:nvSpPr>
        <p:spPr>
          <a:xfrm>
            <a:off x="7104063" y="7204075"/>
            <a:ext cx="2262187" cy="414338"/>
          </a:xfrm>
          <a:prstGeom prst="rect">
            <a:avLst/>
          </a:prstGeom>
          <a:noFill/>
          <a:ln>
            <a:noFill/>
          </a:ln>
        </p:spPr>
        <p:txBody>
          <a:bodyPr anchorCtr="0" anchor="ctr" bIns="0" lIns="0" spcFirstLastPara="1" rIns="0" wrap="square" tIns="0">
            <a:noAutofit/>
          </a:bodyPr>
          <a:lstStyle>
            <a:lvl1pPr indent="0" lvl="0" marL="76200" algn="r">
              <a:lnSpc>
                <a:spcPct val="105999"/>
              </a:lnSpc>
              <a:spcBef>
                <a:spcPts val="0"/>
              </a:spcBef>
              <a:buNone/>
              <a:defRPr b="0" i="0" sz="1000">
                <a:solidFill>
                  <a:srgbClr val="898989"/>
                </a:solidFill>
                <a:latin typeface="Calibri"/>
                <a:ea typeface="Calibri"/>
                <a:cs typeface="Calibri"/>
                <a:sym typeface="Calibri"/>
              </a:defRPr>
            </a:lvl1pPr>
            <a:lvl2pPr indent="0" lvl="1" marL="76200" algn="r">
              <a:lnSpc>
                <a:spcPct val="105999"/>
              </a:lnSpc>
              <a:spcBef>
                <a:spcPts val="0"/>
              </a:spcBef>
              <a:buNone/>
              <a:defRPr b="0" i="0" sz="1000">
                <a:solidFill>
                  <a:srgbClr val="898989"/>
                </a:solidFill>
                <a:latin typeface="Calibri"/>
                <a:ea typeface="Calibri"/>
                <a:cs typeface="Calibri"/>
                <a:sym typeface="Calibri"/>
              </a:defRPr>
            </a:lvl2pPr>
            <a:lvl3pPr indent="0" lvl="2" marL="76200" algn="r">
              <a:lnSpc>
                <a:spcPct val="105999"/>
              </a:lnSpc>
              <a:spcBef>
                <a:spcPts val="0"/>
              </a:spcBef>
              <a:buNone/>
              <a:defRPr b="0" i="0" sz="1000">
                <a:solidFill>
                  <a:srgbClr val="898989"/>
                </a:solidFill>
                <a:latin typeface="Calibri"/>
                <a:ea typeface="Calibri"/>
                <a:cs typeface="Calibri"/>
                <a:sym typeface="Calibri"/>
              </a:defRPr>
            </a:lvl3pPr>
            <a:lvl4pPr indent="0" lvl="3" marL="76200" algn="r">
              <a:lnSpc>
                <a:spcPct val="105999"/>
              </a:lnSpc>
              <a:spcBef>
                <a:spcPts val="0"/>
              </a:spcBef>
              <a:buNone/>
              <a:defRPr b="0" i="0" sz="1000">
                <a:solidFill>
                  <a:srgbClr val="898989"/>
                </a:solidFill>
                <a:latin typeface="Calibri"/>
                <a:ea typeface="Calibri"/>
                <a:cs typeface="Calibri"/>
                <a:sym typeface="Calibri"/>
              </a:defRPr>
            </a:lvl4pPr>
            <a:lvl5pPr indent="0" lvl="4" marL="76200" algn="r">
              <a:lnSpc>
                <a:spcPct val="105999"/>
              </a:lnSpc>
              <a:spcBef>
                <a:spcPts val="0"/>
              </a:spcBef>
              <a:buNone/>
              <a:defRPr b="0" i="0" sz="1000">
                <a:solidFill>
                  <a:srgbClr val="898989"/>
                </a:solidFill>
                <a:latin typeface="Calibri"/>
                <a:ea typeface="Calibri"/>
                <a:cs typeface="Calibri"/>
                <a:sym typeface="Calibri"/>
              </a:defRPr>
            </a:lvl5pPr>
            <a:lvl6pPr indent="0" lvl="5" marL="76200" algn="r">
              <a:lnSpc>
                <a:spcPct val="105999"/>
              </a:lnSpc>
              <a:spcBef>
                <a:spcPts val="0"/>
              </a:spcBef>
              <a:buNone/>
              <a:defRPr b="0" i="0" sz="1000">
                <a:solidFill>
                  <a:srgbClr val="898989"/>
                </a:solidFill>
                <a:latin typeface="Calibri"/>
                <a:ea typeface="Calibri"/>
                <a:cs typeface="Calibri"/>
                <a:sym typeface="Calibri"/>
              </a:defRPr>
            </a:lvl6pPr>
            <a:lvl7pPr indent="0" lvl="6" marL="76200" algn="r">
              <a:lnSpc>
                <a:spcPct val="105999"/>
              </a:lnSpc>
              <a:spcBef>
                <a:spcPts val="0"/>
              </a:spcBef>
              <a:buNone/>
              <a:defRPr b="0" i="0" sz="1000">
                <a:solidFill>
                  <a:srgbClr val="898989"/>
                </a:solidFill>
                <a:latin typeface="Calibri"/>
                <a:ea typeface="Calibri"/>
                <a:cs typeface="Calibri"/>
                <a:sym typeface="Calibri"/>
              </a:defRPr>
            </a:lvl7pPr>
            <a:lvl8pPr indent="0" lvl="7" marL="76200" algn="r">
              <a:lnSpc>
                <a:spcPct val="105999"/>
              </a:lnSpc>
              <a:spcBef>
                <a:spcPts val="0"/>
              </a:spcBef>
              <a:buNone/>
              <a:defRPr b="0" i="0" sz="1000">
                <a:solidFill>
                  <a:srgbClr val="898989"/>
                </a:solidFill>
                <a:latin typeface="Calibri"/>
                <a:ea typeface="Calibri"/>
                <a:cs typeface="Calibri"/>
                <a:sym typeface="Calibri"/>
              </a:defRPr>
            </a:lvl8pPr>
            <a:lvl9pPr indent="0" lvl="8" marL="76200" algn="r">
              <a:lnSpc>
                <a:spcPct val="105999"/>
              </a:lnSpc>
              <a:spcBef>
                <a:spcPts val="0"/>
              </a:spcBef>
              <a:buNone/>
              <a:defRPr b="0" i="0" sz="1000">
                <a:solidFill>
                  <a:srgbClr val="898989"/>
                </a:solidFill>
                <a:latin typeface="Calibri"/>
                <a:ea typeface="Calibri"/>
                <a:cs typeface="Calibri"/>
                <a:sym typeface="Calibri"/>
              </a:defRPr>
            </a:lvl9pPr>
          </a:lstStyle>
          <a:p>
            <a:pPr indent="0" lvl="0" marL="7620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Slide">
  <p:cSld name="1_Title Slide">
    <p:spTree>
      <p:nvGrpSpPr>
        <p:cNvPr id="114" name="Shape 114"/>
        <p:cNvGrpSpPr/>
        <p:nvPr/>
      </p:nvGrpSpPr>
      <p:grpSpPr>
        <a:xfrm>
          <a:off x="0" y="0"/>
          <a:ext cx="0" cy="0"/>
          <a:chOff x="0" y="0"/>
          <a:chExt cx="0" cy="0"/>
        </a:xfrm>
      </p:grpSpPr>
      <p:sp>
        <p:nvSpPr>
          <p:cNvPr id="115" name="Google Shape;115;p19"/>
          <p:cNvSpPr txBox="1"/>
          <p:nvPr>
            <p:ph type="ctrTitle"/>
          </p:nvPr>
        </p:nvSpPr>
        <p:spPr>
          <a:xfrm>
            <a:off x="756475" y="834680"/>
            <a:ext cx="4480179" cy="502766"/>
          </a:xfrm>
          <a:prstGeom prst="rect">
            <a:avLst/>
          </a:prstGeom>
          <a:noFill/>
          <a:ln>
            <a:noFill/>
          </a:ln>
        </p:spPr>
        <p:txBody>
          <a:bodyPr anchorCtr="0" anchor="ctr" bIns="0" lIns="0" spcFirstLastPara="1" rIns="0" wrap="square" tIns="0">
            <a:spAutoFit/>
          </a:bodyPr>
          <a:lstStyle>
            <a:lvl1pPr lvl="0" algn="l">
              <a:lnSpc>
                <a:spcPct val="90000"/>
              </a:lnSpc>
              <a:spcBef>
                <a:spcPts val="0"/>
              </a:spcBef>
              <a:spcAft>
                <a:spcPts val="0"/>
              </a:spcAft>
              <a:buClr>
                <a:schemeClr val="dk1"/>
              </a:buClr>
              <a:buSzPts val="3630"/>
              <a:buFont typeface="Calibri"/>
              <a:buNone/>
              <a:defRPr b="0" i="0" sz="3630">
                <a:solidFill>
                  <a:schemeClr val="dk1"/>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6" name="Google Shape;116;p19"/>
          <p:cNvSpPr txBox="1"/>
          <p:nvPr>
            <p:ph idx="1" type="subTitle"/>
          </p:nvPr>
        </p:nvSpPr>
        <p:spPr>
          <a:xfrm>
            <a:off x="1587342" y="4697696"/>
            <a:ext cx="6546341" cy="365613"/>
          </a:xfrm>
          <a:prstGeom prst="rect">
            <a:avLst/>
          </a:prstGeom>
          <a:noFill/>
          <a:ln>
            <a:noFill/>
          </a:ln>
        </p:spPr>
        <p:txBody>
          <a:bodyPr anchorCtr="0" anchor="t" bIns="0" lIns="0" spcFirstLastPara="1" rIns="0" wrap="square" tIns="0">
            <a:spAutoFit/>
          </a:bodyPr>
          <a:lstStyle>
            <a:lvl1pPr lvl="0" algn="l">
              <a:lnSpc>
                <a:spcPct val="90000"/>
              </a:lnSpc>
              <a:spcBef>
                <a:spcPts val="1000"/>
              </a:spcBef>
              <a:spcAft>
                <a:spcPts val="0"/>
              </a:spcAft>
              <a:buClr>
                <a:srgbClr val="44536A"/>
              </a:buClr>
              <a:buSzPts val="2640"/>
              <a:buChar char="•"/>
              <a:defRPr b="1" i="0" sz="2640">
                <a:solidFill>
                  <a:srgbClr val="44536A"/>
                </a:solidFill>
                <a:latin typeface="Calibri"/>
                <a:ea typeface="Calibri"/>
                <a:cs typeface="Calibri"/>
                <a:sym typeface="Calibri"/>
              </a:defRPr>
            </a:lvl1pPr>
            <a:lvl2pPr lvl="1" algn="l">
              <a:lnSpc>
                <a:spcPct val="90000"/>
              </a:lnSpc>
              <a:spcBef>
                <a:spcPts val="500"/>
              </a:spcBef>
              <a:spcAft>
                <a:spcPts val="0"/>
              </a:spcAft>
              <a:buClr>
                <a:schemeClr val="dk1"/>
              </a:buClr>
              <a:buSzPts val="1800"/>
              <a:buChar char="•"/>
              <a:defRPr/>
            </a:lvl2pPr>
            <a:lvl3pPr lvl="2" algn="l">
              <a:lnSpc>
                <a:spcPct val="90000"/>
              </a:lnSpc>
              <a:spcBef>
                <a:spcPts val="500"/>
              </a:spcBef>
              <a:spcAft>
                <a:spcPts val="0"/>
              </a:spcAft>
              <a:buClr>
                <a:schemeClr val="dk1"/>
              </a:buClr>
              <a:buSzPts val="1800"/>
              <a:buChar char="•"/>
              <a:defRPr/>
            </a:lvl3pPr>
            <a:lvl4pPr lvl="3" algn="l">
              <a:lnSpc>
                <a:spcPct val="90000"/>
              </a:lnSpc>
              <a:spcBef>
                <a:spcPts val="500"/>
              </a:spcBef>
              <a:spcAft>
                <a:spcPts val="0"/>
              </a:spcAft>
              <a:buClr>
                <a:schemeClr val="dk1"/>
              </a:buClr>
              <a:buSzPts val="1800"/>
              <a:buChar char="•"/>
              <a:defRPr/>
            </a:lvl4pPr>
            <a:lvl5pPr lvl="4" algn="l">
              <a:lnSpc>
                <a:spcPct val="90000"/>
              </a:lnSpc>
              <a:spcBef>
                <a:spcPts val="500"/>
              </a:spcBef>
              <a:spcAft>
                <a:spcPts val="0"/>
              </a:spcAft>
              <a:buClr>
                <a:schemeClr val="dk1"/>
              </a:buClr>
              <a:buSzPts val="1800"/>
              <a:buChar char="•"/>
              <a:defRPr/>
            </a:lvl5pPr>
            <a:lvl6pPr lvl="5" algn="l">
              <a:lnSpc>
                <a:spcPct val="90000"/>
              </a:lnSpc>
              <a:spcBef>
                <a:spcPts val="500"/>
              </a:spcBef>
              <a:spcAft>
                <a:spcPts val="0"/>
              </a:spcAft>
              <a:buClr>
                <a:schemeClr val="dk1"/>
              </a:buClr>
              <a:buSzPts val="1800"/>
              <a:buChar char="•"/>
              <a:defRPr/>
            </a:lvl6pPr>
            <a:lvl7pPr lvl="6" algn="l">
              <a:lnSpc>
                <a:spcPct val="90000"/>
              </a:lnSpc>
              <a:spcBef>
                <a:spcPts val="500"/>
              </a:spcBef>
              <a:spcAft>
                <a:spcPts val="0"/>
              </a:spcAft>
              <a:buClr>
                <a:schemeClr val="dk1"/>
              </a:buClr>
              <a:buSzPts val="1800"/>
              <a:buChar char="•"/>
              <a:defRPr/>
            </a:lvl7pPr>
            <a:lvl8pPr lvl="7" algn="l">
              <a:lnSpc>
                <a:spcPct val="90000"/>
              </a:lnSpc>
              <a:spcBef>
                <a:spcPts val="500"/>
              </a:spcBef>
              <a:spcAft>
                <a:spcPts val="0"/>
              </a:spcAft>
              <a:buClr>
                <a:schemeClr val="dk1"/>
              </a:buClr>
              <a:buSzPts val="1800"/>
              <a:buChar char="•"/>
              <a:defRPr/>
            </a:lvl8pPr>
            <a:lvl9pPr lvl="8" algn="l">
              <a:lnSpc>
                <a:spcPct val="90000"/>
              </a:lnSpc>
              <a:spcBef>
                <a:spcPts val="500"/>
              </a:spcBef>
              <a:spcAft>
                <a:spcPts val="0"/>
              </a:spcAft>
              <a:buClr>
                <a:schemeClr val="dk1"/>
              </a:buClr>
              <a:buSzPts val="1800"/>
              <a:buChar char="•"/>
              <a:defRPr/>
            </a:lvl9pPr>
          </a:lstStyle>
          <a:p/>
        </p:txBody>
      </p:sp>
      <p:sp>
        <p:nvSpPr>
          <p:cNvPr id="117" name="Google Shape;117;p19"/>
          <p:cNvSpPr txBox="1"/>
          <p:nvPr>
            <p:ph idx="11" type="ftr"/>
          </p:nvPr>
        </p:nvSpPr>
        <p:spPr>
          <a:xfrm>
            <a:off x="3332163" y="7204075"/>
            <a:ext cx="3394075" cy="414338"/>
          </a:xfrm>
          <a:prstGeom prst="rect">
            <a:avLst/>
          </a:prstGeom>
          <a:noFill/>
          <a:ln>
            <a:noFill/>
          </a:ln>
        </p:spPr>
        <p:txBody>
          <a:bodyPr anchorCtr="0" anchor="ctr" bIns="0" lIns="0" spcFirstLastPara="1" rIns="0" wrap="square" tIns="0">
            <a:noAutofit/>
          </a:bodyPr>
          <a:lstStyle>
            <a:lvl1pPr lvl="0" algn="ctr">
              <a:spcBef>
                <a:spcPts val="0"/>
              </a:spcBef>
              <a:spcAft>
                <a:spcPts val="0"/>
              </a:spcAft>
              <a:buSzPts val="1400"/>
              <a:buNone/>
              <a:defRPr b="0" i="0" sz="990">
                <a:solidFill>
                  <a:srgbClr val="888888"/>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8" name="Google Shape;118;p19"/>
          <p:cNvSpPr txBox="1"/>
          <p:nvPr>
            <p:ph idx="10" type="dt"/>
          </p:nvPr>
        </p:nvSpPr>
        <p:spPr>
          <a:xfrm>
            <a:off x="692150" y="7204075"/>
            <a:ext cx="2262188" cy="414338"/>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9" name="Google Shape;119;p19"/>
          <p:cNvSpPr txBox="1"/>
          <p:nvPr>
            <p:ph idx="12" type="sldNum"/>
          </p:nvPr>
        </p:nvSpPr>
        <p:spPr>
          <a:xfrm>
            <a:off x="7104063" y="7204075"/>
            <a:ext cx="2262187" cy="414338"/>
          </a:xfrm>
          <a:prstGeom prst="rect">
            <a:avLst/>
          </a:prstGeom>
          <a:noFill/>
          <a:ln>
            <a:noFill/>
          </a:ln>
        </p:spPr>
        <p:txBody>
          <a:bodyPr anchorCtr="0" anchor="ctr" bIns="0" lIns="0" spcFirstLastPara="1" rIns="0" wrap="square" tIns="0">
            <a:noAutofit/>
          </a:bodyPr>
          <a:lstStyle>
            <a:lvl1pPr indent="0" lvl="0" marL="31433" algn="r">
              <a:lnSpc>
                <a:spcPct val="103437"/>
              </a:lnSpc>
              <a:spcBef>
                <a:spcPts val="0"/>
              </a:spcBef>
              <a:buNone/>
              <a:defRPr b="0" i="0" sz="990">
                <a:solidFill>
                  <a:srgbClr val="888888"/>
                </a:solidFill>
                <a:latin typeface="Calibri"/>
                <a:ea typeface="Calibri"/>
                <a:cs typeface="Calibri"/>
                <a:sym typeface="Calibri"/>
              </a:defRPr>
            </a:lvl1pPr>
            <a:lvl2pPr indent="0" lvl="1" marL="31433" algn="r">
              <a:lnSpc>
                <a:spcPct val="103437"/>
              </a:lnSpc>
              <a:spcBef>
                <a:spcPts val="0"/>
              </a:spcBef>
              <a:buNone/>
              <a:defRPr b="0" i="0" sz="990">
                <a:solidFill>
                  <a:srgbClr val="888888"/>
                </a:solidFill>
                <a:latin typeface="Calibri"/>
                <a:ea typeface="Calibri"/>
                <a:cs typeface="Calibri"/>
                <a:sym typeface="Calibri"/>
              </a:defRPr>
            </a:lvl2pPr>
            <a:lvl3pPr indent="0" lvl="2" marL="31433" algn="r">
              <a:lnSpc>
                <a:spcPct val="103437"/>
              </a:lnSpc>
              <a:spcBef>
                <a:spcPts val="0"/>
              </a:spcBef>
              <a:buNone/>
              <a:defRPr b="0" i="0" sz="990">
                <a:solidFill>
                  <a:srgbClr val="888888"/>
                </a:solidFill>
                <a:latin typeface="Calibri"/>
                <a:ea typeface="Calibri"/>
                <a:cs typeface="Calibri"/>
                <a:sym typeface="Calibri"/>
              </a:defRPr>
            </a:lvl3pPr>
            <a:lvl4pPr indent="0" lvl="3" marL="31433" algn="r">
              <a:lnSpc>
                <a:spcPct val="103437"/>
              </a:lnSpc>
              <a:spcBef>
                <a:spcPts val="0"/>
              </a:spcBef>
              <a:buNone/>
              <a:defRPr b="0" i="0" sz="990">
                <a:solidFill>
                  <a:srgbClr val="888888"/>
                </a:solidFill>
                <a:latin typeface="Calibri"/>
                <a:ea typeface="Calibri"/>
                <a:cs typeface="Calibri"/>
                <a:sym typeface="Calibri"/>
              </a:defRPr>
            </a:lvl4pPr>
            <a:lvl5pPr indent="0" lvl="4" marL="31433" algn="r">
              <a:lnSpc>
                <a:spcPct val="103437"/>
              </a:lnSpc>
              <a:spcBef>
                <a:spcPts val="0"/>
              </a:spcBef>
              <a:buNone/>
              <a:defRPr b="0" i="0" sz="990">
                <a:solidFill>
                  <a:srgbClr val="888888"/>
                </a:solidFill>
                <a:latin typeface="Calibri"/>
                <a:ea typeface="Calibri"/>
                <a:cs typeface="Calibri"/>
                <a:sym typeface="Calibri"/>
              </a:defRPr>
            </a:lvl5pPr>
            <a:lvl6pPr indent="0" lvl="5" marL="31433" algn="r">
              <a:lnSpc>
                <a:spcPct val="103437"/>
              </a:lnSpc>
              <a:spcBef>
                <a:spcPts val="0"/>
              </a:spcBef>
              <a:buNone/>
              <a:defRPr b="0" i="0" sz="990">
                <a:solidFill>
                  <a:srgbClr val="888888"/>
                </a:solidFill>
                <a:latin typeface="Calibri"/>
                <a:ea typeface="Calibri"/>
                <a:cs typeface="Calibri"/>
                <a:sym typeface="Calibri"/>
              </a:defRPr>
            </a:lvl6pPr>
            <a:lvl7pPr indent="0" lvl="6" marL="31433" algn="r">
              <a:lnSpc>
                <a:spcPct val="103437"/>
              </a:lnSpc>
              <a:spcBef>
                <a:spcPts val="0"/>
              </a:spcBef>
              <a:buNone/>
              <a:defRPr b="0" i="0" sz="990">
                <a:solidFill>
                  <a:srgbClr val="888888"/>
                </a:solidFill>
                <a:latin typeface="Calibri"/>
                <a:ea typeface="Calibri"/>
                <a:cs typeface="Calibri"/>
                <a:sym typeface="Calibri"/>
              </a:defRPr>
            </a:lvl7pPr>
            <a:lvl8pPr indent="0" lvl="7" marL="31433" algn="r">
              <a:lnSpc>
                <a:spcPct val="103437"/>
              </a:lnSpc>
              <a:spcBef>
                <a:spcPts val="0"/>
              </a:spcBef>
              <a:buNone/>
              <a:defRPr b="0" i="0" sz="990">
                <a:solidFill>
                  <a:srgbClr val="888888"/>
                </a:solidFill>
                <a:latin typeface="Calibri"/>
                <a:ea typeface="Calibri"/>
                <a:cs typeface="Calibri"/>
                <a:sym typeface="Calibri"/>
              </a:defRPr>
            </a:lvl8pPr>
            <a:lvl9pPr indent="0" lvl="8" marL="31433" algn="r">
              <a:lnSpc>
                <a:spcPct val="103437"/>
              </a:lnSpc>
              <a:spcBef>
                <a:spcPts val="0"/>
              </a:spcBef>
              <a:buNone/>
              <a:defRPr b="0" i="0" sz="990">
                <a:solidFill>
                  <a:srgbClr val="888888"/>
                </a:solidFill>
                <a:latin typeface="Calibri"/>
                <a:ea typeface="Calibri"/>
                <a:cs typeface="Calibri"/>
                <a:sym typeface="Calibri"/>
              </a:defRPr>
            </a:lvl9pPr>
          </a:lstStyle>
          <a:p>
            <a:pPr indent="0" lvl="0" marL="31433"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120" name="Shape 120"/>
        <p:cNvGrpSpPr/>
        <p:nvPr/>
      </p:nvGrpSpPr>
      <p:grpSpPr>
        <a:xfrm>
          <a:off x="0" y="0"/>
          <a:ext cx="0" cy="0"/>
          <a:chOff x="0" y="0"/>
          <a:chExt cx="0" cy="0"/>
        </a:xfrm>
      </p:grpSpPr>
      <p:sp>
        <p:nvSpPr>
          <p:cNvPr id="121" name="Google Shape;121;p20"/>
          <p:cNvSpPr txBox="1"/>
          <p:nvPr>
            <p:ph type="title"/>
          </p:nvPr>
        </p:nvSpPr>
        <p:spPr>
          <a:xfrm>
            <a:off x="691515" y="50411"/>
            <a:ext cx="8675370" cy="1017962"/>
          </a:xfrm>
          <a:prstGeom prst="rect">
            <a:avLst/>
          </a:prstGeom>
          <a:solidFill>
            <a:schemeClr val="dk2"/>
          </a:solid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2970"/>
              <a:buFont typeface="Play"/>
              <a:buNone/>
              <a:defRPr b="1" sz="297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2" name="Google Shape;122;p20"/>
          <p:cNvSpPr txBox="1"/>
          <p:nvPr>
            <p:ph idx="1" type="body"/>
          </p:nvPr>
        </p:nvSpPr>
        <p:spPr>
          <a:xfrm>
            <a:off x="692150" y="2068513"/>
            <a:ext cx="8674100" cy="4932362"/>
          </a:xfrm>
          <a:prstGeom prst="rect">
            <a:avLst/>
          </a:prstGeom>
          <a:noFill/>
          <a:ln>
            <a:noFill/>
          </a:ln>
        </p:spPr>
        <p:txBody>
          <a:bodyPr anchorCtr="0" anchor="t" bIns="45700" lIns="91425" spcFirstLastPara="1" rIns="91425" wrap="square" tIns="45700">
            <a:normAutofit/>
          </a:bodyPr>
          <a:lstStyle>
            <a:lvl1pPr indent="-354330" lvl="0" marL="457200" algn="l">
              <a:lnSpc>
                <a:spcPct val="90000"/>
              </a:lnSpc>
              <a:spcBef>
                <a:spcPts val="1000"/>
              </a:spcBef>
              <a:spcAft>
                <a:spcPts val="0"/>
              </a:spcAft>
              <a:buClr>
                <a:schemeClr val="dk1"/>
              </a:buClr>
              <a:buSzPts val="1980"/>
              <a:buChar char="•"/>
              <a:defRPr sz="1980"/>
            </a:lvl1pPr>
            <a:lvl2pPr indent="-333375" lvl="1" marL="914400" algn="l">
              <a:lnSpc>
                <a:spcPct val="90000"/>
              </a:lnSpc>
              <a:spcBef>
                <a:spcPts val="500"/>
              </a:spcBef>
              <a:spcAft>
                <a:spcPts val="0"/>
              </a:spcAft>
              <a:buClr>
                <a:schemeClr val="dk1"/>
              </a:buClr>
              <a:buSzPts val="1650"/>
              <a:buChar char="•"/>
              <a:defRPr sz="1650"/>
            </a:lvl2pPr>
            <a:lvl3pPr indent="-322898" lvl="2" marL="1371600" algn="l">
              <a:lnSpc>
                <a:spcPct val="90000"/>
              </a:lnSpc>
              <a:spcBef>
                <a:spcPts val="500"/>
              </a:spcBef>
              <a:spcAft>
                <a:spcPts val="0"/>
              </a:spcAft>
              <a:buClr>
                <a:schemeClr val="dk1"/>
              </a:buClr>
              <a:buSzPts val="1485"/>
              <a:buChar char="•"/>
              <a:defRPr sz="1485"/>
            </a:lvl3pPr>
            <a:lvl4pPr indent="-312420" lvl="3" marL="1828800" algn="l">
              <a:lnSpc>
                <a:spcPct val="90000"/>
              </a:lnSpc>
              <a:spcBef>
                <a:spcPts val="500"/>
              </a:spcBef>
              <a:spcAft>
                <a:spcPts val="0"/>
              </a:spcAft>
              <a:buClr>
                <a:schemeClr val="dk1"/>
              </a:buClr>
              <a:buSzPts val="1320"/>
              <a:buChar char="•"/>
              <a:defRPr sz="1320"/>
            </a:lvl4pPr>
            <a:lvl5pPr indent="-301942" lvl="4" marL="2286000" algn="l">
              <a:lnSpc>
                <a:spcPct val="90000"/>
              </a:lnSpc>
              <a:spcBef>
                <a:spcPts val="500"/>
              </a:spcBef>
              <a:spcAft>
                <a:spcPts val="0"/>
              </a:spcAft>
              <a:buClr>
                <a:schemeClr val="dk1"/>
              </a:buClr>
              <a:buSzPts val="1155"/>
              <a:buChar char="•"/>
              <a:defRPr sz="1155"/>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3" name="Google Shape;123;p20"/>
          <p:cNvSpPr txBox="1"/>
          <p:nvPr>
            <p:ph idx="10" type="dt"/>
          </p:nvPr>
        </p:nvSpPr>
        <p:spPr>
          <a:xfrm>
            <a:off x="692150" y="7204075"/>
            <a:ext cx="2262188" cy="41433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4" name="Google Shape;124;p20"/>
          <p:cNvSpPr txBox="1"/>
          <p:nvPr>
            <p:ph idx="11" type="ftr"/>
          </p:nvPr>
        </p:nvSpPr>
        <p:spPr>
          <a:xfrm>
            <a:off x="3332163" y="7204075"/>
            <a:ext cx="3394075" cy="414338"/>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5" name="Google Shape;125;p20"/>
          <p:cNvSpPr txBox="1"/>
          <p:nvPr>
            <p:ph idx="12" type="sldNum"/>
          </p:nvPr>
        </p:nvSpPr>
        <p:spPr>
          <a:xfrm>
            <a:off x="7104063" y="7204075"/>
            <a:ext cx="2262187" cy="414338"/>
          </a:xfrm>
          <a:prstGeom prst="rect">
            <a:avLst/>
          </a:prstGeom>
          <a:noFill/>
          <a:ln>
            <a:noFill/>
          </a:ln>
        </p:spPr>
        <p:txBody>
          <a:bodyPr anchorCtr="0" anchor="ctr" bIns="45700" lIns="91425" spcFirstLastPara="1" rIns="91425" wrap="square" tIns="45700">
            <a:noAutofit/>
          </a:bodyPr>
          <a:lstStyle>
            <a:lvl1pPr indent="0" lvl="0" algn="r">
              <a:spcBef>
                <a:spcPts val="0"/>
              </a:spcBef>
              <a:buNone/>
              <a:defRPr/>
            </a:lvl1pPr>
            <a:lvl2pPr indent="0" lvl="1" algn="r">
              <a:spcBef>
                <a:spcPts val="0"/>
              </a:spcBef>
              <a:buNone/>
              <a:defRPr/>
            </a:lvl2pPr>
            <a:lvl3pPr indent="0" lvl="2" algn="r">
              <a:spcBef>
                <a:spcPts val="0"/>
              </a:spcBef>
              <a:buNone/>
              <a:defRPr/>
            </a:lvl3pPr>
            <a:lvl4pPr indent="0" lvl="3" algn="r">
              <a:spcBef>
                <a:spcPts val="0"/>
              </a:spcBef>
              <a:buNone/>
              <a:defRPr/>
            </a:lvl4pPr>
            <a:lvl5pPr indent="0" lvl="4" algn="r">
              <a:spcBef>
                <a:spcPts val="0"/>
              </a:spcBef>
              <a:buNone/>
              <a:defRPr/>
            </a:lvl5pPr>
            <a:lvl6pPr indent="0" lvl="5" algn="r">
              <a:spcBef>
                <a:spcPts val="0"/>
              </a:spcBef>
              <a:buNone/>
              <a:defRPr/>
            </a:lvl6pPr>
            <a:lvl7pPr indent="0" lvl="6" algn="r">
              <a:spcBef>
                <a:spcPts val="0"/>
              </a:spcBef>
              <a:buNone/>
              <a:defRPr/>
            </a:lvl7pPr>
            <a:lvl8pPr indent="0" lvl="7" algn="r">
              <a:spcBef>
                <a:spcPts val="0"/>
              </a:spcBef>
              <a:buNone/>
              <a:defRPr/>
            </a:lvl8pPr>
            <a:lvl9pPr indent="0" lvl="8"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cxnSp>
        <p:nvCxnSpPr>
          <p:cNvPr id="126" name="Google Shape;126;p20"/>
          <p:cNvCxnSpPr/>
          <p:nvPr/>
        </p:nvCxnSpPr>
        <p:spPr>
          <a:xfrm>
            <a:off x="691515" y="1111106"/>
            <a:ext cx="8675370" cy="0"/>
          </a:xfrm>
          <a:prstGeom prst="straightConnector1">
            <a:avLst/>
          </a:prstGeom>
          <a:noFill/>
          <a:ln cap="flat" cmpd="sng" w="25400">
            <a:solidFill>
              <a:schemeClr val="dk2"/>
            </a:solidFill>
            <a:prstDash val="solid"/>
            <a:miter lim="800000"/>
            <a:headEnd len="sm" w="sm" type="none"/>
            <a:tailEnd len="sm" w="sm" type="none"/>
          </a:ln>
        </p:spPr>
      </p:cxn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33" name="Shape 133"/>
        <p:cNvGrpSpPr/>
        <p:nvPr/>
      </p:nvGrpSpPr>
      <p:grpSpPr>
        <a:xfrm>
          <a:off x="0" y="0"/>
          <a:ext cx="0" cy="0"/>
          <a:chOff x="0" y="0"/>
          <a:chExt cx="0" cy="0"/>
        </a:xfrm>
      </p:grpSpPr>
      <p:sp>
        <p:nvSpPr>
          <p:cNvPr id="134" name="Google Shape;134;p2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5" name="Google Shape;135;p2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6" name="Google Shape;136;p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37" name="Shape 137"/>
        <p:cNvGrpSpPr/>
        <p:nvPr/>
      </p:nvGrpSpPr>
      <p:grpSpPr>
        <a:xfrm>
          <a:off x="0" y="0"/>
          <a:ext cx="0" cy="0"/>
          <a:chOff x="0" y="0"/>
          <a:chExt cx="0" cy="0"/>
        </a:xfrm>
      </p:grpSpPr>
      <p:sp>
        <p:nvSpPr>
          <p:cNvPr id="138" name="Google Shape;138;p2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9" name="Google Shape;139;p2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40" name="Google Shape;140;p2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1" name="Google Shape;141;p2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2" name="Google Shape;142;p2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43" name="Shape 143"/>
        <p:cNvGrpSpPr/>
        <p:nvPr/>
      </p:nvGrpSpPr>
      <p:grpSpPr>
        <a:xfrm>
          <a:off x="0" y="0"/>
          <a:ext cx="0" cy="0"/>
          <a:chOff x="0" y="0"/>
          <a:chExt cx="0" cy="0"/>
        </a:xfrm>
      </p:grpSpPr>
      <p:sp>
        <p:nvSpPr>
          <p:cNvPr id="144" name="Google Shape;144;p2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5" name="Google Shape;145;p2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46" name="Google Shape;146;p2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7" name="Google Shape;147;p2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8" name="Google Shape;148;p2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49" name="Shape 149"/>
        <p:cNvGrpSpPr/>
        <p:nvPr/>
      </p:nvGrpSpPr>
      <p:grpSpPr>
        <a:xfrm>
          <a:off x="0" y="0"/>
          <a:ext cx="0" cy="0"/>
          <a:chOff x="0" y="0"/>
          <a:chExt cx="0" cy="0"/>
        </a:xfrm>
      </p:grpSpPr>
      <p:sp>
        <p:nvSpPr>
          <p:cNvPr id="150" name="Google Shape;150;p2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1" name="Google Shape;151;p2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152" name="Google Shape;152;p2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3" name="Google Shape;153;p2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4" name="Google Shape;154;p2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55" name="Shape 155"/>
        <p:cNvGrpSpPr/>
        <p:nvPr/>
      </p:nvGrpSpPr>
      <p:grpSpPr>
        <a:xfrm>
          <a:off x="0" y="0"/>
          <a:ext cx="0" cy="0"/>
          <a:chOff x="0" y="0"/>
          <a:chExt cx="0" cy="0"/>
        </a:xfrm>
      </p:grpSpPr>
      <p:sp>
        <p:nvSpPr>
          <p:cNvPr id="156" name="Google Shape;156;p2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7" name="Google Shape;157;p2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158" name="Google Shape;158;p2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159" name="Google Shape;159;p2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0" name="Google Shape;160;p2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1" name="Google Shape;161;p2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62" name="Shape 162"/>
        <p:cNvGrpSpPr/>
        <p:nvPr/>
      </p:nvGrpSpPr>
      <p:grpSpPr>
        <a:xfrm>
          <a:off x="0" y="0"/>
          <a:ext cx="0" cy="0"/>
          <a:chOff x="0" y="0"/>
          <a:chExt cx="0" cy="0"/>
        </a:xfrm>
      </p:grpSpPr>
      <p:sp>
        <p:nvSpPr>
          <p:cNvPr id="163" name="Google Shape;163;p2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4" name="Google Shape;164;p2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165" name="Google Shape;165;p2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166" name="Google Shape;166;p2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167" name="Google Shape;167;p2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168" name="Google Shape;168;p2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9" name="Google Shape;169;p2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0" name="Google Shape;170;p2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71" name="Shape 171"/>
        <p:cNvGrpSpPr/>
        <p:nvPr/>
      </p:nvGrpSpPr>
      <p:grpSpPr>
        <a:xfrm>
          <a:off x="0" y="0"/>
          <a:ext cx="0" cy="0"/>
          <a:chOff x="0" y="0"/>
          <a:chExt cx="0" cy="0"/>
        </a:xfrm>
      </p:grpSpPr>
      <p:sp>
        <p:nvSpPr>
          <p:cNvPr id="172" name="Google Shape;172;p2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3" name="Google Shape;173;p2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4" name="Google Shape;174;p2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5" name="Google Shape;175;p2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76" name="Shape 176"/>
        <p:cNvGrpSpPr/>
        <p:nvPr/>
      </p:nvGrpSpPr>
      <p:grpSpPr>
        <a:xfrm>
          <a:off x="0" y="0"/>
          <a:ext cx="0" cy="0"/>
          <a:chOff x="0" y="0"/>
          <a:chExt cx="0" cy="0"/>
        </a:xfrm>
      </p:grpSpPr>
      <p:sp>
        <p:nvSpPr>
          <p:cNvPr id="177" name="Google Shape;177;p2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8" name="Google Shape;178;p2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179" name="Google Shape;179;p2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180" name="Google Shape;180;p2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1" name="Google Shape;181;p2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2" name="Google Shape;182;p2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83" name="Shape 183"/>
        <p:cNvGrpSpPr/>
        <p:nvPr/>
      </p:nvGrpSpPr>
      <p:grpSpPr>
        <a:xfrm>
          <a:off x="0" y="0"/>
          <a:ext cx="0" cy="0"/>
          <a:chOff x="0" y="0"/>
          <a:chExt cx="0" cy="0"/>
        </a:xfrm>
      </p:grpSpPr>
      <p:sp>
        <p:nvSpPr>
          <p:cNvPr id="184" name="Google Shape;184;p3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5" name="Google Shape;185;p30"/>
          <p:cNvSpPr/>
          <p:nvPr>
            <p:ph idx="2" type="pic"/>
          </p:nvPr>
        </p:nvSpPr>
        <p:spPr>
          <a:xfrm>
            <a:off x="1792288" y="612775"/>
            <a:ext cx="5486400" cy="4114800"/>
          </a:xfrm>
          <a:prstGeom prst="rect">
            <a:avLst/>
          </a:prstGeom>
          <a:noFill/>
          <a:ln>
            <a:noFill/>
          </a:ln>
        </p:spPr>
      </p:sp>
      <p:sp>
        <p:nvSpPr>
          <p:cNvPr id="186" name="Google Shape;186;p3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187" name="Google Shape;187;p3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8" name="Google Shape;188;p3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9" name="Google Shape;189;p3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90" name="Shape 190"/>
        <p:cNvGrpSpPr/>
        <p:nvPr/>
      </p:nvGrpSpPr>
      <p:grpSpPr>
        <a:xfrm>
          <a:off x="0" y="0"/>
          <a:ext cx="0" cy="0"/>
          <a:chOff x="0" y="0"/>
          <a:chExt cx="0" cy="0"/>
        </a:xfrm>
      </p:grpSpPr>
      <p:sp>
        <p:nvSpPr>
          <p:cNvPr id="191" name="Google Shape;191;p3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2" name="Google Shape;192;p3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93" name="Google Shape;193;p3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4" name="Google Shape;194;p3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5" name="Google Shape;195;p3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96" name="Shape 196"/>
        <p:cNvGrpSpPr/>
        <p:nvPr/>
      </p:nvGrpSpPr>
      <p:grpSpPr>
        <a:xfrm>
          <a:off x="0" y="0"/>
          <a:ext cx="0" cy="0"/>
          <a:chOff x="0" y="0"/>
          <a:chExt cx="0" cy="0"/>
        </a:xfrm>
      </p:grpSpPr>
      <p:sp>
        <p:nvSpPr>
          <p:cNvPr id="197" name="Google Shape;197;p3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8" name="Google Shape;198;p3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99" name="Google Shape;199;p3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0" name="Google Shape;200;p3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1" name="Google Shape;201;p3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slideLayout" Target="../slideLayouts/slideLayout19.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30.xml"/><Relationship Id="rId10" Type="http://schemas.openxmlformats.org/officeDocument/2006/relationships/slideLayout" Target="../slideLayouts/slideLayout29.xml"/><Relationship Id="rId12" Type="http://schemas.openxmlformats.org/officeDocument/2006/relationships/theme" Target="../theme/theme2.xml"/><Relationship Id="rId1" Type="http://schemas.openxmlformats.org/officeDocument/2006/relationships/slideLayout" Target="../slideLayouts/slideLayout20.xml"/><Relationship Id="rId2" Type="http://schemas.openxmlformats.org/officeDocument/2006/relationships/slideLayout" Target="../slideLayouts/slideLayout21.xml"/><Relationship Id="rId3" Type="http://schemas.openxmlformats.org/officeDocument/2006/relationships/slideLayout" Target="../slideLayouts/slideLayout22.xml"/><Relationship Id="rId4" Type="http://schemas.openxmlformats.org/officeDocument/2006/relationships/slideLayout" Target="../slideLayouts/slideLayout23.xml"/><Relationship Id="rId9" Type="http://schemas.openxmlformats.org/officeDocument/2006/relationships/slideLayout" Target="../slideLayouts/slideLayout28.xml"/><Relationship Id="rId5" Type="http://schemas.openxmlformats.org/officeDocument/2006/relationships/slideLayout" Target="../slideLayouts/slideLayout24.xml"/><Relationship Id="rId6" Type="http://schemas.openxmlformats.org/officeDocument/2006/relationships/slideLayout" Target="../slideLayouts/slideLayout25.xml"/><Relationship Id="rId7" Type="http://schemas.openxmlformats.org/officeDocument/2006/relationships/slideLayout" Target="../slideLayouts/slideLayout26.xml"/><Relationship Id="rId8"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692150" y="414338"/>
            <a:ext cx="8674100" cy="1501775"/>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Play"/>
              <a:buNone/>
              <a:defRPr b="0" i="0" sz="4400" u="none" cap="none" strike="noStrike">
                <a:solidFill>
                  <a:schemeClr val="dk1"/>
                </a:solidFill>
                <a:latin typeface="Play"/>
                <a:ea typeface="Play"/>
                <a:cs typeface="Play"/>
                <a:sym typeface="Pla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p:nvPr>
            <p:ph idx="1" type="body"/>
          </p:nvPr>
        </p:nvSpPr>
        <p:spPr>
          <a:xfrm>
            <a:off x="692150" y="2068513"/>
            <a:ext cx="8674100" cy="4932362"/>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2" name="Google Shape;12;p1"/>
          <p:cNvSpPr txBox="1"/>
          <p:nvPr>
            <p:ph idx="10" type="dt"/>
          </p:nvPr>
        </p:nvSpPr>
        <p:spPr>
          <a:xfrm>
            <a:off x="692150" y="7204075"/>
            <a:ext cx="2262188" cy="41433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sz="1200">
                <a:solidFill>
                  <a:srgbClr val="757575"/>
                </a:solidFil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3" name="Google Shape;13;p1"/>
          <p:cNvSpPr txBox="1"/>
          <p:nvPr>
            <p:ph idx="11" type="ftr"/>
          </p:nvPr>
        </p:nvSpPr>
        <p:spPr>
          <a:xfrm>
            <a:off x="3332163" y="7204075"/>
            <a:ext cx="3394075" cy="414338"/>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sz="1200">
                <a:solidFill>
                  <a:srgbClr val="757575"/>
                </a:solidFil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4" name="Google Shape;14;p1"/>
          <p:cNvSpPr txBox="1"/>
          <p:nvPr>
            <p:ph idx="12" type="sldNum"/>
          </p:nvPr>
        </p:nvSpPr>
        <p:spPr>
          <a:xfrm>
            <a:off x="7104063" y="7204075"/>
            <a:ext cx="2262187" cy="414338"/>
          </a:xfrm>
          <a:prstGeom prst="rect">
            <a:avLst/>
          </a:prstGeom>
          <a:noFill/>
          <a:ln>
            <a:noFill/>
          </a:ln>
        </p:spPr>
        <p:txBody>
          <a:bodyPr anchorCtr="0" anchor="ctr" bIns="45700" lIns="91425" spcFirstLastPara="1" rIns="91425" wrap="square" tIns="45700">
            <a:noAutofit/>
          </a:bodyPr>
          <a:lstStyle>
            <a:lvl1pPr indent="0" lvl="0" algn="r">
              <a:spcBef>
                <a:spcPts val="0"/>
              </a:spcBef>
              <a:buNone/>
              <a:defRPr sz="1200">
                <a:solidFill>
                  <a:srgbClr val="757575"/>
                </a:solidFill>
              </a:defRPr>
            </a:lvl1pPr>
            <a:lvl2pPr indent="0" lvl="1" algn="r">
              <a:spcBef>
                <a:spcPts val="0"/>
              </a:spcBef>
              <a:buNone/>
              <a:defRPr sz="1200">
                <a:solidFill>
                  <a:srgbClr val="757575"/>
                </a:solidFill>
              </a:defRPr>
            </a:lvl2pPr>
            <a:lvl3pPr indent="0" lvl="2" algn="r">
              <a:spcBef>
                <a:spcPts val="0"/>
              </a:spcBef>
              <a:buNone/>
              <a:defRPr sz="1200">
                <a:solidFill>
                  <a:srgbClr val="757575"/>
                </a:solidFill>
              </a:defRPr>
            </a:lvl3pPr>
            <a:lvl4pPr indent="0" lvl="3" algn="r">
              <a:spcBef>
                <a:spcPts val="0"/>
              </a:spcBef>
              <a:buNone/>
              <a:defRPr sz="1200">
                <a:solidFill>
                  <a:srgbClr val="757575"/>
                </a:solidFill>
              </a:defRPr>
            </a:lvl4pPr>
            <a:lvl5pPr indent="0" lvl="4" algn="r">
              <a:spcBef>
                <a:spcPts val="0"/>
              </a:spcBef>
              <a:buNone/>
              <a:defRPr sz="1200">
                <a:solidFill>
                  <a:srgbClr val="757575"/>
                </a:solidFill>
              </a:defRPr>
            </a:lvl5pPr>
            <a:lvl6pPr indent="0" lvl="5" algn="r">
              <a:spcBef>
                <a:spcPts val="0"/>
              </a:spcBef>
              <a:buNone/>
              <a:defRPr sz="1200">
                <a:solidFill>
                  <a:srgbClr val="757575"/>
                </a:solidFill>
              </a:defRPr>
            </a:lvl6pPr>
            <a:lvl7pPr indent="0" lvl="6" algn="r">
              <a:spcBef>
                <a:spcPts val="0"/>
              </a:spcBef>
              <a:buNone/>
              <a:defRPr sz="1200">
                <a:solidFill>
                  <a:srgbClr val="757575"/>
                </a:solidFill>
              </a:defRPr>
            </a:lvl7pPr>
            <a:lvl8pPr indent="0" lvl="7" algn="r">
              <a:spcBef>
                <a:spcPts val="0"/>
              </a:spcBef>
              <a:buNone/>
              <a:defRPr sz="1200">
                <a:solidFill>
                  <a:srgbClr val="757575"/>
                </a:solidFill>
              </a:defRPr>
            </a:lvl8pPr>
            <a:lvl9pPr indent="0" lvl="8" algn="r">
              <a:spcBef>
                <a:spcPts val="0"/>
              </a:spcBef>
              <a:buNone/>
              <a:defRPr sz="1200">
                <a:solidFill>
                  <a:srgbClr val="757575"/>
                </a:solidFil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27" name="Shape 127"/>
        <p:cNvGrpSpPr/>
        <p:nvPr/>
      </p:nvGrpSpPr>
      <p:grpSpPr>
        <a:xfrm>
          <a:off x="0" y="0"/>
          <a:ext cx="0" cy="0"/>
          <a:chOff x="0" y="0"/>
          <a:chExt cx="0" cy="0"/>
        </a:xfrm>
      </p:grpSpPr>
      <p:sp>
        <p:nvSpPr>
          <p:cNvPr id="128" name="Google Shape;128;p2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29" name="Google Shape;129;p2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30" name="Google Shape;130;p2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1" name="Google Shape;131;p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2" name="Google Shape;132;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67" r:id="rId1"/>
    <p:sldLayoutId id="2147483668" r:id="rId2"/>
    <p:sldLayoutId id="2147483669" r:id="rId3"/>
    <p:sldLayoutId id="2147483670" r:id="rId4"/>
    <p:sldLayoutId id="2147483671" r:id="rId5"/>
    <p:sldLayoutId id="2147483672" r:id="rId6"/>
    <p:sldLayoutId id="2147483673" r:id="rId7"/>
    <p:sldLayoutId id="2147483674" r:id="rId8"/>
    <p:sldLayoutId id="2147483675" r:id="rId9"/>
    <p:sldLayoutId id="2147483676" r:id="rId10"/>
    <p:sldLayoutId id="2147483677"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4.xml"/><Relationship Id="rId3"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6.xml"/><Relationship Id="rId3"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9.xml"/><Relationship Id="rId3"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11.xml"/><Relationship Id="rId3"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12.xml"/><Relationship Id="rId3"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13.xml"/><Relationship Id="rId3"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33"/>
          <p:cNvSpPr/>
          <p:nvPr/>
        </p:nvSpPr>
        <p:spPr>
          <a:xfrm>
            <a:off x="0" y="0"/>
            <a:ext cx="10058400" cy="7772400"/>
          </a:xfrm>
          <a:prstGeom prst="rect">
            <a:avLst/>
          </a:prstGeom>
          <a:solidFill>
            <a:srgbClr val="0E2841"/>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07" name="Google Shape;207;p33"/>
          <p:cNvSpPr/>
          <p:nvPr/>
        </p:nvSpPr>
        <p:spPr>
          <a:xfrm>
            <a:off x="0" y="2331720"/>
            <a:ext cx="10058400" cy="54864"/>
          </a:xfrm>
          <a:prstGeom prst="rect">
            <a:avLst/>
          </a:prstGeom>
          <a:solidFill>
            <a:srgbClr val="156082"/>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08" name="Google Shape;208;p33"/>
          <p:cNvSpPr txBox="1"/>
          <p:nvPr/>
        </p:nvSpPr>
        <p:spPr>
          <a:xfrm>
            <a:off x="548640" y="1659969"/>
            <a:ext cx="8961120" cy="246221"/>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0" i="0" lang="en-US" sz="1600" u="none" cap="none" strike="noStrike">
                <a:solidFill>
                  <a:srgbClr val="4E9CC4"/>
                </a:solidFill>
                <a:latin typeface="Calibri"/>
                <a:ea typeface="Calibri"/>
                <a:cs typeface="Calibri"/>
                <a:sym typeface="Calibri"/>
              </a:rPr>
              <a:t>CDS-492 Capstone in Data Science  ·  Oral Presentation  ·  Spring 2026</a:t>
            </a:r>
            <a:endParaRPr/>
          </a:p>
        </p:txBody>
      </p:sp>
      <p:sp>
        <p:nvSpPr>
          <p:cNvPr id="209" name="Google Shape;209;p33"/>
          <p:cNvSpPr txBox="1"/>
          <p:nvPr/>
        </p:nvSpPr>
        <p:spPr>
          <a:xfrm>
            <a:off x="548640" y="2788920"/>
            <a:ext cx="8961120" cy="146304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i="0" lang="en-US" sz="4200" u="none" cap="none" strike="noStrike">
                <a:solidFill>
                  <a:srgbClr val="FFFFFF"/>
                </a:solidFill>
                <a:latin typeface="Calibri"/>
                <a:ea typeface="Calibri"/>
                <a:cs typeface="Calibri"/>
                <a:sym typeface="Calibri"/>
              </a:rPr>
              <a:t>Identifying Undiagnosed Type 2 Diabetics</a:t>
            </a:r>
            <a:endParaRPr/>
          </a:p>
        </p:txBody>
      </p:sp>
      <p:sp>
        <p:nvSpPr>
          <p:cNvPr id="210" name="Google Shape;210;p33"/>
          <p:cNvSpPr txBox="1"/>
          <p:nvPr/>
        </p:nvSpPr>
        <p:spPr>
          <a:xfrm>
            <a:off x="548640" y="4160520"/>
            <a:ext cx="8961120" cy="82296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0" i="0" lang="en-US" sz="2200" u="none" cap="none" strike="noStrike">
                <a:solidFill>
                  <a:srgbClr val="FFFFFF"/>
                </a:solidFill>
                <a:latin typeface="Calibri"/>
                <a:ea typeface="Calibri"/>
                <a:cs typeface="Calibri"/>
                <a:sym typeface="Calibri"/>
              </a:rPr>
              <a:t>with CatBoost Modeling on One Million Korean Health Checkup Records</a:t>
            </a:r>
            <a:endParaRPr/>
          </a:p>
        </p:txBody>
      </p:sp>
      <p:sp>
        <p:nvSpPr>
          <p:cNvPr id="211" name="Google Shape;211;p33"/>
          <p:cNvSpPr txBox="1"/>
          <p:nvPr/>
        </p:nvSpPr>
        <p:spPr>
          <a:xfrm>
            <a:off x="548640" y="5440680"/>
            <a:ext cx="8961120" cy="4572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0" i="0" lang="en-US" sz="1800" u="none" cap="none" strike="noStrike">
                <a:solidFill>
                  <a:srgbClr val="FFFFFF"/>
                </a:solidFill>
                <a:latin typeface="Calibri"/>
                <a:ea typeface="Calibri"/>
                <a:cs typeface="Calibri"/>
                <a:sym typeface="Calibri"/>
              </a:rPr>
              <a:t>Tyson Johnson  ·  Alizeh Murtaza  ·  Nithila Neethi Devan  ·  Tariq Abdulhak</a:t>
            </a:r>
            <a:endParaRPr/>
          </a:p>
        </p:txBody>
      </p:sp>
      <p:sp>
        <p:nvSpPr>
          <p:cNvPr id="212" name="Google Shape;212;p33"/>
          <p:cNvSpPr txBox="1"/>
          <p:nvPr/>
        </p:nvSpPr>
        <p:spPr>
          <a:xfrm>
            <a:off x="548640" y="5897880"/>
            <a:ext cx="8961120" cy="4572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0" i="0" lang="en-US" sz="1500" u="none" cap="none" strike="noStrike">
                <a:solidFill>
                  <a:srgbClr val="4E9CC4"/>
                </a:solidFill>
                <a:latin typeface="Calibri"/>
                <a:ea typeface="Calibri"/>
                <a:cs typeface="Calibri"/>
                <a:sym typeface="Calibri"/>
              </a:rPr>
              <a:t>Faculty Advisor: Dr. Mohamed Adel Slamani</a:t>
            </a:r>
            <a:endParaRPr/>
          </a:p>
        </p:txBody>
      </p:sp>
      <p:sp>
        <p:nvSpPr>
          <p:cNvPr id="213" name="Google Shape;213;p33"/>
          <p:cNvSpPr/>
          <p:nvPr/>
        </p:nvSpPr>
        <p:spPr>
          <a:xfrm>
            <a:off x="0" y="6766560"/>
            <a:ext cx="10058400" cy="36576"/>
          </a:xfrm>
          <a:prstGeom prst="rect">
            <a:avLst/>
          </a:prstGeom>
          <a:solidFill>
            <a:srgbClr val="156082"/>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14" name="Google Shape;214;p33"/>
          <p:cNvSpPr txBox="1"/>
          <p:nvPr/>
        </p:nvSpPr>
        <p:spPr>
          <a:xfrm>
            <a:off x="548640" y="6903720"/>
            <a:ext cx="8961120" cy="36576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400" u="none" cap="none" strike="noStrike">
                <a:solidFill>
                  <a:srgbClr val="FFFFFF"/>
                </a:solidFill>
                <a:latin typeface="Calibri"/>
                <a:ea typeface="Calibri"/>
                <a:cs typeface="Calibri"/>
                <a:sym typeface="Calibri"/>
              </a:rPr>
              <a:t>George Mason University  ·  College of Science  ·  Team 3c</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34"/>
          <p:cNvSpPr/>
          <p:nvPr/>
        </p:nvSpPr>
        <p:spPr>
          <a:xfrm>
            <a:off x="0" y="0"/>
            <a:ext cx="10058400" cy="1188720"/>
          </a:xfrm>
          <a:prstGeom prst="rect">
            <a:avLst/>
          </a:prstGeom>
          <a:solidFill>
            <a:srgbClr val="0E2841"/>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20" name="Google Shape;220;p34"/>
          <p:cNvSpPr txBox="1"/>
          <p:nvPr/>
        </p:nvSpPr>
        <p:spPr>
          <a:xfrm>
            <a:off x="527823" y="348633"/>
            <a:ext cx="9144000" cy="6156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4000">
                <a:solidFill>
                  <a:srgbClr val="FFFFFF"/>
                </a:solidFill>
                <a:latin typeface="Calibri"/>
                <a:ea typeface="Calibri"/>
                <a:cs typeface="Calibri"/>
                <a:sym typeface="Calibri"/>
              </a:rPr>
              <a:t>Why Type 2 Diabetes?</a:t>
            </a:r>
            <a:endParaRPr sz="2800"/>
          </a:p>
        </p:txBody>
      </p:sp>
      <p:sp>
        <p:nvSpPr>
          <p:cNvPr id="221" name="Google Shape;221;p34"/>
          <p:cNvSpPr/>
          <p:nvPr/>
        </p:nvSpPr>
        <p:spPr>
          <a:xfrm>
            <a:off x="0" y="1188720"/>
            <a:ext cx="10058400" cy="45720"/>
          </a:xfrm>
          <a:prstGeom prst="rect">
            <a:avLst/>
          </a:prstGeom>
          <a:solidFill>
            <a:srgbClr val="156082"/>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22" name="Google Shape;222;p34"/>
          <p:cNvSpPr/>
          <p:nvPr/>
        </p:nvSpPr>
        <p:spPr>
          <a:xfrm>
            <a:off x="502920" y="1691640"/>
            <a:ext cx="2926080" cy="1417320"/>
          </a:xfrm>
          <a:prstGeom prst="roundRect">
            <a:avLst>
              <a:gd fmla="val 16667" name="adj"/>
            </a:avLst>
          </a:prstGeom>
          <a:solidFill>
            <a:srgbClr val="0E2841"/>
          </a:solidFill>
          <a:ln>
            <a:noFill/>
          </a:ln>
          <a:effectLst>
            <a:outerShdw blurRad="40000" rotWithShape="0" dir="5400000" dist="23000">
              <a:srgbClr val="000000">
                <a:alpha val="34901"/>
              </a:srgbClr>
            </a:outerShdw>
          </a:effectLst>
        </p:spPr>
        <p:txBody>
          <a:bodyPr anchorCtr="0" anchor="ctr" bIns="91425" lIns="182875" spcFirstLastPara="1" rIns="182875" wrap="square" tIns="137150">
            <a:noAutofit/>
          </a:bodyPr>
          <a:lstStyle/>
          <a:p>
            <a:pPr indent="0" lvl="0" marL="0" marR="0" rtl="0" algn="ctr">
              <a:spcBef>
                <a:spcPts val="0"/>
              </a:spcBef>
              <a:spcAft>
                <a:spcPts val="0"/>
              </a:spcAft>
              <a:buNone/>
            </a:pPr>
            <a:r>
              <a:rPr b="1" i="0" lang="en-US" sz="4000" u="none" cap="none" strike="noStrike">
                <a:solidFill>
                  <a:srgbClr val="FFFFFF"/>
                </a:solidFill>
                <a:latin typeface="Calibri"/>
                <a:ea typeface="Calibri"/>
                <a:cs typeface="Calibri"/>
                <a:sym typeface="Calibri"/>
              </a:rPr>
              <a:t>537 M</a:t>
            </a:r>
            <a:endParaRPr/>
          </a:p>
          <a:p>
            <a:pPr indent="0" lvl="0" marL="0" marR="0" rtl="0" algn="ctr">
              <a:spcBef>
                <a:spcPts val="0"/>
              </a:spcBef>
              <a:spcAft>
                <a:spcPts val="0"/>
              </a:spcAft>
              <a:buNone/>
            </a:pPr>
            <a:r>
              <a:rPr b="0" i="0" lang="en-US" sz="1300" u="none" cap="none" strike="noStrike">
                <a:solidFill>
                  <a:srgbClr val="4E9CC4"/>
                </a:solidFill>
                <a:latin typeface="Calibri"/>
                <a:ea typeface="Calibri"/>
                <a:cs typeface="Calibri"/>
                <a:sym typeface="Calibri"/>
              </a:rPr>
              <a:t>adults living with diabetes (IDF, 2022)</a:t>
            </a:r>
            <a:endParaRPr/>
          </a:p>
        </p:txBody>
      </p:sp>
      <p:sp>
        <p:nvSpPr>
          <p:cNvPr id="223" name="Google Shape;223;p34"/>
          <p:cNvSpPr/>
          <p:nvPr/>
        </p:nvSpPr>
        <p:spPr>
          <a:xfrm>
            <a:off x="3566160" y="1691640"/>
            <a:ext cx="2926080" cy="1417320"/>
          </a:xfrm>
          <a:prstGeom prst="roundRect">
            <a:avLst>
              <a:gd fmla="val 16667" name="adj"/>
            </a:avLst>
          </a:prstGeom>
          <a:solidFill>
            <a:srgbClr val="0E2841"/>
          </a:solidFill>
          <a:ln>
            <a:noFill/>
          </a:ln>
          <a:effectLst>
            <a:outerShdw blurRad="40000" rotWithShape="0" dir="5400000" dist="23000">
              <a:srgbClr val="000000">
                <a:alpha val="34901"/>
              </a:srgbClr>
            </a:outerShdw>
          </a:effectLst>
        </p:spPr>
        <p:txBody>
          <a:bodyPr anchorCtr="0" anchor="ctr" bIns="91425" lIns="182875" spcFirstLastPara="1" rIns="182875" wrap="square" tIns="137150">
            <a:noAutofit/>
          </a:bodyPr>
          <a:lstStyle/>
          <a:p>
            <a:pPr indent="0" lvl="0" marL="0" marR="0" rtl="0" algn="ctr">
              <a:spcBef>
                <a:spcPts val="0"/>
              </a:spcBef>
              <a:spcAft>
                <a:spcPts val="0"/>
              </a:spcAft>
              <a:buNone/>
            </a:pPr>
            <a:r>
              <a:rPr b="1" i="0" lang="en-US" sz="4000" u="none" cap="none" strike="noStrike">
                <a:solidFill>
                  <a:srgbClr val="FFFFFF"/>
                </a:solidFill>
                <a:latin typeface="Calibri"/>
                <a:ea typeface="Calibri"/>
                <a:cs typeface="Calibri"/>
                <a:sym typeface="Calibri"/>
              </a:rPr>
              <a:t>44.7 %</a:t>
            </a:r>
            <a:endParaRPr/>
          </a:p>
          <a:p>
            <a:pPr indent="0" lvl="0" marL="0" marR="0" rtl="0" algn="ctr">
              <a:spcBef>
                <a:spcPts val="0"/>
              </a:spcBef>
              <a:spcAft>
                <a:spcPts val="0"/>
              </a:spcAft>
              <a:buNone/>
            </a:pPr>
            <a:r>
              <a:rPr b="0" i="0" lang="en-US" sz="1300" u="none" cap="none" strike="noStrike">
                <a:solidFill>
                  <a:srgbClr val="4E9CC4"/>
                </a:solidFill>
                <a:latin typeface="Calibri"/>
                <a:ea typeface="Calibri"/>
                <a:cs typeface="Calibri"/>
                <a:sym typeface="Calibri"/>
              </a:rPr>
              <a:t>of all cases are undiagnosed</a:t>
            </a:r>
            <a:endParaRPr/>
          </a:p>
        </p:txBody>
      </p:sp>
      <p:sp>
        <p:nvSpPr>
          <p:cNvPr id="224" name="Google Shape;224;p34"/>
          <p:cNvSpPr/>
          <p:nvPr/>
        </p:nvSpPr>
        <p:spPr>
          <a:xfrm>
            <a:off x="6629400" y="1691640"/>
            <a:ext cx="2926080" cy="1417320"/>
          </a:xfrm>
          <a:prstGeom prst="roundRect">
            <a:avLst>
              <a:gd fmla="val 16667" name="adj"/>
            </a:avLst>
          </a:prstGeom>
          <a:solidFill>
            <a:srgbClr val="0E2841"/>
          </a:solidFill>
          <a:ln>
            <a:noFill/>
          </a:ln>
          <a:effectLst>
            <a:outerShdw blurRad="40000" rotWithShape="0" dir="5400000" dist="23000">
              <a:srgbClr val="000000">
                <a:alpha val="34901"/>
              </a:srgbClr>
            </a:outerShdw>
          </a:effectLst>
        </p:spPr>
        <p:txBody>
          <a:bodyPr anchorCtr="0" anchor="ctr" bIns="91425" lIns="182875" spcFirstLastPara="1" rIns="182875" wrap="square" tIns="137150">
            <a:noAutofit/>
          </a:bodyPr>
          <a:lstStyle/>
          <a:p>
            <a:pPr indent="0" lvl="0" marL="0" marR="0" rtl="0" algn="ctr">
              <a:spcBef>
                <a:spcPts val="0"/>
              </a:spcBef>
              <a:spcAft>
                <a:spcPts val="0"/>
              </a:spcAft>
              <a:buNone/>
            </a:pPr>
            <a:r>
              <a:rPr b="1" i="0" lang="en-US" sz="4000" u="none" cap="none" strike="noStrike">
                <a:solidFill>
                  <a:srgbClr val="FFFFFF"/>
                </a:solidFill>
                <a:latin typeface="Calibri"/>
                <a:ea typeface="Calibri"/>
                <a:cs typeface="Calibri"/>
                <a:sym typeface="Calibri"/>
              </a:rPr>
              <a:t>35–70</a:t>
            </a:r>
            <a:endParaRPr/>
          </a:p>
          <a:p>
            <a:pPr indent="0" lvl="0" marL="0" marR="0" rtl="0" algn="ctr">
              <a:spcBef>
                <a:spcPts val="0"/>
              </a:spcBef>
              <a:spcAft>
                <a:spcPts val="0"/>
              </a:spcAft>
              <a:buNone/>
            </a:pPr>
            <a:r>
              <a:rPr b="0" i="0" lang="en-US" sz="1300" u="none" cap="none" strike="noStrike">
                <a:solidFill>
                  <a:srgbClr val="4E9CC4"/>
                </a:solidFill>
                <a:latin typeface="Calibri"/>
                <a:ea typeface="Calibri"/>
                <a:cs typeface="Calibri"/>
                <a:sym typeface="Calibri"/>
              </a:rPr>
              <a:t>the only USPSTF age band screened, BMI-gated</a:t>
            </a:r>
            <a:endParaRPr/>
          </a:p>
        </p:txBody>
      </p:sp>
      <p:sp>
        <p:nvSpPr>
          <p:cNvPr id="225" name="Google Shape;225;p34"/>
          <p:cNvSpPr txBox="1"/>
          <p:nvPr/>
        </p:nvSpPr>
        <p:spPr>
          <a:xfrm>
            <a:off x="502945" y="3312918"/>
            <a:ext cx="9052500" cy="1692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1" lang="en-US" sz="1100" u="none" cap="none" strike="noStrike">
                <a:solidFill>
                  <a:srgbClr val="555555"/>
                </a:solidFill>
                <a:latin typeface="Calibri"/>
                <a:ea typeface="Calibri"/>
                <a:cs typeface="Calibri"/>
                <a:sym typeface="Calibri"/>
              </a:rPr>
              <a:t>Figure 1. Global burden of T2D and the narrow band currently covered by U.S. screening guidance.</a:t>
            </a:r>
            <a:endParaRPr/>
          </a:p>
        </p:txBody>
      </p:sp>
      <p:sp>
        <p:nvSpPr>
          <p:cNvPr id="226" name="Google Shape;226;p34"/>
          <p:cNvSpPr/>
          <p:nvPr/>
        </p:nvSpPr>
        <p:spPr>
          <a:xfrm>
            <a:off x="777240" y="3840480"/>
            <a:ext cx="2743200" cy="502920"/>
          </a:xfrm>
          <a:prstGeom prst="rect">
            <a:avLst/>
          </a:prstGeom>
          <a:solidFill>
            <a:srgbClr val="0E2841"/>
          </a:solidFill>
          <a:ln cap="flat" cmpd="sng" w="9525">
            <a:solidFill>
              <a:srgbClr val="0E2841"/>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91425" spcFirstLastPara="1" rIns="91425" wrap="square" tIns="0">
            <a:noAutofit/>
          </a:bodyPr>
          <a:lstStyle/>
          <a:p>
            <a:pPr indent="0" lvl="0" marL="0" marR="0" rtl="0" algn="l">
              <a:spcBef>
                <a:spcPts val="0"/>
              </a:spcBef>
              <a:spcAft>
                <a:spcPts val="0"/>
              </a:spcAft>
              <a:buNone/>
            </a:pPr>
            <a:r>
              <a:rPr b="1" i="0" lang="en-US" sz="1300" u="none" cap="none" strike="noStrike">
                <a:solidFill>
                  <a:srgbClr val="FFFFFF"/>
                </a:solidFill>
                <a:latin typeface="Calibri"/>
                <a:ea typeface="Calibri"/>
                <a:cs typeface="Calibri"/>
                <a:sym typeface="Calibri"/>
              </a:rPr>
              <a:t>Current screening tool</a:t>
            </a:r>
            <a:endParaRPr/>
          </a:p>
        </p:txBody>
      </p:sp>
      <p:sp>
        <p:nvSpPr>
          <p:cNvPr id="227" name="Google Shape;227;p34"/>
          <p:cNvSpPr/>
          <p:nvPr/>
        </p:nvSpPr>
        <p:spPr>
          <a:xfrm>
            <a:off x="3520440" y="3840480"/>
            <a:ext cx="2194560" cy="502920"/>
          </a:xfrm>
          <a:prstGeom prst="rect">
            <a:avLst/>
          </a:prstGeom>
          <a:solidFill>
            <a:srgbClr val="0E2841"/>
          </a:solidFill>
          <a:ln cap="flat" cmpd="sng" w="9525">
            <a:solidFill>
              <a:srgbClr val="0E2841"/>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91425" spcFirstLastPara="1" rIns="91425" wrap="square" tIns="0">
            <a:noAutofit/>
          </a:bodyPr>
          <a:lstStyle/>
          <a:p>
            <a:pPr indent="0" lvl="0" marL="0" marR="0" rtl="0" algn="l">
              <a:spcBef>
                <a:spcPts val="0"/>
              </a:spcBef>
              <a:spcAft>
                <a:spcPts val="0"/>
              </a:spcAft>
              <a:buNone/>
            </a:pPr>
            <a:r>
              <a:rPr b="1" i="0" lang="en-US" sz="1300" u="none" cap="none" strike="noStrike">
                <a:solidFill>
                  <a:srgbClr val="FFFFFF"/>
                </a:solidFill>
                <a:latin typeface="Calibri"/>
                <a:ea typeface="Calibri"/>
                <a:cs typeface="Calibri"/>
                <a:sym typeface="Calibri"/>
              </a:rPr>
              <a:t>Type</a:t>
            </a:r>
            <a:endParaRPr/>
          </a:p>
        </p:txBody>
      </p:sp>
      <p:sp>
        <p:nvSpPr>
          <p:cNvPr id="228" name="Google Shape;228;p34"/>
          <p:cNvSpPr/>
          <p:nvPr/>
        </p:nvSpPr>
        <p:spPr>
          <a:xfrm>
            <a:off x="5715000" y="3840480"/>
            <a:ext cx="4023360" cy="502920"/>
          </a:xfrm>
          <a:prstGeom prst="rect">
            <a:avLst/>
          </a:prstGeom>
          <a:solidFill>
            <a:srgbClr val="0E2841"/>
          </a:solidFill>
          <a:ln cap="flat" cmpd="sng" w="9525">
            <a:solidFill>
              <a:srgbClr val="0E2841"/>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91425" spcFirstLastPara="1" rIns="91425" wrap="square" tIns="0">
            <a:noAutofit/>
          </a:bodyPr>
          <a:lstStyle/>
          <a:p>
            <a:pPr indent="0" lvl="0" marL="0" marR="0" rtl="0" algn="l">
              <a:spcBef>
                <a:spcPts val="0"/>
              </a:spcBef>
              <a:spcAft>
                <a:spcPts val="0"/>
              </a:spcAft>
              <a:buNone/>
            </a:pPr>
            <a:r>
              <a:rPr b="1" i="0" lang="en-US" sz="1300" u="none" cap="none" strike="noStrike">
                <a:solidFill>
                  <a:srgbClr val="FFFFFF"/>
                </a:solidFill>
                <a:latin typeface="Calibri"/>
                <a:ea typeface="Calibri"/>
                <a:cs typeface="Calibri"/>
                <a:sym typeface="Calibri"/>
              </a:rPr>
              <a:t>What it misses</a:t>
            </a:r>
            <a:endParaRPr/>
          </a:p>
        </p:txBody>
      </p:sp>
      <p:sp>
        <p:nvSpPr>
          <p:cNvPr id="229" name="Google Shape;229;p34"/>
          <p:cNvSpPr/>
          <p:nvPr/>
        </p:nvSpPr>
        <p:spPr>
          <a:xfrm>
            <a:off x="777240" y="4343400"/>
            <a:ext cx="2743200" cy="502920"/>
          </a:xfrm>
          <a:prstGeom prst="rect">
            <a:avLst/>
          </a:prstGeom>
          <a:solidFill>
            <a:srgbClr val="FFFFFF"/>
          </a:solidFill>
          <a:ln cap="flat" cmpd="sng" w="9525">
            <a:solidFill>
              <a:srgbClr val="CDD4D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91425" spcFirstLastPara="1" rIns="91425" wrap="square" tIns="0">
            <a:noAutofit/>
          </a:bodyPr>
          <a:lstStyle/>
          <a:p>
            <a:pPr indent="0" lvl="0" marL="0" marR="0" rtl="0" algn="l">
              <a:spcBef>
                <a:spcPts val="0"/>
              </a:spcBef>
              <a:spcAft>
                <a:spcPts val="0"/>
              </a:spcAft>
              <a:buNone/>
            </a:pPr>
            <a:r>
              <a:rPr b="0" i="0" lang="en-US" sz="1300" u="none" cap="none" strike="noStrike">
                <a:solidFill>
                  <a:srgbClr val="101010"/>
                </a:solidFill>
                <a:latin typeface="Calibri"/>
                <a:ea typeface="Calibri"/>
                <a:cs typeface="Calibri"/>
                <a:sym typeface="Calibri"/>
              </a:rPr>
              <a:t>USPSTF 2021 guideline</a:t>
            </a:r>
            <a:endParaRPr/>
          </a:p>
        </p:txBody>
      </p:sp>
      <p:sp>
        <p:nvSpPr>
          <p:cNvPr id="230" name="Google Shape;230;p34"/>
          <p:cNvSpPr/>
          <p:nvPr/>
        </p:nvSpPr>
        <p:spPr>
          <a:xfrm>
            <a:off x="3520440" y="4343400"/>
            <a:ext cx="2194560" cy="502920"/>
          </a:xfrm>
          <a:prstGeom prst="rect">
            <a:avLst/>
          </a:prstGeom>
          <a:solidFill>
            <a:srgbClr val="FFFFFF"/>
          </a:solidFill>
          <a:ln cap="flat" cmpd="sng" w="9525">
            <a:solidFill>
              <a:srgbClr val="CDD4D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91425" spcFirstLastPara="1" rIns="91425" wrap="square" tIns="0">
            <a:noAutofit/>
          </a:bodyPr>
          <a:lstStyle/>
          <a:p>
            <a:pPr indent="0" lvl="0" marL="0" marR="0" rtl="0" algn="l">
              <a:spcBef>
                <a:spcPts val="0"/>
              </a:spcBef>
              <a:spcAft>
                <a:spcPts val="0"/>
              </a:spcAft>
              <a:buNone/>
            </a:pPr>
            <a:r>
              <a:rPr b="0" i="0" lang="en-US" sz="1300" u="none" cap="none" strike="noStrike">
                <a:solidFill>
                  <a:srgbClr val="101010"/>
                </a:solidFill>
                <a:latin typeface="Calibri"/>
                <a:ea typeface="Calibri"/>
                <a:cs typeface="Calibri"/>
                <a:sym typeface="Calibri"/>
              </a:rPr>
              <a:t>BMI + age trigger</a:t>
            </a:r>
            <a:endParaRPr/>
          </a:p>
        </p:txBody>
      </p:sp>
      <p:sp>
        <p:nvSpPr>
          <p:cNvPr id="231" name="Google Shape;231;p34"/>
          <p:cNvSpPr/>
          <p:nvPr/>
        </p:nvSpPr>
        <p:spPr>
          <a:xfrm>
            <a:off x="5715000" y="4343400"/>
            <a:ext cx="4023360" cy="502920"/>
          </a:xfrm>
          <a:prstGeom prst="rect">
            <a:avLst/>
          </a:prstGeom>
          <a:solidFill>
            <a:srgbClr val="FFFFFF"/>
          </a:solidFill>
          <a:ln cap="flat" cmpd="sng" w="9525">
            <a:solidFill>
              <a:srgbClr val="CDD4D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91425" spcFirstLastPara="1" rIns="91425" wrap="square" tIns="0">
            <a:noAutofit/>
          </a:bodyPr>
          <a:lstStyle/>
          <a:p>
            <a:pPr indent="0" lvl="0" marL="0" marR="0" rtl="0" algn="l">
              <a:spcBef>
                <a:spcPts val="0"/>
              </a:spcBef>
              <a:spcAft>
                <a:spcPts val="0"/>
              </a:spcAft>
              <a:buNone/>
            </a:pPr>
            <a:r>
              <a:rPr b="0" i="0" lang="en-US" sz="1300" u="none" cap="none" strike="noStrike">
                <a:solidFill>
                  <a:srgbClr val="101010"/>
                </a:solidFill>
                <a:latin typeface="Calibri"/>
                <a:ea typeface="Calibri"/>
                <a:cs typeface="Calibri"/>
                <a:sym typeface="Calibri"/>
              </a:rPr>
              <a:t>Metabolically unhealthy normal-weight patients</a:t>
            </a:r>
            <a:endParaRPr/>
          </a:p>
        </p:txBody>
      </p:sp>
      <p:sp>
        <p:nvSpPr>
          <p:cNvPr id="232" name="Google Shape;232;p34"/>
          <p:cNvSpPr/>
          <p:nvPr/>
        </p:nvSpPr>
        <p:spPr>
          <a:xfrm>
            <a:off x="777240" y="4846320"/>
            <a:ext cx="2743200" cy="502920"/>
          </a:xfrm>
          <a:prstGeom prst="rect">
            <a:avLst/>
          </a:prstGeom>
          <a:solidFill>
            <a:srgbClr val="F4F7FA"/>
          </a:solidFill>
          <a:ln cap="flat" cmpd="sng" w="9525">
            <a:solidFill>
              <a:srgbClr val="CDD4D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91425" spcFirstLastPara="1" rIns="91425" wrap="square" tIns="0">
            <a:noAutofit/>
          </a:bodyPr>
          <a:lstStyle/>
          <a:p>
            <a:pPr indent="0" lvl="0" marL="0" marR="0" rtl="0" algn="l">
              <a:spcBef>
                <a:spcPts val="0"/>
              </a:spcBef>
              <a:spcAft>
                <a:spcPts val="0"/>
              </a:spcAft>
              <a:buNone/>
            </a:pPr>
            <a:r>
              <a:rPr b="0" i="0" lang="en-US" sz="1300" u="none" cap="none" strike="noStrike">
                <a:solidFill>
                  <a:srgbClr val="101010"/>
                </a:solidFill>
                <a:latin typeface="Calibri"/>
                <a:ea typeface="Calibri"/>
                <a:cs typeface="Calibri"/>
                <a:sym typeface="Calibri"/>
              </a:rPr>
              <a:t>FINDRISC / IDRS / ADA</a:t>
            </a:r>
            <a:endParaRPr/>
          </a:p>
        </p:txBody>
      </p:sp>
      <p:sp>
        <p:nvSpPr>
          <p:cNvPr id="233" name="Google Shape;233;p34"/>
          <p:cNvSpPr/>
          <p:nvPr/>
        </p:nvSpPr>
        <p:spPr>
          <a:xfrm>
            <a:off x="3520440" y="4846320"/>
            <a:ext cx="2194560" cy="502920"/>
          </a:xfrm>
          <a:prstGeom prst="rect">
            <a:avLst/>
          </a:prstGeom>
          <a:solidFill>
            <a:srgbClr val="F4F7FA"/>
          </a:solidFill>
          <a:ln cap="flat" cmpd="sng" w="9525">
            <a:solidFill>
              <a:srgbClr val="CDD4D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91425" spcFirstLastPara="1" rIns="91425" wrap="square" tIns="0">
            <a:noAutofit/>
          </a:bodyPr>
          <a:lstStyle/>
          <a:p>
            <a:pPr indent="0" lvl="0" marL="0" marR="0" rtl="0" algn="l">
              <a:spcBef>
                <a:spcPts val="0"/>
              </a:spcBef>
              <a:spcAft>
                <a:spcPts val="0"/>
              </a:spcAft>
              <a:buNone/>
            </a:pPr>
            <a:r>
              <a:rPr b="0" i="0" lang="en-US" sz="1300" u="none" cap="none" strike="noStrike">
                <a:solidFill>
                  <a:srgbClr val="101010"/>
                </a:solidFill>
                <a:latin typeface="Calibri"/>
                <a:ea typeface="Calibri"/>
                <a:cs typeface="Calibri"/>
                <a:sym typeface="Calibri"/>
              </a:rPr>
              <a:t>Questionnaire risk score</a:t>
            </a:r>
            <a:endParaRPr/>
          </a:p>
        </p:txBody>
      </p:sp>
      <p:sp>
        <p:nvSpPr>
          <p:cNvPr id="234" name="Google Shape;234;p34"/>
          <p:cNvSpPr/>
          <p:nvPr/>
        </p:nvSpPr>
        <p:spPr>
          <a:xfrm>
            <a:off x="5715000" y="4846320"/>
            <a:ext cx="4023360" cy="502920"/>
          </a:xfrm>
          <a:prstGeom prst="rect">
            <a:avLst/>
          </a:prstGeom>
          <a:solidFill>
            <a:srgbClr val="F4F7FA"/>
          </a:solidFill>
          <a:ln cap="flat" cmpd="sng" w="9525">
            <a:solidFill>
              <a:srgbClr val="CDD4D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91425" spcFirstLastPara="1" rIns="91425" wrap="square" tIns="0">
            <a:noAutofit/>
          </a:bodyPr>
          <a:lstStyle/>
          <a:p>
            <a:pPr indent="0" lvl="0" marL="0" marR="0" rtl="0" algn="l">
              <a:spcBef>
                <a:spcPts val="0"/>
              </a:spcBef>
              <a:spcAft>
                <a:spcPts val="0"/>
              </a:spcAft>
              <a:buNone/>
            </a:pPr>
            <a:r>
              <a:rPr b="0" i="0" lang="en-US" sz="1300" u="none" cap="none" strike="noStrike">
                <a:solidFill>
                  <a:srgbClr val="101010"/>
                </a:solidFill>
                <a:latin typeface="Calibri"/>
                <a:ea typeface="Calibri"/>
                <a:cs typeface="Calibri"/>
                <a:sym typeface="Calibri"/>
              </a:rPr>
              <a:t>Limited sensitivity in diverse populations</a:t>
            </a:r>
            <a:endParaRPr/>
          </a:p>
        </p:txBody>
      </p:sp>
      <p:sp>
        <p:nvSpPr>
          <p:cNvPr id="235" name="Google Shape;235;p34"/>
          <p:cNvSpPr/>
          <p:nvPr/>
        </p:nvSpPr>
        <p:spPr>
          <a:xfrm>
            <a:off x="777240" y="5349240"/>
            <a:ext cx="2743200" cy="502920"/>
          </a:xfrm>
          <a:prstGeom prst="rect">
            <a:avLst/>
          </a:prstGeom>
          <a:solidFill>
            <a:srgbClr val="FFFFFF"/>
          </a:solidFill>
          <a:ln cap="flat" cmpd="sng" w="9525">
            <a:solidFill>
              <a:srgbClr val="CDD4D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91425" spcFirstLastPara="1" rIns="91425" wrap="square" tIns="0">
            <a:noAutofit/>
          </a:bodyPr>
          <a:lstStyle/>
          <a:p>
            <a:pPr indent="0" lvl="0" marL="0" marR="0" rtl="0" algn="l">
              <a:spcBef>
                <a:spcPts val="0"/>
              </a:spcBef>
              <a:spcAft>
                <a:spcPts val="0"/>
              </a:spcAft>
              <a:buNone/>
            </a:pPr>
            <a:r>
              <a:rPr b="0" i="0" lang="en-US" sz="1300" u="none" cap="none" strike="noStrike">
                <a:solidFill>
                  <a:srgbClr val="101010"/>
                </a:solidFill>
                <a:latin typeface="Calibri"/>
                <a:ea typeface="Calibri"/>
                <a:cs typeface="Calibri"/>
                <a:sym typeface="Calibri"/>
              </a:rPr>
              <a:t>Single-test clinical review</a:t>
            </a:r>
            <a:endParaRPr/>
          </a:p>
        </p:txBody>
      </p:sp>
      <p:sp>
        <p:nvSpPr>
          <p:cNvPr id="236" name="Google Shape;236;p34"/>
          <p:cNvSpPr/>
          <p:nvPr/>
        </p:nvSpPr>
        <p:spPr>
          <a:xfrm>
            <a:off x="3520440" y="5349240"/>
            <a:ext cx="2194560" cy="502920"/>
          </a:xfrm>
          <a:prstGeom prst="rect">
            <a:avLst/>
          </a:prstGeom>
          <a:solidFill>
            <a:srgbClr val="FFFFFF"/>
          </a:solidFill>
          <a:ln cap="flat" cmpd="sng" w="9525">
            <a:solidFill>
              <a:srgbClr val="CDD4D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91425" spcFirstLastPara="1" rIns="91425" wrap="square" tIns="0">
            <a:noAutofit/>
          </a:bodyPr>
          <a:lstStyle/>
          <a:p>
            <a:pPr indent="0" lvl="0" marL="0" marR="0" rtl="0" algn="l">
              <a:spcBef>
                <a:spcPts val="0"/>
              </a:spcBef>
              <a:spcAft>
                <a:spcPts val="0"/>
              </a:spcAft>
              <a:buNone/>
            </a:pPr>
            <a:r>
              <a:rPr b="0" i="0" lang="en-US" sz="1300" u="none" cap="none" strike="noStrike">
                <a:solidFill>
                  <a:srgbClr val="101010"/>
                </a:solidFill>
                <a:latin typeface="Calibri"/>
                <a:ea typeface="Calibri"/>
                <a:cs typeface="Calibri"/>
                <a:sym typeface="Calibri"/>
              </a:rPr>
              <a:t>Manual</a:t>
            </a:r>
            <a:endParaRPr/>
          </a:p>
        </p:txBody>
      </p:sp>
      <p:sp>
        <p:nvSpPr>
          <p:cNvPr id="237" name="Google Shape;237;p34"/>
          <p:cNvSpPr/>
          <p:nvPr/>
        </p:nvSpPr>
        <p:spPr>
          <a:xfrm>
            <a:off x="5715000" y="5349240"/>
            <a:ext cx="4023360" cy="502920"/>
          </a:xfrm>
          <a:prstGeom prst="rect">
            <a:avLst/>
          </a:prstGeom>
          <a:solidFill>
            <a:srgbClr val="FFFFFF"/>
          </a:solidFill>
          <a:ln cap="flat" cmpd="sng" w="9525">
            <a:solidFill>
              <a:srgbClr val="CDD4D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91425" spcFirstLastPara="1" rIns="91425" wrap="square" tIns="0">
            <a:noAutofit/>
          </a:bodyPr>
          <a:lstStyle/>
          <a:p>
            <a:pPr indent="0" lvl="0" marL="0" marR="0" rtl="0" algn="l">
              <a:spcBef>
                <a:spcPts val="0"/>
              </a:spcBef>
              <a:spcAft>
                <a:spcPts val="0"/>
              </a:spcAft>
              <a:buNone/>
            </a:pPr>
            <a:r>
              <a:rPr b="0" i="0" lang="en-US" sz="1300" u="none" cap="none" strike="noStrike">
                <a:solidFill>
                  <a:srgbClr val="101010"/>
                </a:solidFill>
                <a:latin typeface="Calibri"/>
                <a:ea typeface="Calibri"/>
                <a:cs typeface="Calibri"/>
                <a:sym typeface="Calibri"/>
              </a:rPr>
              <a:t>Multivariable nonlinear interactions across labs</a:t>
            </a:r>
            <a:endParaRPr/>
          </a:p>
        </p:txBody>
      </p:sp>
      <p:sp>
        <p:nvSpPr>
          <p:cNvPr id="238" name="Google Shape;238;p34"/>
          <p:cNvSpPr txBox="1"/>
          <p:nvPr/>
        </p:nvSpPr>
        <p:spPr>
          <a:xfrm>
            <a:off x="777240" y="6080760"/>
            <a:ext cx="8503920" cy="41148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1" lang="en-US" sz="1100" u="none" cap="none" strike="noStrike">
                <a:solidFill>
                  <a:srgbClr val="555555"/>
                </a:solidFill>
                <a:latin typeface="Calibri"/>
                <a:ea typeface="Calibri"/>
                <a:cs typeface="Calibri"/>
                <a:sym typeface="Calibri"/>
              </a:rPr>
              <a:t>Table 1. Existing screening approaches each leave a clinically important gap that motivates an ML-based screen.</a:t>
            </a:r>
            <a:endParaRPr/>
          </a:p>
        </p:txBody>
      </p:sp>
      <p:sp>
        <p:nvSpPr>
          <p:cNvPr id="239" name="Google Shape;239;p34"/>
          <p:cNvSpPr txBox="1"/>
          <p:nvPr/>
        </p:nvSpPr>
        <p:spPr>
          <a:xfrm>
            <a:off x="411480" y="7479792"/>
            <a:ext cx="6400800" cy="256032"/>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00" u="none" cap="none" strike="noStrike">
                <a:solidFill>
                  <a:srgbClr val="555555"/>
                </a:solidFill>
                <a:latin typeface="Calibri"/>
                <a:ea typeface="Calibri"/>
                <a:cs typeface="Calibri"/>
                <a:sym typeface="Calibri"/>
              </a:rPr>
              <a:t>Team 3c  ·  CDS-492 Capstone  ·  Spring 2026</a:t>
            </a:r>
            <a:endParaRPr/>
          </a:p>
        </p:txBody>
      </p:sp>
      <p:sp>
        <p:nvSpPr>
          <p:cNvPr id="240" name="Google Shape;240;p34"/>
          <p:cNvSpPr txBox="1"/>
          <p:nvPr/>
        </p:nvSpPr>
        <p:spPr>
          <a:xfrm>
            <a:off x="8686800" y="7479792"/>
            <a:ext cx="1005840" cy="256032"/>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i="0" lang="en-US" sz="1000" u="none" cap="none" strike="noStrike">
                <a:solidFill>
                  <a:srgbClr val="555555"/>
                </a:solidFill>
                <a:latin typeface="Calibri"/>
                <a:ea typeface="Calibri"/>
                <a:cs typeface="Calibri"/>
                <a:sym typeface="Calibri"/>
              </a:rPr>
              <a:t>2 / 16</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35"/>
          <p:cNvSpPr/>
          <p:nvPr/>
        </p:nvSpPr>
        <p:spPr>
          <a:xfrm>
            <a:off x="0" y="0"/>
            <a:ext cx="10058400" cy="1188720"/>
          </a:xfrm>
          <a:prstGeom prst="rect">
            <a:avLst/>
          </a:prstGeom>
          <a:solidFill>
            <a:srgbClr val="0E2841"/>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46" name="Google Shape;246;p35"/>
          <p:cNvSpPr txBox="1"/>
          <p:nvPr/>
        </p:nvSpPr>
        <p:spPr>
          <a:xfrm>
            <a:off x="457170" y="310909"/>
            <a:ext cx="9144000" cy="6156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4000">
                <a:solidFill>
                  <a:srgbClr val="FFFFFF"/>
                </a:solidFill>
                <a:latin typeface="Calibri"/>
                <a:ea typeface="Calibri"/>
                <a:cs typeface="Calibri"/>
                <a:sym typeface="Calibri"/>
              </a:rPr>
              <a:t>Proposed Solution</a:t>
            </a:r>
            <a:endParaRPr sz="4000"/>
          </a:p>
        </p:txBody>
      </p:sp>
      <p:sp>
        <p:nvSpPr>
          <p:cNvPr id="247" name="Google Shape;247;p35"/>
          <p:cNvSpPr/>
          <p:nvPr/>
        </p:nvSpPr>
        <p:spPr>
          <a:xfrm>
            <a:off x="0" y="1188720"/>
            <a:ext cx="10058400" cy="45720"/>
          </a:xfrm>
          <a:prstGeom prst="rect">
            <a:avLst/>
          </a:prstGeom>
          <a:solidFill>
            <a:srgbClr val="156082"/>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48" name="Google Shape;248;p35"/>
          <p:cNvSpPr txBox="1"/>
          <p:nvPr/>
        </p:nvSpPr>
        <p:spPr>
          <a:xfrm>
            <a:off x="502920" y="1600200"/>
            <a:ext cx="9052560" cy="54864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1" lang="en-US" sz="2000" u="none" cap="none" strike="noStrike">
                <a:solidFill>
                  <a:srgbClr val="156082"/>
                </a:solidFill>
                <a:latin typeface="Calibri"/>
                <a:ea typeface="Calibri"/>
                <a:cs typeface="Calibri"/>
                <a:sym typeface="Calibri"/>
              </a:rPr>
              <a:t>Routine NHIS checkups already collect the data — the question is whether ML can use it.</a:t>
            </a:r>
            <a:endParaRPr/>
          </a:p>
        </p:txBody>
      </p:sp>
      <p:sp>
        <p:nvSpPr>
          <p:cNvPr id="249" name="Google Shape;249;p35"/>
          <p:cNvSpPr/>
          <p:nvPr/>
        </p:nvSpPr>
        <p:spPr>
          <a:xfrm>
            <a:off x="502920" y="2331720"/>
            <a:ext cx="3200400" cy="457200"/>
          </a:xfrm>
          <a:prstGeom prst="rect">
            <a:avLst/>
          </a:prstGeom>
          <a:solidFill>
            <a:srgbClr val="0E2841"/>
          </a:solidFill>
          <a:ln cap="flat" cmpd="sng" w="9525">
            <a:solidFill>
              <a:srgbClr val="0E2841"/>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91425" spcFirstLastPara="1" rIns="91425" wrap="square" tIns="0">
            <a:noAutofit/>
          </a:bodyPr>
          <a:lstStyle/>
          <a:p>
            <a:pPr indent="0" lvl="0" marL="0" marR="0" rtl="0" algn="l">
              <a:spcBef>
                <a:spcPts val="0"/>
              </a:spcBef>
              <a:spcAft>
                <a:spcPts val="0"/>
              </a:spcAft>
              <a:buNone/>
            </a:pPr>
            <a:r>
              <a:rPr b="1" i="0" lang="en-US" sz="1200" u="none" cap="none" strike="noStrike">
                <a:solidFill>
                  <a:srgbClr val="FFFFFF"/>
                </a:solidFill>
                <a:latin typeface="Calibri"/>
                <a:ea typeface="Calibri"/>
                <a:cs typeface="Calibri"/>
                <a:sym typeface="Calibri"/>
              </a:rPr>
              <a:t>Aspect</a:t>
            </a:r>
            <a:endParaRPr/>
          </a:p>
        </p:txBody>
      </p:sp>
      <p:sp>
        <p:nvSpPr>
          <p:cNvPr id="250" name="Google Shape;250;p35"/>
          <p:cNvSpPr/>
          <p:nvPr/>
        </p:nvSpPr>
        <p:spPr>
          <a:xfrm>
            <a:off x="3703320" y="2331720"/>
            <a:ext cx="3108960" cy="457200"/>
          </a:xfrm>
          <a:prstGeom prst="rect">
            <a:avLst/>
          </a:prstGeom>
          <a:solidFill>
            <a:srgbClr val="0E2841"/>
          </a:solidFill>
          <a:ln cap="flat" cmpd="sng" w="9525">
            <a:solidFill>
              <a:srgbClr val="0E2841"/>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91425" spcFirstLastPara="1" rIns="91425" wrap="square" tIns="0">
            <a:noAutofit/>
          </a:bodyPr>
          <a:lstStyle/>
          <a:p>
            <a:pPr indent="0" lvl="0" marL="0" marR="0" rtl="0" algn="l">
              <a:spcBef>
                <a:spcPts val="0"/>
              </a:spcBef>
              <a:spcAft>
                <a:spcPts val="0"/>
              </a:spcAft>
              <a:buNone/>
            </a:pPr>
            <a:r>
              <a:rPr b="1" i="0" lang="en-US" sz="1200" u="none" cap="none" strike="noStrike">
                <a:solidFill>
                  <a:srgbClr val="FFFFFF"/>
                </a:solidFill>
                <a:latin typeface="Calibri"/>
                <a:ea typeface="Calibri"/>
                <a:cs typeface="Calibri"/>
                <a:sym typeface="Calibri"/>
              </a:rPr>
              <a:t>Prior NHIS work</a:t>
            </a:r>
            <a:endParaRPr/>
          </a:p>
        </p:txBody>
      </p:sp>
      <p:sp>
        <p:nvSpPr>
          <p:cNvPr id="251" name="Google Shape;251;p35"/>
          <p:cNvSpPr/>
          <p:nvPr/>
        </p:nvSpPr>
        <p:spPr>
          <a:xfrm>
            <a:off x="6812280" y="2331720"/>
            <a:ext cx="2743200" cy="457200"/>
          </a:xfrm>
          <a:prstGeom prst="rect">
            <a:avLst/>
          </a:prstGeom>
          <a:solidFill>
            <a:srgbClr val="0E2841"/>
          </a:solidFill>
          <a:ln cap="flat" cmpd="sng" w="9525">
            <a:solidFill>
              <a:srgbClr val="0E2841"/>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91425" spcFirstLastPara="1" rIns="91425" wrap="square" tIns="0">
            <a:noAutofit/>
          </a:bodyPr>
          <a:lstStyle/>
          <a:p>
            <a:pPr indent="0" lvl="0" marL="0" marR="0" rtl="0" algn="l">
              <a:spcBef>
                <a:spcPts val="0"/>
              </a:spcBef>
              <a:spcAft>
                <a:spcPts val="0"/>
              </a:spcAft>
              <a:buNone/>
            </a:pPr>
            <a:r>
              <a:rPr b="1" i="0" lang="en-US" sz="1200" u="none" cap="none" strike="noStrike">
                <a:solidFill>
                  <a:srgbClr val="FFFFFF"/>
                </a:solidFill>
                <a:latin typeface="Calibri"/>
                <a:ea typeface="Calibri"/>
                <a:cs typeface="Calibri"/>
                <a:sym typeface="Calibri"/>
              </a:rPr>
              <a:t>Our work</a:t>
            </a:r>
            <a:endParaRPr/>
          </a:p>
        </p:txBody>
      </p:sp>
      <p:sp>
        <p:nvSpPr>
          <p:cNvPr id="252" name="Google Shape;252;p35"/>
          <p:cNvSpPr/>
          <p:nvPr/>
        </p:nvSpPr>
        <p:spPr>
          <a:xfrm>
            <a:off x="502920" y="2788920"/>
            <a:ext cx="3200400" cy="457200"/>
          </a:xfrm>
          <a:prstGeom prst="rect">
            <a:avLst/>
          </a:prstGeom>
          <a:solidFill>
            <a:srgbClr val="FFFFFF"/>
          </a:solidFill>
          <a:ln cap="flat" cmpd="sng" w="9525">
            <a:solidFill>
              <a:srgbClr val="CDD4D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91425" spcFirstLastPara="1" rIns="91425" wrap="square" tIns="0">
            <a:noAutofit/>
          </a:bodyPr>
          <a:lstStyle/>
          <a:p>
            <a:pPr indent="0" lvl="0" marL="0" marR="0" rtl="0" algn="l">
              <a:spcBef>
                <a:spcPts val="0"/>
              </a:spcBef>
              <a:spcAft>
                <a:spcPts val="0"/>
              </a:spcAft>
              <a:buNone/>
            </a:pPr>
            <a:r>
              <a:rPr b="1" i="0" lang="en-US" sz="1300" u="none" cap="none" strike="noStrike">
                <a:solidFill>
                  <a:srgbClr val="101010"/>
                </a:solidFill>
                <a:latin typeface="Calibri"/>
                <a:ea typeface="Calibri"/>
                <a:cs typeface="Calibri"/>
                <a:sym typeface="Calibri"/>
              </a:rPr>
              <a:t>Model families compared</a:t>
            </a:r>
            <a:endParaRPr/>
          </a:p>
        </p:txBody>
      </p:sp>
      <p:sp>
        <p:nvSpPr>
          <p:cNvPr id="253" name="Google Shape;253;p35"/>
          <p:cNvSpPr/>
          <p:nvPr/>
        </p:nvSpPr>
        <p:spPr>
          <a:xfrm>
            <a:off x="3703320" y="2788920"/>
            <a:ext cx="3108960" cy="457200"/>
          </a:xfrm>
          <a:prstGeom prst="rect">
            <a:avLst/>
          </a:prstGeom>
          <a:solidFill>
            <a:srgbClr val="FFFFFF"/>
          </a:solidFill>
          <a:ln cap="flat" cmpd="sng" w="9525">
            <a:solidFill>
              <a:srgbClr val="CDD4D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91425" spcFirstLastPara="1" rIns="91425" wrap="square" tIns="0">
            <a:noAutofit/>
          </a:bodyPr>
          <a:lstStyle/>
          <a:p>
            <a:pPr indent="0" lvl="0" marL="0" marR="0" rtl="0" algn="l">
              <a:spcBef>
                <a:spcPts val="0"/>
              </a:spcBef>
              <a:spcAft>
                <a:spcPts val="0"/>
              </a:spcAft>
              <a:buNone/>
            </a:pPr>
            <a:r>
              <a:rPr b="0" i="0" lang="en-US" sz="1300" u="none" cap="none" strike="noStrike">
                <a:solidFill>
                  <a:srgbClr val="101010"/>
                </a:solidFill>
                <a:latin typeface="Calibri"/>
                <a:ea typeface="Calibri"/>
                <a:cs typeface="Calibri"/>
                <a:sym typeface="Calibri"/>
              </a:rPr>
              <a:t>Deep learning only</a:t>
            </a:r>
            <a:endParaRPr/>
          </a:p>
        </p:txBody>
      </p:sp>
      <p:sp>
        <p:nvSpPr>
          <p:cNvPr id="254" name="Google Shape;254;p35"/>
          <p:cNvSpPr/>
          <p:nvPr/>
        </p:nvSpPr>
        <p:spPr>
          <a:xfrm>
            <a:off x="6812280" y="2788920"/>
            <a:ext cx="2743200" cy="457200"/>
          </a:xfrm>
          <a:prstGeom prst="rect">
            <a:avLst/>
          </a:prstGeom>
          <a:solidFill>
            <a:srgbClr val="FFFFFF"/>
          </a:solidFill>
          <a:ln cap="flat" cmpd="sng" w="9525">
            <a:solidFill>
              <a:srgbClr val="CDD4D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91425" spcFirstLastPara="1" rIns="91425" wrap="square" tIns="0">
            <a:noAutofit/>
          </a:bodyPr>
          <a:lstStyle/>
          <a:p>
            <a:pPr indent="0" lvl="0" marL="0" marR="0" rtl="0" algn="l">
              <a:spcBef>
                <a:spcPts val="0"/>
              </a:spcBef>
              <a:spcAft>
                <a:spcPts val="0"/>
              </a:spcAft>
              <a:buNone/>
            </a:pPr>
            <a:r>
              <a:rPr b="0" i="0" lang="en-US" sz="1300" u="none" cap="none" strike="noStrike">
                <a:solidFill>
                  <a:srgbClr val="101010"/>
                </a:solidFill>
                <a:latin typeface="Calibri"/>
                <a:ea typeface="Calibri"/>
                <a:cs typeface="Calibri"/>
                <a:sym typeface="Calibri"/>
              </a:rPr>
              <a:t>8 models: trees, NNs, linear</a:t>
            </a:r>
            <a:endParaRPr/>
          </a:p>
        </p:txBody>
      </p:sp>
      <p:sp>
        <p:nvSpPr>
          <p:cNvPr id="255" name="Google Shape;255;p35"/>
          <p:cNvSpPr/>
          <p:nvPr/>
        </p:nvSpPr>
        <p:spPr>
          <a:xfrm>
            <a:off x="502920" y="3246120"/>
            <a:ext cx="3200400" cy="457200"/>
          </a:xfrm>
          <a:prstGeom prst="rect">
            <a:avLst/>
          </a:prstGeom>
          <a:solidFill>
            <a:srgbClr val="F4F7FA"/>
          </a:solidFill>
          <a:ln cap="flat" cmpd="sng" w="9525">
            <a:solidFill>
              <a:srgbClr val="CDD4D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91425" spcFirstLastPara="1" rIns="91425" wrap="square" tIns="0">
            <a:noAutofit/>
          </a:bodyPr>
          <a:lstStyle/>
          <a:p>
            <a:pPr indent="0" lvl="0" marL="0" marR="0" rtl="0" algn="l">
              <a:spcBef>
                <a:spcPts val="0"/>
              </a:spcBef>
              <a:spcAft>
                <a:spcPts val="0"/>
              </a:spcAft>
              <a:buNone/>
            </a:pPr>
            <a:r>
              <a:rPr b="1" i="0" lang="en-US" sz="1300" u="none" cap="none" strike="noStrike">
                <a:solidFill>
                  <a:srgbClr val="101010"/>
                </a:solidFill>
                <a:latin typeface="Calibri"/>
                <a:ea typeface="Calibri"/>
                <a:cs typeface="Calibri"/>
                <a:sym typeface="Calibri"/>
              </a:rPr>
              <a:t>Feature design</a:t>
            </a:r>
            <a:endParaRPr/>
          </a:p>
        </p:txBody>
      </p:sp>
      <p:sp>
        <p:nvSpPr>
          <p:cNvPr id="256" name="Google Shape;256;p35"/>
          <p:cNvSpPr/>
          <p:nvPr/>
        </p:nvSpPr>
        <p:spPr>
          <a:xfrm>
            <a:off x="3703320" y="3246120"/>
            <a:ext cx="3108960" cy="457200"/>
          </a:xfrm>
          <a:prstGeom prst="rect">
            <a:avLst/>
          </a:prstGeom>
          <a:solidFill>
            <a:srgbClr val="F4F7FA"/>
          </a:solidFill>
          <a:ln cap="flat" cmpd="sng" w="9525">
            <a:solidFill>
              <a:srgbClr val="CDD4D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91425" spcFirstLastPara="1" rIns="91425" wrap="square" tIns="0">
            <a:noAutofit/>
          </a:bodyPr>
          <a:lstStyle/>
          <a:p>
            <a:pPr indent="0" lvl="0" marL="0" marR="0" rtl="0" algn="l">
              <a:spcBef>
                <a:spcPts val="0"/>
              </a:spcBef>
              <a:spcAft>
                <a:spcPts val="0"/>
              </a:spcAft>
              <a:buNone/>
            </a:pPr>
            <a:r>
              <a:rPr b="0" i="0" lang="en-US" sz="1300" u="none" cap="none" strike="noStrike">
                <a:solidFill>
                  <a:srgbClr val="101010"/>
                </a:solidFill>
                <a:latin typeface="Calibri"/>
                <a:ea typeface="Calibri"/>
                <a:cs typeface="Calibri"/>
                <a:sym typeface="Calibri"/>
              </a:rPr>
              <a:t>Fixed feature set</a:t>
            </a:r>
            <a:endParaRPr/>
          </a:p>
        </p:txBody>
      </p:sp>
      <p:sp>
        <p:nvSpPr>
          <p:cNvPr id="257" name="Google Shape;257;p35"/>
          <p:cNvSpPr/>
          <p:nvPr/>
        </p:nvSpPr>
        <p:spPr>
          <a:xfrm>
            <a:off x="6812280" y="3246120"/>
            <a:ext cx="2743200" cy="457200"/>
          </a:xfrm>
          <a:prstGeom prst="rect">
            <a:avLst/>
          </a:prstGeom>
          <a:solidFill>
            <a:srgbClr val="F4F7FA"/>
          </a:solidFill>
          <a:ln cap="flat" cmpd="sng" w="9525">
            <a:solidFill>
              <a:srgbClr val="CDD4D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91425" spcFirstLastPara="1" rIns="91425" wrap="square" tIns="0">
            <a:noAutofit/>
          </a:bodyPr>
          <a:lstStyle/>
          <a:p>
            <a:pPr indent="0" lvl="0" marL="0" marR="0" rtl="0" algn="l">
              <a:spcBef>
                <a:spcPts val="0"/>
              </a:spcBef>
              <a:spcAft>
                <a:spcPts val="0"/>
              </a:spcAft>
              <a:buNone/>
            </a:pPr>
            <a:r>
              <a:rPr b="0" i="0" lang="en-US" sz="1300" u="none" cap="none" strike="noStrike">
                <a:solidFill>
                  <a:srgbClr val="101010"/>
                </a:solidFill>
                <a:latin typeface="Calibri"/>
                <a:ea typeface="Calibri"/>
                <a:cs typeface="Calibri"/>
                <a:sym typeface="Calibri"/>
              </a:rPr>
              <a:t>3-tier ablation (Core / +Labs / +Lipids)</a:t>
            </a:r>
            <a:endParaRPr/>
          </a:p>
        </p:txBody>
      </p:sp>
      <p:sp>
        <p:nvSpPr>
          <p:cNvPr id="258" name="Google Shape;258;p35"/>
          <p:cNvSpPr/>
          <p:nvPr/>
        </p:nvSpPr>
        <p:spPr>
          <a:xfrm>
            <a:off x="502920" y="3703320"/>
            <a:ext cx="3200400" cy="457200"/>
          </a:xfrm>
          <a:prstGeom prst="rect">
            <a:avLst/>
          </a:prstGeom>
          <a:solidFill>
            <a:srgbClr val="FFFFFF"/>
          </a:solidFill>
          <a:ln cap="flat" cmpd="sng" w="9525">
            <a:solidFill>
              <a:srgbClr val="CDD4D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91425" spcFirstLastPara="1" rIns="91425" wrap="square" tIns="0">
            <a:noAutofit/>
          </a:bodyPr>
          <a:lstStyle/>
          <a:p>
            <a:pPr indent="0" lvl="0" marL="0" marR="0" rtl="0" algn="l">
              <a:spcBef>
                <a:spcPts val="0"/>
              </a:spcBef>
              <a:spcAft>
                <a:spcPts val="0"/>
              </a:spcAft>
              <a:buNone/>
            </a:pPr>
            <a:r>
              <a:rPr b="1" i="0" lang="en-US" sz="1300" u="none" cap="none" strike="noStrike">
                <a:solidFill>
                  <a:srgbClr val="101010"/>
                </a:solidFill>
                <a:latin typeface="Calibri"/>
                <a:ea typeface="Calibri"/>
                <a:cs typeface="Calibri"/>
                <a:sym typeface="Calibri"/>
              </a:rPr>
              <a:t>Probability quality</a:t>
            </a:r>
            <a:endParaRPr/>
          </a:p>
        </p:txBody>
      </p:sp>
      <p:sp>
        <p:nvSpPr>
          <p:cNvPr id="259" name="Google Shape;259;p35"/>
          <p:cNvSpPr/>
          <p:nvPr/>
        </p:nvSpPr>
        <p:spPr>
          <a:xfrm>
            <a:off x="3703320" y="3703320"/>
            <a:ext cx="3108960" cy="457200"/>
          </a:xfrm>
          <a:prstGeom prst="rect">
            <a:avLst/>
          </a:prstGeom>
          <a:solidFill>
            <a:srgbClr val="FFFFFF"/>
          </a:solidFill>
          <a:ln cap="flat" cmpd="sng" w="9525">
            <a:solidFill>
              <a:srgbClr val="CDD4D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91425" spcFirstLastPara="1" rIns="91425" wrap="square" tIns="0">
            <a:noAutofit/>
          </a:bodyPr>
          <a:lstStyle/>
          <a:p>
            <a:pPr indent="0" lvl="0" marL="0" marR="0" rtl="0" algn="l">
              <a:spcBef>
                <a:spcPts val="0"/>
              </a:spcBef>
              <a:spcAft>
                <a:spcPts val="0"/>
              </a:spcAft>
              <a:buNone/>
            </a:pPr>
            <a:r>
              <a:rPr b="0" i="0" lang="en-US" sz="1300" u="none" cap="none" strike="noStrike">
                <a:solidFill>
                  <a:srgbClr val="101010"/>
                </a:solidFill>
                <a:latin typeface="Calibri"/>
                <a:ea typeface="Calibri"/>
                <a:cs typeface="Calibri"/>
                <a:sym typeface="Calibri"/>
              </a:rPr>
              <a:t>Raw scores</a:t>
            </a:r>
            <a:endParaRPr/>
          </a:p>
        </p:txBody>
      </p:sp>
      <p:sp>
        <p:nvSpPr>
          <p:cNvPr id="260" name="Google Shape;260;p35"/>
          <p:cNvSpPr/>
          <p:nvPr/>
        </p:nvSpPr>
        <p:spPr>
          <a:xfrm>
            <a:off x="6812280" y="3703320"/>
            <a:ext cx="2743200" cy="457200"/>
          </a:xfrm>
          <a:prstGeom prst="rect">
            <a:avLst/>
          </a:prstGeom>
          <a:solidFill>
            <a:srgbClr val="FFFFFF"/>
          </a:solidFill>
          <a:ln cap="flat" cmpd="sng" w="9525">
            <a:solidFill>
              <a:srgbClr val="CDD4D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91425" spcFirstLastPara="1" rIns="91425" wrap="square" tIns="0">
            <a:noAutofit/>
          </a:bodyPr>
          <a:lstStyle/>
          <a:p>
            <a:pPr indent="0" lvl="0" marL="0" marR="0" rtl="0" algn="l">
              <a:spcBef>
                <a:spcPts val="0"/>
              </a:spcBef>
              <a:spcAft>
                <a:spcPts val="0"/>
              </a:spcAft>
              <a:buNone/>
            </a:pPr>
            <a:r>
              <a:rPr b="0" i="0" lang="en-US" sz="1300" u="none" cap="none" strike="noStrike">
                <a:solidFill>
                  <a:srgbClr val="101010"/>
                </a:solidFill>
                <a:latin typeface="Calibri"/>
                <a:ea typeface="Calibri"/>
                <a:cs typeface="Calibri"/>
                <a:sym typeface="Calibri"/>
              </a:rPr>
              <a:t>Platt-calibrated, recall-targeted threshold</a:t>
            </a:r>
            <a:endParaRPr/>
          </a:p>
        </p:txBody>
      </p:sp>
      <p:sp>
        <p:nvSpPr>
          <p:cNvPr id="261" name="Google Shape;261;p35"/>
          <p:cNvSpPr/>
          <p:nvPr/>
        </p:nvSpPr>
        <p:spPr>
          <a:xfrm>
            <a:off x="502920" y="4160520"/>
            <a:ext cx="3200400" cy="457200"/>
          </a:xfrm>
          <a:prstGeom prst="rect">
            <a:avLst/>
          </a:prstGeom>
          <a:solidFill>
            <a:srgbClr val="F4F7FA"/>
          </a:solidFill>
          <a:ln cap="flat" cmpd="sng" w="9525">
            <a:solidFill>
              <a:srgbClr val="CDD4D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91425" spcFirstLastPara="1" rIns="91425" wrap="square" tIns="0">
            <a:noAutofit/>
          </a:bodyPr>
          <a:lstStyle/>
          <a:p>
            <a:pPr indent="0" lvl="0" marL="0" marR="0" rtl="0" algn="l">
              <a:spcBef>
                <a:spcPts val="0"/>
              </a:spcBef>
              <a:spcAft>
                <a:spcPts val="0"/>
              </a:spcAft>
              <a:buNone/>
            </a:pPr>
            <a:r>
              <a:rPr b="1" i="0" lang="en-US" sz="1300" u="none" cap="none" strike="noStrike">
                <a:solidFill>
                  <a:srgbClr val="101010"/>
                </a:solidFill>
                <a:latin typeface="Calibri"/>
                <a:ea typeface="Calibri"/>
                <a:cs typeface="Calibri"/>
                <a:sym typeface="Calibri"/>
              </a:rPr>
              <a:t>Missing-data handling</a:t>
            </a:r>
            <a:endParaRPr/>
          </a:p>
        </p:txBody>
      </p:sp>
      <p:sp>
        <p:nvSpPr>
          <p:cNvPr id="262" name="Google Shape;262;p35"/>
          <p:cNvSpPr/>
          <p:nvPr/>
        </p:nvSpPr>
        <p:spPr>
          <a:xfrm>
            <a:off x="3703320" y="4160520"/>
            <a:ext cx="3108960" cy="457200"/>
          </a:xfrm>
          <a:prstGeom prst="rect">
            <a:avLst/>
          </a:prstGeom>
          <a:solidFill>
            <a:srgbClr val="F4F7FA"/>
          </a:solidFill>
          <a:ln cap="flat" cmpd="sng" w="9525">
            <a:solidFill>
              <a:srgbClr val="CDD4D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91425" spcFirstLastPara="1" rIns="91425" wrap="square" tIns="0">
            <a:noAutofit/>
          </a:bodyPr>
          <a:lstStyle/>
          <a:p>
            <a:pPr indent="0" lvl="0" marL="0" marR="0" rtl="0" algn="l">
              <a:spcBef>
                <a:spcPts val="0"/>
              </a:spcBef>
              <a:spcAft>
                <a:spcPts val="0"/>
              </a:spcAft>
              <a:buNone/>
            </a:pPr>
            <a:r>
              <a:rPr b="0" i="0" lang="en-US" sz="1300" u="none" cap="none" strike="noStrike">
                <a:solidFill>
                  <a:srgbClr val="101010"/>
                </a:solidFill>
                <a:latin typeface="Calibri"/>
                <a:ea typeface="Calibri"/>
                <a:cs typeface="Calibri"/>
                <a:sym typeface="Calibri"/>
              </a:rPr>
              <a:t>Imputation</a:t>
            </a:r>
            <a:endParaRPr/>
          </a:p>
        </p:txBody>
      </p:sp>
      <p:sp>
        <p:nvSpPr>
          <p:cNvPr id="263" name="Google Shape;263;p35"/>
          <p:cNvSpPr/>
          <p:nvPr/>
        </p:nvSpPr>
        <p:spPr>
          <a:xfrm>
            <a:off x="6812280" y="4160520"/>
            <a:ext cx="2743200" cy="457200"/>
          </a:xfrm>
          <a:prstGeom prst="rect">
            <a:avLst/>
          </a:prstGeom>
          <a:solidFill>
            <a:srgbClr val="F4F7FA"/>
          </a:solidFill>
          <a:ln cap="flat" cmpd="sng" w="9525">
            <a:solidFill>
              <a:srgbClr val="CDD4D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91425" spcFirstLastPara="1" rIns="91425" wrap="square" tIns="0">
            <a:noAutofit/>
          </a:bodyPr>
          <a:lstStyle/>
          <a:p>
            <a:pPr indent="0" lvl="0" marL="0" marR="0" rtl="0" algn="l">
              <a:spcBef>
                <a:spcPts val="0"/>
              </a:spcBef>
              <a:spcAft>
                <a:spcPts val="0"/>
              </a:spcAft>
              <a:buNone/>
            </a:pPr>
            <a:r>
              <a:rPr b="0" i="0" lang="en-US" sz="1300" u="none" cap="none" strike="noStrike">
                <a:solidFill>
                  <a:srgbClr val="101010"/>
                </a:solidFill>
                <a:latin typeface="Calibri"/>
                <a:ea typeface="Calibri"/>
                <a:cs typeface="Calibri"/>
                <a:sym typeface="Calibri"/>
              </a:rPr>
              <a:t>Native CatBoost handling, no imputation</a:t>
            </a:r>
            <a:endParaRPr/>
          </a:p>
        </p:txBody>
      </p:sp>
      <p:sp>
        <p:nvSpPr>
          <p:cNvPr id="264" name="Google Shape;264;p35"/>
          <p:cNvSpPr/>
          <p:nvPr/>
        </p:nvSpPr>
        <p:spPr>
          <a:xfrm>
            <a:off x="502920" y="4617720"/>
            <a:ext cx="3200400" cy="457200"/>
          </a:xfrm>
          <a:prstGeom prst="rect">
            <a:avLst/>
          </a:prstGeom>
          <a:solidFill>
            <a:srgbClr val="FFFFFF"/>
          </a:solidFill>
          <a:ln cap="flat" cmpd="sng" w="9525">
            <a:solidFill>
              <a:srgbClr val="CDD4D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91425" spcFirstLastPara="1" rIns="91425" wrap="square" tIns="0">
            <a:noAutofit/>
          </a:bodyPr>
          <a:lstStyle/>
          <a:p>
            <a:pPr indent="0" lvl="0" marL="0" marR="0" rtl="0" algn="l">
              <a:spcBef>
                <a:spcPts val="0"/>
              </a:spcBef>
              <a:spcAft>
                <a:spcPts val="0"/>
              </a:spcAft>
              <a:buNone/>
            </a:pPr>
            <a:r>
              <a:rPr b="1" i="0" lang="en-US" sz="1300" u="none" cap="none" strike="noStrike">
                <a:solidFill>
                  <a:srgbClr val="101010"/>
                </a:solidFill>
                <a:latin typeface="Calibri"/>
                <a:ea typeface="Calibri"/>
                <a:cs typeface="Calibri"/>
                <a:sym typeface="Calibri"/>
              </a:rPr>
              <a:t>Output</a:t>
            </a:r>
            <a:endParaRPr/>
          </a:p>
        </p:txBody>
      </p:sp>
      <p:sp>
        <p:nvSpPr>
          <p:cNvPr id="265" name="Google Shape;265;p35"/>
          <p:cNvSpPr/>
          <p:nvPr/>
        </p:nvSpPr>
        <p:spPr>
          <a:xfrm>
            <a:off x="3703320" y="4617720"/>
            <a:ext cx="3108960" cy="457200"/>
          </a:xfrm>
          <a:prstGeom prst="rect">
            <a:avLst/>
          </a:prstGeom>
          <a:solidFill>
            <a:srgbClr val="FFFFFF"/>
          </a:solidFill>
          <a:ln cap="flat" cmpd="sng" w="9525">
            <a:solidFill>
              <a:srgbClr val="CDD4D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91425" spcFirstLastPara="1" rIns="91425" wrap="square" tIns="0">
            <a:noAutofit/>
          </a:bodyPr>
          <a:lstStyle/>
          <a:p>
            <a:pPr indent="0" lvl="0" marL="0" marR="0" rtl="0" algn="l">
              <a:spcBef>
                <a:spcPts val="0"/>
              </a:spcBef>
              <a:spcAft>
                <a:spcPts val="0"/>
              </a:spcAft>
              <a:buNone/>
            </a:pPr>
            <a:r>
              <a:rPr b="0" i="0" lang="en-US" sz="1300" u="none" cap="none" strike="noStrike">
                <a:solidFill>
                  <a:srgbClr val="101010"/>
                </a:solidFill>
                <a:latin typeface="Calibri"/>
                <a:ea typeface="Calibri"/>
                <a:cs typeface="Calibri"/>
                <a:sym typeface="Calibri"/>
              </a:rPr>
              <a:t>Single binary score</a:t>
            </a:r>
            <a:endParaRPr/>
          </a:p>
        </p:txBody>
      </p:sp>
      <p:sp>
        <p:nvSpPr>
          <p:cNvPr id="266" name="Google Shape;266;p35"/>
          <p:cNvSpPr/>
          <p:nvPr/>
        </p:nvSpPr>
        <p:spPr>
          <a:xfrm>
            <a:off x="6812280" y="4617720"/>
            <a:ext cx="2743200" cy="457200"/>
          </a:xfrm>
          <a:prstGeom prst="rect">
            <a:avLst/>
          </a:prstGeom>
          <a:solidFill>
            <a:srgbClr val="FFFFFF"/>
          </a:solidFill>
          <a:ln cap="flat" cmpd="sng" w="9525">
            <a:solidFill>
              <a:srgbClr val="CDD4D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91425" spcFirstLastPara="1" rIns="91425" wrap="square" tIns="0">
            <a:noAutofit/>
          </a:bodyPr>
          <a:lstStyle/>
          <a:p>
            <a:pPr indent="0" lvl="0" marL="0" marR="0" rtl="0" algn="l">
              <a:spcBef>
                <a:spcPts val="0"/>
              </a:spcBef>
              <a:spcAft>
                <a:spcPts val="0"/>
              </a:spcAft>
              <a:buNone/>
            </a:pPr>
            <a:r>
              <a:rPr b="0" i="0" lang="en-US" sz="1300" u="none" cap="none" strike="noStrike">
                <a:solidFill>
                  <a:srgbClr val="101010"/>
                </a:solidFill>
                <a:latin typeface="Calibri"/>
                <a:ea typeface="Calibri"/>
                <a:cs typeface="Calibri"/>
                <a:sym typeface="Calibri"/>
              </a:rPr>
              <a:t>FastAPI tool with 4-tier risk stratification</a:t>
            </a:r>
            <a:endParaRPr/>
          </a:p>
        </p:txBody>
      </p:sp>
      <p:sp>
        <p:nvSpPr>
          <p:cNvPr id="267" name="Google Shape;267;p35"/>
          <p:cNvSpPr txBox="1"/>
          <p:nvPr/>
        </p:nvSpPr>
        <p:spPr>
          <a:xfrm>
            <a:off x="502920" y="5379389"/>
            <a:ext cx="9052500" cy="3387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1" lang="en-US" sz="1100" u="none" cap="none" strike="noStrike">
                <a:solidFill>
                  <a:srgbClr val="555555"/>
                </a:solidFill>
                <a:latin typeface="Calibri"/>
                <a:ea typeface="Calibri"/>
                <a:cs typeface="Calibri"/>
                <a:sym typeface="Calibri"/>
              </a:rPr>
              <a:t>Table 2. Five gaps in prior NHIS-based diabetes ML work that this project closes — supporting evidence: Grinsztajn 2022 (NeurIPS) on tabular trees vs. deep learning.</a:t>
            </a:r>
            <a:endParaRPr/>
          </a:p>
        </p:txBody>
      </p:sp>
      <p:sp>
        <p:nvSpPr>
          <p:cNvPr id="268" name="Google Shape;268;p35"/>
          <p:cNvSpPr txBox="1"/>
          <p:nvPr/>
        </p:nvSpPr>
        <p:spPr>
          <a:xfrm>
            <a:off x="411480" y="7479792"/>
            <a:ext cx="6400800" cy="256032"/>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00" u="none" cap="none" strike="noStrike">
                <a:solidFill>
                  <a:srgbClr val="555555"/>
                </a:solidFill>
                <a:latin typeface="Calibri"/>
                <a:ea typeface="Calibri"/>
                <a:cs typeface="Calibri"/>
                <a:sym typeface="Calibri"/>
              </a:rPr>
              <a:t>Team 3c  ·  CDS-492 Capstone  ·  Spring 2026</a:t>
            </a:r>
            <a:endParaRPr/>
          </a:p>
        </p:txBody>
      </p:sp>
      <p:sp>
        <p:nvSpPr>
          <p:cNvPr id="269" name="Google Shape;269;p35"/>
          <p:cNvSpPr txBox="1"/>
          <p:nvPr/>
        </p:nvSpPr>
        <p:spPr>
          <a:xfrm>
            <a:off x="8686800" y="7479792"/>
            <a:ext cx="1005840" cy="256032"/>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i="0" lang="en-US" sz="1000" u="none" cap="none" strike="noStrike">
                <a:solidFill>
                  <a:srgbClr val="555555"/>
                </a:solidFill>
                <a:latin typeface="Calibri"/>
                <a:ea typeface="Calibri"/>
                <a:cs typeface="Calibri"/>
                <a:sym typeface="Calibri"/>
              </a:rPr>
              <a:t>3 / 16</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36"/>
          <p:cNvSpPr/>
          <p:nvPr/>
        </p:nvSpPr>
        <p:spPr>
          <a:xfrm>
            <a:off x="0" y="0"/>
            <a:ext cx="10058400" cy="1188720"/>
          </a:xfrm>
          <a:prstGeom prst="rect">
            <a:avLst/>
          </a:prstGeom>
          <a:solidFill>
            <a:srgbClr val="0E2841"/>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75" name="Google Shape;275;p36"/>
          <p:cNvSpPr txBox="1"/>
          <p:nvPr/>
        </p:nvSpPr>
        <p:spPr>
          <a:xfrm>
            <a:off x="457195" y="305246"/>
            <a:ext cx="9144000" cy="6156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4000">
                <a:solidFill>
                  <a:srgbClr val="FFFFFF"/>
                </a:solidFill>
                <a:latin typeface="Calibri"/>
                <a:ea typeface="Calibri"/>
                <a:cs typeface="Calibri"/>
                <a:sym typeface="Calibri"/>
              </a:rPr>
              <a:t>Data Overview</a:t>
            </a:r>
            <a:endParaRPr sz="4000"/>
          </a:p>
        </p:txBody>
      </p:sp>
      <p:sp>
        <p:nvSpPr>
          <p:cNvPr id="276" name="Google Shape;276;p36"/>
          <p:cNvSpPr/>
          <p:nvPr/>
        </p:nvSpPr>
        <p:spPr>
          <a:xfrm>
            <a:off x="0" y="1188720"/>
            <a:ext cx="10058400" cy="45720"/>
          </a:xfrm>
          <a:prstGeom prst="rect">
            <a:avLst/>
          </a:prstGeom>
          <a:solidFill>
            <a:srgbClr val="156082"/>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77" name="Google Shape;277;p36"/>
          <p:cNvSpPr/>
          <p:nvPr/>
        </p:nvSpPr>
        <p:spPr>
          <a:xfrm>
            <a:off x="502920" y="1691640"/>
            <a:ext cx="2194500" cy="420600"/>
          </a:xfrm>
          <a:prstGeom prst="rect">
            <a:avLst/>
          </a:prstGeom>
          <a:solidFill>
            <a:srgbClr val="0E2841"/>
          </a:solidFill>
          <a:ln cap="flat" cmpd="sng" w="9525">
            <a:solidFill>
              <a:srgbClr val="0E2841"/>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91425" spcFirstLastPara="1" rIns="91425" wrap="square" tIns="0">
            <a:noAutofit/>
          </a:bodyPr>
          <a:lstStyle/>
          <a:p>
            <a:pPr indent="0" lvl="0" marL="0" marR="0" rtl="0" algn="l">
              <a:spcBef>
                <a:spcPts val="0"/>
              </a:spcBef>
              <a:spcAft>
                <a:spcPts val="0"/>
              </a:spcAft>
              <a:buNone/>
            </a:pPr>
            <a:r>
              <a:rPr b="1" i="0" lang="en-US" sz="1200" u="none" cap="none" strike="noStrike">
                <a:solidFill>
                  <a:srgbClr val="FFFFFF"/>
                </a:solidFill>
                <a:latin typeface="Calibri"/>
                <a:ea typeface="Calibri"/>
                <a:cs typeface="Calibri"/>
                <a:sym typeface="Calibri"/>
              </a:rPr>
              <a:t>Field</a:t>
            </a:r>
            <a:endParaRPr/>
          </a:p>
        </p:txBody>
      </p:sp>
      <p:sp>
        <p:nvSpPr>
          <p:cNvPr id="278" name="Google Shape;278;p36"/>
          <p:cNvSpPr/>
          <p:nvPr/>
        </p:nvSpPr>
        <p:spPr>
          <a:xfrm>
            <a:off x="2697480" y="1691640"/>
            <a:ext cx="2469000" cy="420600"/>
          </a:xfrm>
          <a:prstGeom prst="rect">
            <a:avLst/>
          </a:prstGeom>
          <a:solidFill>
            <a:srgbClr val="0E2841"/>
          </a:solidFill>
          <a:ln cap="flat" cmpd="sng" w="9525">
            <a:solidFill>
              <a:srgbClr val="0E2841"/>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91425" spcFirstLastPara="1" rIns="91425" wrap="square" tIns="0">
            <a:noAutofit/>
          </a:bodyPr>
          <a:lstStyle/>
          <a:p>
            <a:pPr indent="0" lvl="0" marL="0" marR="0" rtl="0" algn="l">
              <a:spcBef>
                <a:spcPts val="0"/>
              </a:spcBef>
              <a:spcAft>
                <a:spcPts val="0"/>
              </a:spcAft>
              <a:buNone/>
            </a:pPr>
            <a:r>
              <a:rPr b="1" i="0" lang="en-US" sz="1200" u="none" cap="none" strike="noStrike">
                <a:solidFill>
                  <a:srgbClr val="FFFFFF"/>
                </a:solidFill>
                <a:latin typeface="Calibri"/>
                <a:ea typeface="Calibri"/>
                <a:cs typeface="Calibri"/>
                <a:sym typeface="Calibri"/>
              </a:rPr>
              <a:t>Value</a:t>
            </a:r>
            <a:endParaRPr/>
          </a:p>
        </p:txBody>
      </p:sp>
      <p:sp>
        <p:nvSpPr>
          <p:cNvPr id="279" name="Google Shape;279;p36"/>
          <p:cNvSpPr/>
          <p:nvPr/>
        </p:nvSpPr>
        <p:spPr>
          <a:xfrm>
            <a:off x="502920" y="2112264"/>
            <a:ext cx="2194500" cy="420600"/>
          </a:xfrm>
          <a:prstGeom prst="rect">
            <a:avLst/>
          </a:prstGeom>
          <a:solidFill>
            <a:srgbClr val="FFFFFF"/>
          </a:solidFill>
          <a:ln cap="flat" cmpd="sng" w="9525">
            <a:solidFill>
              <a:srgbClr val="CDD4D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91425" spcFirstLastPara="1" rIns="91425" wrap="square" tIns="0">
            <a:noAutofit/>
          </a:bodyPr>
          <a:lstStyle/>
          <a:p>
            <a:pPr indent="0" lvl="0" marL="0" marR="0" rtl="0" algn="l">
              <a:spcBef>
                <a:spcPts val="0"/>
              </a:spcBef>
              <a:spcAft>
                <a:spcPts val="0"/>
              </a:spcAft>
              <a:buNone/>
            </a:pPr>
            <a:r>
              <a:rPr b="1" i="0" lang="en-US" sz="1300" u="none" cap="none" strike="noStrike">
                <a:solidFill>
                  <a:srgbClr val="101010"/>
                </a:solidFill>
                <a:latin typeface="Calibri"/>
                <a:ea typeface="Calibri"/>
                <a:cs typeface="Calibri"/>
                <a:sym typeface="Calibri"/>
              </a:rPr>
              <a:t>Source</a:t>
            </a:r>
            <a:endParaRPr/>
          </a:p>
        </p:txBody>
      </p:sp>
      <p:sp>
        <p:nvSpPr>
          <p:cNvPr id="280" name="Google Shape;280;p36"/>
          <p:cNvSpPr/>
          <p:nvPr/>
        </p:nvSpPr>
        <p:spPr>
          <a:xfrm>
            <a:off x="2697480" y="2112264"/>
            <a:ext cx="2469000" cy="420600"/>
          </a:xfrm>
          <a:prstGeom prst="rect">
            <a:avLst/>
          </a:prstGeom>
          <a:solidFill>
            <a:srgbClr val="FFFFFF"/>
          </a:solidFill>
          <a:ln cap="flat" cmpd="sng" w="9525">
            <a:solidFill>
              <a:srgbClr val="CDD4D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91425" spcFirstLastPara="1" rIns="91425" wrap="square" tIns="0">
            <a:noAutofit/>
          </a:bodyPr>
          <a:lstStyle/>
          <a:p>
            <a:pPr indent="0" lvl="0" marL="0" marR="0" rtl="0" algn="l">
              <a:spcBef>
                <a:spcPts val="0"/>
              </a:spcBef>
              <a:spcAft>
                <a:spcPts val="0"/>
              </a:spcAft>
              <a:buNone/>
            </a:pPr>
            <a:r>
              <a:rPr b="0" i="0" lang="en-US" sz="1300" u="none" cap="none" strike="noStrike">
                <a:solidFill>
                  <a:srgbClr val="101010"/>
                </a:solidFill>
                <a:latin typeface="Calibri"/>
                <a:ea typeface="Calibri"/>
                <a:cs typeface="Calibri"/>
                <a:sym typeface="Calibri"/>
              </a:rPr>
              <a:t>2024 Korean NHIS, public</a:t>
            </a:r>
            <a:endParaRPr/>
          </a:p>
        </p:txBody>
      </p:sp>
      <p:sp>
        <p:nvSpPr>
          <p:cNvPr id="281" name="Google Shape;281;p36"/>
          <p:cNvSpPr/>
          <p:nvPr/>
        </p:nvSpPr>
        <p:spPr>
          <a:xfrm>
            <a:off x="502920" y="2532888"/>
            <a:ext cx="2194500" cy="420600"/>
          </a:xfrm>
          <a:prstGeom prst="rect">
            <a:avLst/>
          </a:prstGeom>
          <a:solidFill>
            <a:srgbClr val="F4F7FA"/>
          </a:solidFill>
          <a:ln cap="flat" cmpd="sng" w="9525">
            <a:solidFill>
              <a:srgbClr val="CDD4D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91425" spcFirstLastPara="1" rIns="91425" wrap="square" tIns="0">
            <a:noAutofit/>
          </a:bodyPr>
          <a:lstStyle/>
          <a:p>
            <a:pPr indent="0" lvl="0" marL="0" marR="0" rtl="0" algn="l">
              <a:spcBef>
                <a:spcPts val="0"/>
              </a:spcBef>
              <a:spcAft>
                <a:spcPts val="0"/>
              </a:spcAft>
              <a:buNone/>
            </a:pPr>
            <a:r>
              <a:rPr b="1" i="0" lang="en-US" sz="1300" u="none" cap="none" strike="noStrike">
                <a:solidFill>
                  <a:srgbClr val="101010"/>
                </a:solidFill>
                <a:latin typeface="Calibri"/>
                <a:ea typeface="Calibri"/>
                <a:cs typeface="Calibri"/>
                <a:sym typeface="Calibri"/>
              </a:rPr>
              <a:t>Records (validated)</a:t>
            </a:r>
            <a:endParaRPr/>
          </a:p>
        </p:txBody>
      </p:sp>
      <p:sp>
        <p:nvSpPr>
          <p:cNvPr id="282" name="Google Shape;282;p36"/>
          <p:cNvSpPr/>
          <p:nvPr/>
        </p:nvSpPr>
        <p:spPr>
          <a:xfrm>
            <a:off x="2697480" y="2532888"/>
            <a:ext cx="2469000" cy="420600"/>
          </a:xfrm>
          <a:prstGeom prst="rect">
            <a:avLst/>
          </a:prstGeom>
          <a:solidFill>
            <a:srgbClr val="F4F7FA"/>
          </a:solidFill>
          <a:ln cap="flat" cmpd="sng" w="9525">
            <a:solidFill>
              <a:srgbClr val="CDD4D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91425" spcFirstLastPara="1" rIns="91425" wrap="square" tIns="0">
            <a:noAutofit/>
          </a:bodyPr>
          <a:lstStyle/>
          <a:p>
            <a:pPr indent="0" lvl="0" marL="0" marR="0" rtl="0" algn="l">
              <a:spcBef>
                <a:spcPts val="0"/>
              </a:spcBef>
              <a:spcAft>
                <a:spcPts val="0"/>
              </a:spcAft>
              <a:buNone/>
            </a:pPr>
            <a:r>
              <a:rPr b="0" i="0" lang="en-US" sz="1300" u="none" cap="none" strike="noStrike">
                <a:solidFill>
                  <a:srgbClr val="101010"/>
                </a:solidFill>
                <a:latin typeface="Calibri"/>
                <a:ea typeface="Calibri"/>
                <a:cs typeface="Calibri"/>
                <a:sym typeface="Calibri"/>
              </a:rPr>
              <a:t>994,147</a:t>
            </a:r>
            <a:endParaRPr/>
          </a:p>
        </p:txBody>
      </p:sp>
      <p:sp>
        <p:nvSpPr>
          <p:cNvPr id="283" name="Google Shape;283;p36"/>
          <p:cNvSpPr/>
          <p:nvPr/>
        </p:nvSpPr>
        <p:spPr>
          <a:xfrm>
            <a:off x="502920" y="2953512"/>
            <a:ext cx="2194500" cy="420600"/>
          </a:xfrm>
          <a:prstGeom prst="rect">
            <a:avLst/>
          </a:prstGeom>
          <a:solidFill>
            <a:srgbClr val="FFFFFF"/>
          </a:solidFill>
          <a:ln cap="flat" cmpd="sng" w="9525">
            <a:solidFill>
              <a:srgbClr val="CDD4D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91425" spcFirstLastPara="1" rIns="91425" wrap="square" tIns="0">
            <a:noAutofit/>
          </a:bodyPr>
          <a:lstStyle/>
          <a:p>
            <a:pPr indent="0" lvl="0" marL="0" marR="0" rtl="0" algn="l">
              <a:spcBef>
                <a:spcPts val="0"/>
              </a:spcBef>
              <a:spcAft>
                <a:spcPts val="0"/>
              </a:spcAft>
              <a:buNone/>
            </a:pPr>
            <a:r>
              <a:rPr b="1" i="0" lang="en-US" sz="1300" u="none" cap="none" strike="noStrike">
                <a:solidFill>
                  <a:srgbClr val="101010"/>
                </a:solidFill>
                <a:latin typeface="Calibri"/>
                <a:ea typeface="Calibri"/>
                <a:cs typeface="Calibri"/>
                <a:sym typeface="Calibri"/>
              </a:rPr>
              <a:t>Label</a:t>
            </a:r>
            <a:endParaRPr/>
          </a:p>
        </p:txBody>
      </p:sp>
      <p:sp>
        <p:nvSpPr>
          <p:cNvPr id="284" name="Google Shape;284;p36"/>
          <p:cNvSpPr/>
          <p:nvPr/>
        </p:nvSpPr>
        <p:spPr>
          <a:xfrm>
            <a:off x="2697480" y="2953512"/>
            <a:ext cx="2469000" cy="420600"/>
          </a:xfrm>
          <a:prstGeom prst="rect">
            <a:avLst/>
          </a:prstGeom>
          <a:solidFill>
            <a:srgbClr val="FFFFFF"/>
          </a:solidFill>
          <a:ln cap="flat" cmpd="sng" w="9525">
            <a:solidFill>
              <a:srgbClr val="CDD4D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91425" spcFirstLastPara="1" rIns="91425" wrap="square" tIns="0">
            <a:noAutofit/>
          </a:bodyPr>
          <a:lstStyle/>
          <a:p>
            <a:pPr indent="0" lvl="0" marL="0" marR="0" rtl="0" algn="l">
              <a:spcBef>
                <a:spcPts val="0"/>
              </a:spcBef>
              <a:spcAft>
                <a:spcPts val="0"/>
              </a:spcAft>
              <a:buNone/>
            </a:pPr>
            <a:r>
              <a:rPr b="0" i="0" lang="en-US" sz="1300" u="none" cap="none" strike="noStrike">
                <a:solidFill>
                  <a:srgbClr val="101010"/>
                </a:solidFill>
                <a:latin typeface="Calibri"/>
                <a:ea typeface="Calibri"/>
                <a:cs typeface="Calibri"/>
                <a:sym typeface="Calibri"/>
              </a:rPr>
              <a:t>FPG ≥ 126 mg/dL (ADA)</a:t>
            </a:r>
            <a:endParaRPr/>
          </a:p>
        </p:txBody>
      </p:sp>
      <p:sp>
        <p:nvSpPr>
          <p:cNvPr id="285" name="Google Shape;285;p36"/>
          <p:cNvSpPr/>
          <p:nvPr/>
        </p:nvSpPr>
        <p:spPr>
          <a:xfrm>
            <a:off x="502920" y="3374136"/>
            <a:ext cx="2194500" cy="420600"/>
          </a:xfrm>
          <a:prstGeom prst="rect">
            <a:avLst/>
          </a:prstGeom>
          <a:solidFill>
            <a:srgbClr val="F4F7FA"/>
          </a:solidFill>
          <a:ln cap="flat" cmpd="sng" w="9525">
            <a:solidFill>
              <a:srgbClr val="CDD4D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91425" spcFirstLastPara="1" rIns="91425" wrap="square" tIns="0">
            <a:noAutofit/>
          </a:bodyPr>
          <a:lstStyle/>
          <a:p>
            <a:pPr indent="0" lvl="0" marL="0" marR="0" rtl="0" algn="l">
              <a:spcBef>
                <a:spcPts val="0"/>
              </a:spcBef>
              <a:spcAft>
                <a:spcPts val="0"/>
              </a:spcAft>
              <a:buNone/>
            </a:pPr>
            <a:r>
              <a:rPr b="1" i="0" lang="en-US" sz="1300" u="none" cap="none" strike="noStrike">
                <a:solidFill>
                  <a:srgbClr val="101010"/>
                </a:solidFill>
                <a:latin typeface="Calibri"/>
                <a:ea typeface="Calibri"/>
                <a:cs typeface="Calibri"/>
                <a:sym typeface="Calibri"/>
              </a:rPr>
              <a:t>Positive rate</a:t>
            </a:r>
            <a:endParaRPr/>
          </a:p>
        </p:txBody>
      </p:sp>
      <p:sp>
        <p:nvSpPr>
          <p:cNvPr id="286" name="Google Shape;286;p36"/>
          <p:cNvSpPr/>
          <p:nvPr/>
        </p:nvSpPr>
        <p:spPr>
          <a:xfrm>
            <a:off x="2697480" y="3374136"/>
            <a:ext cx="2469000" cy="420600"/>
          </a:xfrm>
          <a:prstGeom prst="rect">
            <a:avLst/>
          </a:prstGeom>
          <a:solidFill>
            <a:srgbClr val="F4F7FA"/>
          </a:solidFill>
          <a:ln cap="flat" cmpd="sng" w="9525">
            <a:solidFill>
              <a:srgbClr val="CDD4D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91425" spcFirstLastPara="1" rIns="91425" wrap="square" tIns="0">
            <a:noAutofit/>
          </a:bodyPr>
          <a:lstStyle/>
          <a:p>
            <a:pPr indent="0" lvl="0" marL="0" marR="0" rtl="0" algn="l">
              <a:spcBef>
                <a:spcPts val="0"/>
              </a:spcBef>
              <a:spcAft>
                <a:spcPts val="0"/>
              </a:spcAft>
              <a:buNone/>
            </a:pPr>
            <a:r>
              <a:rPr b="0" i="0" lang="en-US" sz="1300" u="none" cap="none" strike="noStrike">
                <a:solidFill>
                  <a:srgbClr val="101010"/>
                </a:solidFill>
                <a:latin typeface="Calibri"/>
                <a:ea typeface="Calibri"/>
                <a:cs typeface="Calibri"/>
                <a:sym typeface="Calibri"/>
              </a:rPr>
              <a:t>7.9 %</a:t>
            </a:r>
            <a:endParaRPr/>
          </a:p>
        </p:txBody>
      </p:sp>
      <p:sp>
        <p:nvSpPr>
          <p:cNvPr id="287" name="Google Shape;287;p36"/>
          <p:cNvSpPr/>
          <p:nvPr/>
        </p:nvSpPr>
        <p:spPr>
          <a:xfrm>
            <a:off x="502920" y="3794760"/>
            <a:ext cx="2194500" cy="420600"/>
          </a:xfrm>
          <a:prstGeom prst="rect">
            <a:avLst/>
          </a:prstGeom>
          <a:solidFill>
            <a:srgbClr val="FFFFFF"/>
          </a:solidFill>
          <a:ln cap="flat" cmpd="sng" w="9525">
            <a:solidFill>
              <a:srgbClr val="CDD4D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91425" spcFirstLastPara="1" rIns="91425" wrap="square" tIns="0">
            <a:noAutofit/>
          </a:bodyPr>
          <a:lstStyle/>
          <a:p>
            <a:pPr indent="0" lvl="0" marL="0" marR="0" rtl="0" algn="l">
              <a:spcBef>
                <a:spcPts val="0"/>
              </a:spcBef>
              <a:spcAft>
                <a:spcPts val="0"/>
              </a:spcAft>
              <a:buNone/>
            </a:pPr>
            <a:r>
              <a:rPr b="1" i="0" lang="en-US" sz="1300" u="none" cap="none" strike="noStrike">
                <a:solidFill>
                  <a:srgbClr val="101010"/>
                </a:solidFill>
                <a:latin typeface="Calibri"/>
                <a:ea typeface="Calibri"/>
                <a:cs typeface="Calibri"/>
                <a:sym typeface="Calibri"/>
              </a:rPr>
              <a:t>FPG as input</a:t>
            </a:r>
            <a:endParaRPr/>
          </a:p>
        </p:txBody>
      </p:sp>
      <p:sp>
        <p:nvSpPr>
          <p:cNvPr id="288" name="Google Shape;288;p36"/>
          <p:cNvSpPr/>
          <p:nvPr/>
        </p:nvSpPr>
        <p:spPr>
          <a:xfrm>
            <a:off x="2697480" y="3794760"/>
            <a:ext cx="2469000" cy="420600"/>
          </a:xfrm>
          <a:prstGeom prst="rect">
            <a:avLst/>
          </a:prstGeom>
          <a:solidFill>
            <a:srgbClr val="FFFFFF"/>
          </a:solidFill>
          <a:ln cap="flat" cmpd="sng" w="9525">
            <a:solidFill>
              <a:srgbClr val="CDD4D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91425" spcFirstLastPara="1" rIns="91425" wrap="square" tIns="0">
            <a:noAutofit/>
          </a:bodyPr>
          <a:lstStyle/>
          <a:p>
            <a:pPr indent="0" lvl="0" marL="0" marR="0" rtl="0" algn="l">
              <a:spcBef>
                <a:spcPts val="0"/>
              </a:spcBef>
              <a:spcAft>
                <a:spcPts val="0"/>
              </a:spcAft>
              <a:buNone/>
            </a:pPr>
            <a:r>
              <a:rPr b="0" i="0" lang="en-US" sz="1300" u="none" cap="none" strike="noStrike">
                <a:solidFill>
                  <a:srgbClr val="101010"/>
                </a:solidFill>
                <a:latin typeface="Calibri"/>
                <a:ea typeface="Calibri"/>
                <a:cs typeface="Calibri"/>
                <a:sym typeface="Calibri"/>
              </a:rPr>
              <a:t>Excluded (avoid leakage)</a:t>
            </a:r>
            <a:endParaRPr/>
          </a:p>
        </p:txBody>
      </p:sp>
      <p:sp>
        <p:nvSpPr>
          <p:cNvPr id="289" name="Google Shape;289;p36"/>
          <p:cNvSpPr/>
          <p:nvPr/>
        </p:nvSpPr>
        <p:spPr>
          <a:xfrm>
            <a:off x="502920" y="4215384"/>
            <a:ext cx="2194500" cy="420600"/>
          </a:xfrm>
          <a:prstGeom prst="rect">
            <a:avLst/>
          </a:prstGeom>
          <a:solidFill>
            <a:srgbClr val="F4F7FA"/>
          </a:solidFill>
          <a:ln cap="flat" cmpd="sng" w="9525">
            <a:solidFill>
              <a:srgbClr val="CDD4D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91425" spcFirstLastPara="1" rIns="91425" wrap="square" tIns="0">
            <a:noAutofit/>
          </a:bodyPr>
          <a:lstStyle/>
          <a:p>
            <a:pPr indent="0" lvl="0" marL="0" marR="0" rtl="0" algn="l">
              <a:spcBef>
                <a:spcPts val="0"/>
              </a:spcBef>
              <a:spcAft>
                <a:spcPts val="0"/>
              </a:spcAft>
              <a:buNone/>
            </a:pPr>
            <a:r>
              <a:rPr b="1" i="0" lang="en-US" sz="1300" u="none" cap="none" strike="noStrike">
                <a:solidFill>
                  <a:srgbClr val="101010"/>
                </a:solidFill>
                <a:latin typeface="Calibri"/>
                <a:ea typeface="Calibri"/>
                <a:cs typeface="Calibri"/>
                <a:sym typeface="Calibri"/>
              </a:rPr>
              <a:t>Split</a:t>
            </a:r>
            <a:endParaRPr/>
          </a:p>
        </p:txBody>
      </p:sp>
      <p:sp>
        <p:nvSpPr>
          <p:cNvPr id="290" name="Google Shape;290;p36"/>
          <p:cNvSpPr/>
          <p:nvPr/>
        </p:nvSpPr>
        <p:spPr>
          <a:xfrm>
            <a:off x="2697475" y="4215375"/>
            <a:ext cx="2469000" cy="420600"/>
          </a:xfrm>
          <a:prstGeom prst="rect">
            <a:avLst/>
          </a:prstGeom>
          <a:solidFill>
            <a:srgbClr val="F4F7FA"/>
          </a:solidFill>
          <a:ln cap="flat" cmpd="sng" w="9525">
            <a:solidFill>
              <a:srgbClr val="CDD4D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91425" spcFirstLastPara="1" rIns="91425" wrap="square" tIns="0">
            <a:noAutofit/>
          </a:bodyPr>
          <a:lstStyle/>
          <a:p>
            <a:pPr indent="0" lvl="0" marL="0" marR="0" rtl="0" algn="l">
              <a:spcBef>
                <a:spcPts val="0"/>
              </a:spcBef>
              <a:spcAft>
                <a:spcPts val="0"/>
              </a:spcAft>
              <a:buNone/>
            </a:pPr>
            <a:r>
              <a:rPr b="0" i="0" lang="en-US" sz="1300" u="none" cap="none" strike="noStrike">
                <a:solidFill>
                  <a:srgbClr val="101010"/>
                </a:solidFill>
                <a:latin typeface="Calibri"/>
                <a:ea typeface="Calibri"/>
                <a:cs typeface="Calibri"/>
                <a:sym typeface="Calibri"/>
              </a:rPr>
              <a:t>60 / 20 / 20 stratified, seed 42</a:t>
            </a:r>
            <a:endParaRPr/>
          </a:p>
        </p:txBody>
      </p:sp>
      <p:sp>
        <p:nvSpPr>
          <p:cNvPr id="291" name="Google Shape;291;p36"/>
          <p:cNvSpPr txBox="1"/>
          <p:nvPr/>
        </p:nvSpPr>
        <p:spPr>
          <a:xfrm>
            <a:off x="502920" y="4754880"/>
            <a:ext cx="4663500" cy="4116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1" lang="en-US" sz="1100" u="none" cap="none" strike="noStrike">
                <a:solidFill>
                  <a:srgbClr val="555555"/>
                </a:solidFill>
                <a:latin typeface="Calibri"/>
                <a:ea typeface="Calibri"/>
                <a:cs typeface="Calibri"/>
                <a:sym typeface="Calibri"/>
              </a:rPr>
              <a:t>Table 3. Dataset composition and the design choice that prevents circular prediction.</a:t>
            </a:r>
            <a:endParaRPr/>
          </a:p>
        </p:txBody>
      </p:sp>
      <p:pic>
        <p:nvPicPr>
          <p:cNvPr descr="diabetes_prevalence_by_age_and_gender.png" id="292" name="Google Shape;292;p36"/>
          <p:cNvPicPr preferRelativeResize="0"/>
          <p:nvPr/>
        </p:nvPicPr>
        <p:blipFill rotWithShape="1">
          <a:blip r:embed="rId3">
            <a:alphaModFix/>
          </a:blip>
          <a:srcRect b="0" l="0" r="0" t="0"/>
          <a:stretch/>
        </p:blipFill>
        <p:spPr>
          <a:xfrm>
            <a:off x="5393297" y="1691649"/>
            <a:ext cx="4276889" cy="2083360"/>
          </a:xfrm>
          <a:prstGeom prst="rect">
            <a:avLst/>
          </a:prstGeom>
          <a:noFill/>
          <a:ln cap="flat" cmpd="sng" w="9525">
            <a:solidFill>
              <a:schemeClr val="dk1"/>
            </a:solidFill>
            <a:prstDash val="solid"/>
            <a:round/>
            <a:headEnd len="sm" w="sm" type="none"/>
            <a:tailEnd len="sm" w="sm" type="none"/>
          </a:ln>
        </p:spPr>
      </p:pic>
      <p:sp>
        <p:nvSpPr>
          <p:cNvPr id="293" name="Google Shape;293;p36"/>
          <p:cNvSpPr txBox="1"/>
          <p:nvPr/>
        </p:nvSpPr>
        <p:spPr>
          <a:xfrm>
            <a:off x="5612721" y="3864209"/>
            <a:ext cx="3837900" cy="2871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1" lang="en-US" sz="933" u="none" cap="none" strike="noStrike">
                <a:solidFill>
                  <a:srgbClr val="555555"/>
                </a:solidFill>
                <a:latin typeface="Calibri"/>
                <a:ea typeface="Calibri"/>
                <a:cs typeface="Calibri"/>
                <a:sym typeface="Calibri"/>
              </a:rPr>
              <a:t>Figure 2. Diabetes prevalence rises sharply with age in both sexes; men cross 10% by age 50.</a:t>
            </a:r>
            <a:endParaRPr sz="1187"/>
          </a:p>
        </p:txBody>
      </p:sp>
      <p:sp>
        <p:nvSpPr>
          <p:cNvPr id="294" name="Google Shape;294;p36"/>
          <p:cNvSpPr txBox="1"/>
          <p:nvPr/>
        </p:nvSpPr>
        <p:spPr>
          <a:xfrm>
            <a:off x="411480" y="7479792"/>
            <a:ext cx="6400800" cy="256032"/>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00" u="none" cap="none" strike="noStrike">
                <a:solidFill>
                  <a:srgbClr val="555555"/>
                </a:solidFill>
                <a:latin typeface="Calibri"/>
                <a:ea typeface="Calibri"/>
                <a:cs typeface="Calibri"/>
                <a:sym typeface="Calibri"/>
              </a:rPr>
              <a:t>Team 3c  ·  CDS-492 Capstone  ·  Spring 2026</a:t>
            </a:r>
            <a:endParaRPr/>
          </a:p>
        </p:txBody>
      </p:sp>
      <p:sp>
        <p:nvSpPr>
          <p:cNvPr id="295" name="Google Shape;295;p36"/>
          <p:cNvSpPr txBox="1"/>
          <p:nvPr/>
        </p:nvSpPr>
        <p:spPr>
          <a:xfrm>
            <a:off x="8686800" y="7479792"/>
            <a:ext cx="1005840" cy="256032"/>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i="0" lang="en-US" sz="1000" u="none" cap="none" strike="noStrike">
                <a:solidFill>
                  <a:srgbClr val="555555"/>
                </a:solidFill>
                <a:latin typeface="Calibri"/>
                <a:ea typeface="Calibri"/>
                <a:cs typeface="Calibri"/>
                <a:sym typeface="Calibri"/>
              </a:rPr>
              <a:t>4 / 16</a:t>
            </a:r>
            <a:endParaRPr/>
          </a:p>
        </p:txBody>
      </p:sp>
      <p:sp>
        <p:nvSpPr>
          <p:cNvPr id="296" name="Google Shape;296;p36"/>
          <p:cNvSpPr/>
          <p:nvPr/>
        </p:nvSpPr>
        <p:spPr>
          <a:xfrm>
            <a:off x="515283" y="5628665"/>
            <a:ext cx="9026100" cy="1489500"/>
          </a:xfrm>
          <a:prstGeom prst="roundRect">
            <a:avLst>
              <a:gd fmla="val 16667" name="adj"/>
            </a:avLst>
          </a:prstGeom>
          <a:solidFill>
            <a:srgbClr val="0E2841"/>
          </a:solidFill>
          <a:ln>
            <a:noFill/>
          </a:ln>
          <a:effectLst>
            <a:outerShdw blurRad="40000" rotWithShape="0" dir="5400000" dist="23000">
              <a:srgbClr val="000000">
                <a:alpha val="34900"/>
              </a:srgbClr>
            </a:outerShdw>
          </a:effectLst>
        </p:spPr>
        <p:txBody>
          <a:bodyPr anchorCtr="0" anchor="ctr" bIns="182875" lIns="274300" spcFirstLastPara="1" rIns="274300" wrap="square" tIns="182875">
            <a:noAutofit/>
          </a:bodyPr>
          <a:lstStyle/>
          <a:p>
            <a:pPr indent="0" lvl="0" marL="0" rtl="0" algn="ctr">
              <a:spcBef>
                <a:spcPts val="0"/>
              </a:spcBef>
              <a:spcAft>
                <a:spcPts val="0"/>
              </a:spcAft>
              <a:buClr>
                <a:schemeClr val="dk1"/>
              </a:buClr>
              <a:buFont typeface="Arial"/>
              <a:buNone/>
            </a:pPr>
            <a:r>
              <a:rPr b="1" lang="en-US" sz="2600">
                <a:solidFill>
                  <a:schemeClr val="lt1"/>
                </a:solidFill>
                <a:latin typeface="Calibri"/>
                <a:ea typeface="Calibri"/>
                <a:cs typeface="Calibri"/>
                <a:sym typeface="Calibri"/>
              </a:rPr>
              <a:t>994,147 NHIS records with a 7.9% diabetic-positive rate</a:t>
            </a:r>
            <a:endParaRPr>
              <a:solidFill>
                <a:schemeClr val="dk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37"/>
          <p:cNvSpPr/>
          <p:nvPr/>
        </p:nvSpPr>
        <p:spPr>
          <a:xfrm>
            <a:off x="0" y="0"/>
            <a:ext cx="10058400" cy="1188720"/>
          </a:xfrm>
          <a:prstGeom prst="rect">
            <a:avLst/>
          </a:prstGeom>
          <a:solidFill>
            <a:srgbClr val="0E2841"/>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302" name="Google Shape;302;p37"/>
          <p:cNvSpPr txBox="1"/>
          <p:nvPr/>
        </p:nvSpPr>
        <p:spPr>
          <a:xfrm>
            <a:off x="456379" y="280945"/>
            <a:ext cx="9144000" cy="6156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4000">
                <a:solidFill>
                  <a:srgbClr val="FFFFFF"/>
                </a:solidFill>
                <a:latin typeface="Calibri"/>
                <a:ea typeface="Calibri"/>
                <a:cs typeface="Calibri"/>
                <a:sym typeface="Calibri"/>
              </a:rPr>
              <a:t>Feature Engineering</a:t>
            </a:r>
            <a:endParaRPr sz="4000"/>
          </a:p>
        </p:txBody>
      </p:sp>
      <p:sp>
        <p:nvSpPr>
          <p:cNvPr id="303" name="Google Shape;303;p37"/>
          <p:cNvSpPr/>
          <p:nvPr/>
        </p:nvSpPr>
        <p:spPr>
          <a:xfrm>
            <a:off x="0" y="1188720"/>
            <a:ext cx="10058400" cy="45720"/>
          </a:xfrm>
          <a:prstGeom prst="rect">
            <a:avLst/>
          </a:prstGeom>
          <a:solidFill>
            <a:srgbClr val="156082"/>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304" name="Google Shape;304;p37"/>
          <p:cNvSpPr/>
          <p:nvPr/>
        </p:nvSpPr>
        <p:spPr>
          <a:xfrm>
            <a:off x="502920" y="1691640"/>
            <a:ext cx="731520" cy="566928"/>
          </a:xfrm>
          <a:prstGeom prst="rect">
            <a:avLst/>
          </a:prstGeom>
          <a:solidFill>
            <a:srgbClr val="0E2841"/>
          </a:solidFill>
          <a:ln cap="flat" cmpd="sng" w="9525">
            <a:solidFill>
              <a:srgbClr val="0E2841"/>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91425" spcFirstLastPara="1" rIns="91425" wrap="square" tIns="0">
            <a:noAutofit/>
          </a:bodyPr>
          <a:lstStyle/>
          <a:p>
            <a:pPr indent="0" lvl="0" marL="0" marR="0" rtl="0" algn="l">
              <a:spcBef>
                <a:spcPts val="0"/>
              </a:spcBef>
              <a:spcAft>
                <a:spcPts val="0"/>
              </a:spcAft>
              <a:buNone/>
            </a:pPr>
            <a:r>
              <a:rPr b="1" i="0" lang="en-US" sz="1300" u="none" cap="none" strike="noStrike">
                <a:solidFill>
                  <a:srgbClr val="FFFFFF"/>
                </a:solidFill>
                <a:latin typeface="Calibri"/>
                <a:ea typeface="Calibri"/>
                <a:cs typeface="Calibri"/>
                <a:sym typeface="Calibri"/>
              </a:rPr>
              <a:t>Tier</a:t>
            </a:r>
            <a:endParaRPr/>
          </a:p>
        </p:txBody>
      </p:sp>
      <p:sp>
        <p:nvSpPr>
          <p:cNvPr id="305" name="Google Shape;305;p37"/>
          <p:cNvSpPr/>
          <p:nvPr/>
        </p:nvSpPr>
        <p:spPr>
          <a:xfrm>
            <a:off x="1234440" y="1691640"/>
            <a:ext cx="2011680" cy="566928"/>
          </a:xfrm>
          <a:prstGeom prst="rect">
            <a:avLst/>
          </a:prstGeom>
          <a:solidFill>
            <a:srgbClr val="0E2841"/>
          </a:solidFill>
          <a:ln cap="flat" cmpd="sng" w="9525">
            <a:solidFill>
              <a:srgbClr val="0E2841"/>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91425" spcFirstLastPara="1" rIns="91425" wrap="square" tIns="0">
            <a:noAutofit/>
          </a:bodyPr>
          <a:lstStyle/>
          <a:p>
            <a:pPr indent="0" lvl="0" marL="0" marR="0" rtl="0" algn="l">
              <a:spcBef>
                <a:spcPts val="0"/>
              </a:spcBef>
              <a:spcAft>
                <a:spcPts val="0"/>
              </a:spcAft>
              <a:buNone/>
            </a:pPr>
            <a:r>
              <a:rPr b="1" i="0" lang="en-US" sz="1300" u="none" cap="none" strike="noStrike">
                <a:solidFill>
                  <a:srgbClr val="FFFFFF"/>
                </a:solidFill>
                <a:latin typeface="Calibri"/>
                <a:ea typeface="Calibri"/>
                <a:cs typeface="Calibri"/>
                <a:sym typeface="Calibri"/>
              </a:rPr>
              <a:t>Name</a:t>
            </a:r>
            <a:endParaRPr/>
          </a:p>
        </p:txBody>
      </p:sp>
      <p:sp>
        <p:nvSpPr>
          <p:cNvPr id="306" name="Google Shape;306;p37"/>
          <p:cNvSpPr/>
          <p:nvPr/>
        </p:nvSpPr>
        <p:spPr>
          <a:xfrm>
            <a:off x="3246120" y="1691640"/>
            <a:ext cx="1097280" cy="566928"/>
          </a:xfrm>
          <a:prstGeom prst="rect">
            <a:avLst/>
          </a:prstGeom>
          <a:solidFill>
            <a:srgbClr val="0E2841"/>
          </a:solidFill>
          <a:ln cap="flat" cmpd="sng" w="9525">
            <a:solidFill>
              <a:srgbClr val="0E2841"/>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91425" spcFirstLastPara="1" rIns="91425" wrap="square" tIns="0">
            <a:noAutofit/>
          </a:bodyPr>
          <a:lstStyle/>
          <a:p>
            <a:pPr indent="0" lvl="0" marL="0" marR="0" rtl="0" algn="l">
              <a:spcBef>
                <a:spcPts val="0"/>
              </a:spcBef>
              <a:spcAft>
                <a:spcPts val="0"/>
              </a:spcAft>
              <a:buNone/>
            </a:pPr>
            <a:r>
              <a:rPr b="1" i="0" lang="en-US" sz="1300" u="none" cap="none" strike="noStrike">
                <a:solidFill>
                  <a:srgbClr val="FFFFFF"/>
                </a:solidFill>
                <a:latin typeface="Calibri"/>
                <a:ea typeface="Calibri"/>
                <a:cs typeface="Calibri"/>
                <a:sym typeface="Calibri"/>
              </a:rPr>
              <a:t># Feats</a:t>
            </a:r>
            <a:endParaRPr/>
          </a:p>
        </p:txBody>
      </p:sp>
      <p:sp>
        <p:nvSpPr>
          <p:cNvPr id="307" name="Google Shape;307;p37"/>
          <p:cNvSpPr/>
          <p:nvPr/>
        </p:nvSpPr>
        <p:spPr>
          <a:xfrm>
            <a:off x="4343400" y="1691640"/>
            <a:ext cx="4023360" cy="566928"/>
          </a:xfrm>
          <a:prstGeom prst="rect">
            <a:avLst/>
          </a:prstGeom>
          <a:solidFill>
            <a:srgbClr val="0E2841"/>
          </a:solidFill>
          <a:ln cap="flat" cmpd="sng" w="9525">
            <a:solidFill>
              <a:srgbClr val="0E2841"/>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91425" spcFirstLastPara="1" rIns="91425" wrap="square" tIns="0">
            <a:noAutofit/>
          </a:bodyPr>
          <a:lstStyle/>
          <a:p>
            <a:pPr indent="0" lvl="0" marL="0" marR="0" rtl="0" algn="l">
              <a:spcBef>
                <a:spcPts val="0"/>
              </a:spcBef>
              <a:spcAft>
                <a:spcPts val="0"/>
              </a:spcAft>
              <a:buNone/>
            </a:pPr>
            <a:r>
              <a:rPr b="1" i="0" lang="en-US" sz="1300" u="none" cap="none" strike="noStrike">
                <a:solidFill>
                  <a:srgbClr val="FFFFFF"/>
                </a:solidFill>
                <a:latin typeface="Calibri"/>
                <a:ea typeface="Calibri"/>
                <a:cs typeface="Calibri"/>
                <a:sym typeface="Calibri"/>
              </a:rPr>
              <a:t>What's added</a:t>
            </a:r>
            <a:endParaRPr/>
          </a:p>
        </p:txBody>
      </p:sp>
      <p:sp>
        <p:nvSpPr>
          <p:cNvPr id="308" name="Google Shape;308;p37"/>
          <p:cNvSpPr/>
          <p:nvPr/>
        </p:nvSpPr>
        <p:spPr>
          <a:xfrm>
            <a:off x="8366760" y="1691640"/>
            <a:ext cx="1188720" cy="566928"/>
          </a:xfrm>
          <a:prstGeom prst="rect">
            <a:avLst/>
          </a:prstGeom>
          <a:solidFill>
            <a:srgbClr val="0E2841"/>
          </a:solidFill>
          <a:ln cap="flat" cmpd="sng" w="9525">
            <a:solidFill>
              <a:srgbClr val="0E2841"/>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91425" spcFirstLastPara="1" rIns="91425" wrap="square" tIns="0">
            <a:noAutofit/>
          </a:bodyPr>
          <a:lstStyle/>
          <a:p>
            <a:pPr indent="0" lvl="0" marL="0" marR="0" rtl="0" algn="l">
              <a:spcBef>
                <a:spcPts val="0"/>
              </a:spcBef>
              <a:spcAft>
                <a:spcPts val="0"/>
              </a:spcAft>
              <a:buNone/>
            </a:pPr>
            <a:r>
              <a:rPr b="1" i="0" lang="en-US" sz="1300" u="none" cap="none" strike="noStrike">
                <a:solidFill>
                  <a:srgbClr val="FFFFFF"/>
                </a:solidFill>
                <a:latin typeface="Calibri"/>
                <a:ea typeface="Calibri"/>
                <a:cs typeface="Calibri"/>
                <a:sym typeface="Calibri"/>
              </a:rPr>
              <a:t>Coverage</a:t>
            </a:r>
            <a:endParaRPr/>
          </a:p>
        </p:txBody>
      </p:sp>
      <p:sp>
        <p:nvSpPr>
          <p:cNvPr id="309" name="Google Shape;309;p37"/>
          <p:cNvSpPr/>
          <p:nvPr/>
        </p:nvSpPr>
        <p:spPr>
          <a:xfrm>
            <a:off x="502920" y="2258568"/>
            <a:ext cx="731520" cy="566928"/>
          </a:xfrm>
          <a:prstGeom prst="rect">
            <a:avLst/>
          </a:prstGeom>
          <a:solidFill>
            <a:srgbClr val="FFFFFF"/>
          </a:solidFill>
          <a:ln cap="flat" cmpd="sng" w="9525">
            <a:solidFill>
              <a:srgbClr val="CDD4D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91425" spcFirstLastPara="1" rIns="91425" wrap="square" tIns="0">
            <a:noAutofit/>
          </a:bodyPr>
          <a:lstStyle/>
          <a:p>
            <a:pPr indent="0" lvl="0" marL="0" marR="0" rtl="0" algn="l">
              <a:spcBef>
                <a:spcPts val="0"/>
              </a:spcBef>
              <a:spcAft>
                <a:spcPts val="0"/>
              </a:spcAft>
              <a:buNone/>
            </a:pPr>
            <a:r>
              <a:rPr b="1" i="0" lang="en-US" sz="1200" u="none" cap="none" strike="noStrike">
                <a:solidFill>
                  <a:srgbClr val="101010"/>
                </a:solidFill>
                <a:latin typeface="Calibri"/>
                <a:ea typeface="Calibri"/>
                <a:cs typeface="Calibri"/>
                <a:sym typeface="Calibri"/>
              </a:rPr>
              <a:t>1</a:t>
            </a:r>
            <a:endParaRPr/>
          </a:p>
        </p:txBody>
      </p:sp>
      <p:sp>
        <p:nvSpPr>
          <p:cNvPr id="310" name="Google Shape;310;p37"/>
          <p:cNvSpPr/>
          <p:nvPr/>
        </p:nvSpPr>
        <p:spPr>
          <a:xfrm>
            <a:off x="1234440" y="2258568"/>
            <a:ext cx="2011680" cy="566928"/>
          </a:xfrm>
          <a:prstGeom prst="rect">
            <a:avLst/>
          </a:prstGeom>
          <a:solidFill>
            <a:srgbClr val="FFFFFF"/>
          </a:solidFill>
          <a:ln cap="flat" cmpd="sng" w="9525">
            <a:solidFill>
              <a:srgbClr val="CDD4D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91425" spcFirstLastPara="1" rIns="91425" wrap="square" tIns="0">
            <a:noAutofit/>
          </a:bodyPr>
          <a:lstStyle/>
          <a:p>
            <a:pPr indent="0" lvl="0" marL="0" marR="0" rtl="0" algn="l">
              <a:spcBef>
                <a:spcPts val="0"/>
              </a:spcBef>
              <a:spcAft>
                <a:spcPts val="0"/>
              </a:spcAft>
              <a:buNone/>
            </a:pPr>
            <a:r>
              <a:rPr b="0" i="0" lang="en-US" sz="1200" u="none" cap="none" strike="noStrike">
                <a:solidFill>
                  <a:srgbClr val="101010"/>
                </a:solidFill>
                <a:latin typeface="Calibri"/>
                <a:ea typeface="Calibri"/>
                <a:cs typeface="Calibri"/>
                <a:sym typeface="Calibri"/>
              </a:rPr>
              <a:t>Core</a:t>
            </a:r>
            <a:endParaRPr/>
          </a:p>
        </p:txBody>
      </p:sp>
      <p:sp>
        <p:nvSpPr>
          <p:cNvPr id="311" name="Google Shape;311;p37"/>
          <p:cNvSpPr/>
          <p:nvPr/>
        </p:nvSpPr>
        <p:spPr>
          <a:xfrm>
            <a:off x="3246120" y="2258568"/>
            <a:ext cx="1097280" cy="566928"/>
          </a:xfrm>
          <a:prstGeom prst="rect">
            <a:avLst/>
          </a:prstGeom>
          <a:solidFill>
            <a:srgbClr val="FFFFFF"/>
          </a:solidFill>
          <a:ln cap="flat" cmpd="sng" w="9525">
            <a:solidFill>
              <a:srgbClr val="CDD4D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91425" spcFirstLastPara="1" rIns="91425" wrap="square" tIns="0">
            <a:noAutofit/>
          </a:bodyPr>
          <a:lstStyle/>
          <a:p>
            <a:pPr indent="0" lvl="0" marL="0" marR="0" rtl="0" algn="l">
              <a:spcBef>
                <a:spcPts val="0"/>
              </a:spcBef>
              <a:spcAft>
                <a:spcPts val="0"/>
              </a:spcAft>
              <a:buNone/>
            </a:pPr>
            <a:r>
              <a:rPr b="0" i="0" lang="en-US" sz="1200" u="none" cap="none" strike="noStrike">
                <a:solidFill>
                  <a:srgbClr val="101010"/>
                </a:solidFill>
                <a:latin typeface="Calibri"/>
                <a:ea typeface="Calibri"/>
                <a:cs typeface="Calibri"/>
                <a:sym typeface="Calibri"/>
              </a:rPr>
              <a:t>15</a:t>
            </a:r>
            <a:endParaRPr/>
          </a:p>
        </p:txBody>
      </p:sp>
      <p:sp>
        <p:nvSpPr>
          <p:cNvPr id="312" name="Google Shape;312;p37"/>
          <p:cNvSpPr/>
          <p:nvPr/>
        </p:nvSpPr>
        <p:spPr>
          <a:xfrm>
            <a:off x="4343400" y="2258568"/>
            <a:ext cx="4023360" cy="566928"/>
          </a:xfrm>
          <a:prstGeom prst="rect">
            <a:avLst/>
          </a:prstGeom>
          <a:solidFill>
            <a:srgbClr val="FFFFFF"/>
          </a:solidFill>
          <a:ln cap="flat" cmpd="sng" w="9525">
            <a:solidFill>
              <a:srgbClr val="CDD4D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91425" spcFirstLastPara="1" rIns="91425" wrap="square" tIns="0">
            <a:noAutofit/>
          </a:bodyPr>
          <a:lstStyle/>
          <a:p>
            <a:pPr indent="0" lvl="0" marL="0" marR="0" rtl="0" algn="l">
              <a:spcBef>
                <a:spcPts val="0"/>
              </a:spcBef>
              <a:spcAft>
                <a:spcPts val="0"/>
              </a:spcAft>
              <a:buNone/>
            </a:pPr>
            <a:r>
              <a:rPr b="0" i="0" lang="en-US" sz="1200" u="none" cap="none" strike="noStrike">
                <a:solidFill>
                  <a:srgbClr val="101010"/>
                </a:solidFill>
                <a:latin typeface="Calibri"/>
                <a:ea typeface="Calibri"/>
                <a:cs typeface="Calibri"/>
                <a:sym typeface="Calibri"/>
              </a:rPr>
              <a:t>Demographics, anthropometrics (BMI, WHtR, WWI), BP, urine protein</a:t>
            </a:r>
            <a:endParaRPr/>
          </a:p>
        </p:txBody>
      </p:sp>
      <p:sp>
        <p:nvSpPr>
          <p:cNvPr id="313" name="Google Shape;313;p37"/>
          <p:cNvSpPr/>
          <p:nvPr/>
        </p:nvSpPr>
        <p:spPr>
          <a:xfrm>
            <a:off x="8366760" y="2258568"/>
            <a:ext cx="1188720" cy="566928"/>
          </a:xfrm>
          <a:prstGeom prst="rect">
            <a:avLst/>
          </a:prstGeom>
          <a:solidFill>
            <a:srgbClr val="FFFFFF"/>
          </a:solidFill>
          <a:ln cap="flat" cmpd="sng" w="9525">
            <a:solidFill>
              <a:srgbClr val="CDD4D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91425" spcFirstLastPara="1" rIns="91425" wrap="square" tIns="0">
            <a:noAutofit/>
          </a:bodyPr>
          <a:lstStyle/>
          <a:p>
            <a:pPr indent="0" lvl="0" marL="0" marR="0" rtl="0" algn="l">
              <a:spcBef>
                <a:spcPts val="0"/>
              </a:spcBef>
              <a:spcAft>
                <a:spcPts val="0"/>
              </a:spcAft>
              <a:buNone/>
            </a:pPr>
            <a:r>
              <a:rPr b="0" i="0" lang="en-US" sz="1200" u="none" cap="none" strike="noStrike">
                <a:solidFill>
                  <a:srgbClr val="101010"/>
                </a:solidFill>
                <a:latin typeface="Calibri"/>
                <a:ea typeface="Calibri"/>
                <a:cs typeface="Calibri"/>
                <a:sym typeface="Calibri"/>
              </a:rPr>
              <a:t>All examinees</a:t>
            </a:r>
            <a:endParaRPr/>
          </a:p>
        </p:txBody>
      </p:sp>
      <p:sp>
        <p:nvSpPr>
          <p:cNvPr id="314" name="Google Shape;314;p37"/>
          <p:cNvSpPr/>
          <p:nvPr/>
        </p:nvSpPr>
        <p:spPr>
          <a:xfrm>
            <a:off x="502920" y="2825496"/>
            <a:ext cx="731520" cy="566928"/>
          </a:xfrm>
          <a:prstGeom prst="rect">
            <a:avLst/>
          </a:prstGeom>
          <a:solidFill>
            <a:srgbClr val="F4F7FA"/>
          </a:solidFill>
          <a:ln cap="flat" cmpd="sng" w="9525">
            <a:solidFill>
              <a:srgbClr val="CDD4D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91425" spcFirstLastPara="1" rIns="91425" wrap="square" tIns="0">
            <a:noAutofit/>
          </a:bodyPr>
          <a:lstStyle/>
          <a:p>
            <a:pPr indent="0" lvl="0" marL="0" marR="0" rtl="0" algn="l">
              <a:spcBef>
                <a:spcPts val="0"/>
              </a:spcBef>
              <a:spcAft>
                <a:spcPts val="0"/>
              </a:spcAft>
              <a:buNone/>
            </a:pPr>
            <a:r>
              <a:rPr b="1" i="0" lang="en-US" sz="1200" u="none" cap="none" strike="noStrike">
                <a:solidFill>
                  <a:srgbClr val="101010"/>
                </a:solidFill>
                <a:latin typeface="Calibri"/>
                <a:ea typeface="Calibri"/>
                <a:cs typeface="Calibri"/>
                <a:sym typeface="Calibri"/>
              </a:rPr>
              <a:t>2</a:t>
            </a:r>
            <a:endParaRPr/>
          </a:p>
        </p:txBody>
      </p:sp>
      <p:sp>
        <p:nvSpPr>
          <p:cNvPr id="315" name="Google Shape;315;p37"/>
          <p:cNvSpPr/>
          <p:nvPr/>
        </p:nvSpPr>
        <p:spPr>
          <a:xfrm>
            <a:off x="1234440" y="2825496"/>
            <a:ext cx="2011680" cy="566928"/>
          </a:xfrm>
          <a:prstGeom prst="rect">
            <a:avLst/>
          </a:prstGeom>
          <a:solidFill>
            <a:srgbClr val="F4F7FA"/>
          </a:solidFill>
          <a:ln cap="flat" cmpd="sng" w="9525">
            <a:solidFill>
              <a:srgbClr val="CDD4D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91425" spcFirstLastPara="1" rIns="91425" wrap="square" tIns="0">
            <a:noAutofit/>
          </a:bodyPr>
          <a:lstStyle/>
          <a:p>
            <a:pPr indent="0" lvl="0" marL="0" marR="0" rtl="0" algn="l">
              <a:spcBef>
                <a:spcPts val="0"/>
              </a:spcBef>
              <a:spcAft>
                <a:spcPts val="0"/>
              </a:spcAft>
              <a:buNone/>
            </a:pPr>
            <a:r>
              <a:rPr b="0" i="0" lang="en-US" sz="1200" u="none" cap="none" strike="noStrike">
                <a:solidFill>
                  <a:srgbClr val="101010"/>
                </a:solidFill>
                <a:latin typeface="Calibri"/>
                <a:ea typeface="Calibri"/>
                <a:cs typeface="Calibri"/>
                <a:sym typeface="Calibri"/>
              </a:rPr>
              <a:t>Core + Labs</a:t>
            </a:r>
            <a:endParaRPr/>
          </a:p>
        </p:txBody>
      </p:sp>
      <p:sp>
        <p:nvSpPr>
          <p:cNvPr id="316" name="Google Shape;316;p37"/>
          <p:cNvSpPr/>
          <p:nvPr/>
        </p:nvSpPr>
        <p:spPr>
          <a:xfrm>
            <a:off x="3246120" y="2825496"/>
            <a:ext cx="1097280" cy="566928"/>
          </a:xfrm>
          <a:prstGeom prst="rect">
            <a:avLst/>
          </a:prstGeom>
          <a:solidFill>
            <a:srgbClr val="F4F7FA"/>
          </a:solidFill>
          <a:ln cap="flat" cmpd="sng" w="9525">
            <a:solidFill>
              <a:srgbClr val="CDD4D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91425" spcFirstLastPara="1" rIns="91425" wrap="square" tIns="0">
            <a:noAutofit/>
          </a:bodyPr>
          <a:lstStyle/>
          <a:p>
            <a:pPr indent="0" lvl="0" marL="0" marR="0" rtl="0" algn="l">
              <a:spcBef>
                <a:spcPts val="0"/>
              </a:spcBef>
              <a:spcAft>
                <a:spcPts val="0"/>
              </a:spcAft>
              <a:buNone/>
            </a:pPr>
            <a:r>
              <a:rPr b="0" i="0" lang="en-US" sz="1200" u="none" cap="none" strike="noStrike">
                <a:solidFill>
                  <a:srgbClr val="101010"/>
                </a:solidFill>
                <a:latin typeface="Calibri"/>
                <a:ea typeface="Calibri"/>
                <a:cs typeface="Calibri"/>
                <a:sym typeface="Calibri"/>
              </a:rPr>
              <a:t>26</a:t>
            </a:r>
            <a:endParaRPr/>
          </a:p>
        </p:txBody>
      </p:sp>
      <p:sp>
        <p:nvSpPr>
          <p:cNvPr id="317" name="Google Shape;317;p37"/>
          <p:cNvSpPr/>
          <p:nvPr/>
        </p:nvSpPr>
        <p:spPr>
          <a:xfrm>
            <a:off x="4343400" y="2825496"/>
            <a:ext cx="4023360" cy="566928"/>
          </a:xfrm>
          <a:prstGeom prst="rect">
            <a:avLst/>
          </a:prstGeom>
          <a:solidFill>
            <a:srgbClr val="F4F7FA"/>
          </a:solidFill>
          <a:ln cap="flat" cmpd="sng" w="9525">
            <a:solidFill>
              <a:srgbClr val="CDD4D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91425" spcFirstLastPara="1" rIns="91425" wrap="square" tIns="0">
            <a:noAutofit/>
          </a:bodyPr>
          <a:lstStyle/>
          <a:p>
            <a:pPr indent="0" lvl="0" marL="0" marR="0" rtl="0" algn="l">
              <a:spcBef>
                <a:spcPts val="0"/>
              </a:spcBef>
              <a:spcAft>
                <a:spcPts val="0"/>
              </a:spcAft>
              <a:buNone/>
            </a:pPr>
            <a:r>
              <a:rPr b="0" i="0" lang="en-US" sz="1200" u="none" cap="none" strike="noStrike">
                <a:solidFill>
                  <a:srgbClr val="101010"/>
                </a:solidFill>
                <a:latin typeface="Calibri"/>
                <a:ea typeface="Calibri"/>
                <a:cs typeface="Calibri"/>
                <a:sym typeface="Calibri"/>
              </a:rPr>
              <a:t>Adds hemoglobin, creatinine, log AST/ALT/GGT, AST/ALT ratio</a:t>
            </a:r>
            <a:endParaRPr/>
          </a:p>
        </p:txBody>
      </p:sp>
      <p:sp>
        <p:nvSpPr>
          <p:cNvPr id="318" name="Google Shape;318;p37"/>
          <p:cNvSpPr/>
          <p:nvPr/>
        </p:nvSpPr>
        <p:spPr>
          <a:xfrm>
            <a:off x="8366760" y="2825496"/>
            <a:ext cx="1188720" cy="566928"/>
          </a:xfrm>
          <a:prstGeom prst="rect">
            <a:avLst/>
          </a:prstGeom>
          <a:solidFill>
            <a:srgbClr val="F4F7FA"/>
          </a:solidFill>
          <a:ln cap="flat" cmpd="sng" w="9525">
            <a:solidFill>
              <a:srgbClr val="CDD4D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91425" spcFirstLastPara="1" rIns="91425" wrap="square" tIns="0">
            <a:noAutofit/>
          </a:bodyPr>
          <a:lstStyle/>
          <a:p>
            <a:pPr indent="0" lvl="0" marL="0" marR="0" rtl="0" algn="l">
              <a:spcBef>
                <a:spcPts val="0"/>
              </a:spcBef>
              <a:spcAft>
                <a:spcPts val="0"/>
              </a:spcAft>
              <a:buNone/>
            </a:pPr>
            <a:r>
              <a:rPr b="0" i="0" lang="en-US" sz="1200" u="none" cap="none" strike="noStrike">
                <a:solidFill>
                  <a:srgbClr val="101010"/>
                </a:solidFill>
                <a:latin typeface="Calibri"/>
                <a:ea typeface="Calibri"/>
                <a:cs typeface="Calibri"/>
                <a:sym typeface="Calibri"/>
              </a:rPr>
              <a:t>All examinees</a:t>
            </a:r>
            <a:endParaRPr/>
          </a:p>
        </p:txBody>
      </p:sp>
      <p:sp>
        <p:nvSpPr>
          <p:cNvPr id="319" name="Google Shape;319;p37"/>
          <p:cNvSpPr/>
          <p:nvPr/>
        </p:nvSpPr>
        <p:spPr>
          <a:xfrm>
            <a:off x="502920" y="3392424"/>
            <a:ext cx="731520" cy="566928"/>
          </a:xfrm>
          <a:prstGeom prst="rect">
            <a:avLst/>
          </a:prstGeom>
          <a:solidFill>
            <a:srgbClr val="FFFFFF"/>
          </a:solidFill>
          <a:ln cap="flat" cmpd="sng" w="9525">
            <a:solidFill>
              <a:srgbClr val="CDD4D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91425" spcFirstLastPara="1" rIns="91425" wrap="square" tIns="0">
            <a:noAutofit/>
          </a:bodyPr>
          <a:lstStyle/>
          <a:p>
            <a:pPr indent="0" lvl="0" marL="0" marR="0" rtl="0" algn="l">
              <a:spcBef>
                <a:spcPts val="0"/>
              </a:spcBef>
              <a:spcAft>
                <a:spcPts val="0"/>
              </a:spcAft>
              <a:buNone/>
            </a:pPr>
            <a:r>
              <a:rPr b="1" i="0" lang="en-US" sz="1200" u="none" cap="none" strike="noStrike">
                <a:solidFill>
                  <a:srgbClr val="101010"/>
                </a:solidFill>
                <a:latin typeface="Calibri"/>
                <a:ea typeface="Calibri"/>
                <a:cs typeface="Calibri"/>
                <a:sym typeface="Calibri"/>
              </a:rPr>
              <a:t>3</a:t>
            </a:r>
            <a:endParaRPr/>
          </a:p>
        </p:txBody>
      </p:sp>
      <p:sp>
        <p:nvSpPr>
          <p:cNvPr id="320" name="Google Shape;320;p37"/>
          <p:cNvSpPr/>
          <p:nvPr/>
        </p:nvSpPr>
        <p:spPr>
          <a:xfrm>
            <a:off x="1234440" y="3392424"/>
            <a:ext cx="2011680" cy="566928"/>
          </a:xfrm>
          <a:prstGeom prst="rect">
            <a:avLst/>
          </a:prstGeom>
          <a:solidFill>
            <a:srgbClr val="FFFFFF"/>
          </a:solidFill>
          <a:ln cap="flat" cmpd="sng" w="9525">
            <a:solidFill>
              <a:srgbClr val="CDD4D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91425" spcFirstLastPara="1" rIns="91425" wrap="square" tIns="0">
            <a:noAutofit/>
          </a:bodyPr>
          <a:lstStyle/>
          <a:p>
            <a:pPr indent="0" lvl="0" marL="0" marR="0" rtl="0" algn="l">
              <a:spcBef>
                <a:spcPts val="0"/>
              </a:spcBef>
              <a:spcAft>
                <a:spcPts val="0"/>
              </a:spcAft>
              <a:buNone/>
            </a:pPr>
            <a:r>
              <a:rPr b="0" i="0" lang="en-US" sz="1200" u="none" cap="none" strike="noStrike">
                <a:solidFill>
                  <a:srgbClr val="101010"/>
                </a:solidFill>
                <a:latin typeface="Calibri"/>
                <a:ea typeface="Calibri"/>
                <a:cs typeface="Calibri"/>
                <a:sym typeface="Calibri"/>
              </a:rPr>
              <a:t>Full</a:t>
            </a:r>
            <a:endParaRPr/>
          </a:p>
        </p:txBody>
      </p:sp>
      <p:sp>
        <p:nvSpPr>
          <p:cNvPr id="321" name="Google Shape;321;p37"/>
          <p:cNvSpPr/>
          <p:nvPr/>
        </p:nvSpPr>
        <p:spPr>
          <a:xfrm>
            <a:off x="3246120" y="3392424"/>
            <a:ext cx="1097280" cy="566928"/>
          </a:xfrm>
          <a:prstGeom prst="rect">
            <a:avLst/>
          </a:prstGeom>
          <a:solidFill>
            <a:srgbClr val="FFFFFF"/>
          </a:solidFill>
          <a:ln cap="flat" cmpd="sng" w="9525">
            <a:solidFill>
              <a:srgbClr val="CDD4D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91425" spcFirstLastPara="1" rIns="91425" wrap="square" tIns="0">
            <a:noAutofit/>
          </a:bodyPr>
          <a:lstStyle/>
          <a:p>
            <a:pPr indent="0" lvl="0" marL="0" marR="0" rtl="0" algn="l">
              <a:spcBef>
                <a:spcPts val="0"/>
              </a:spcBef>
              <a:spcAft>
                <a:spcPts val="0"/>
              </a:spcAft>
              <a:buNone/>
            </a:pPr>
            <a:r>
              <a:rPr b="0" i="0" lang="en-US" sz="1200" u="none" cap="none" strike="noStrike">
                <a:solidFill>
                  <a:srgbClr val="101010"/>
                </a:solidFill>
                <a:latin typeface="Calibri"/>
                <a:ea typeface="Calibri"/>
                <a:cs typeface="Calibri"/>
                <a:sym typeface="Calibri"/>
              </a:rPr>
              <a:t>40</a:t>
            </a:r>
            <a:endParaRPr/>
          </a:p>
        </p:txBody>
      </p:sp>
      <p:sp>
        <p:nvSpPr>
          <p:cNvPr id="322" name="Google Shape;322;p37"/>
          <p:cNvSpPr/>
          <p:nvPr/>
        </p:nvSpPr>
        <p:spPr>
          <a:xfrm>
            <a:off x="4343400" y="3392424"/>
            <a:ext cx="4023360" cy="566928"/>
          </a:xfrm>
          <a:prstGeom prst="rect">
            <a:avLst/>
          </a:prstGeom>
          <a:solidFill>
            <a:srgbClr val="FFFFFF"/>
          </a:solidFill>
          <a:ln cap="flat" cmpd="sng" w="9525">
            <a:solidFill>
              <a:srgbClr val="CDD4D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91425" spcFirstLastPara="1" rIns="91425" wrap="square" tIns="0">
            <a:noAutofit/>
          </a:bodyPr>
          <a:lstStyle/>
          <a:p>
            <a:pPr indent="0" lvl="0" marL="0" marR="0" rtl="0" algn="l">
              <a:spcBef>
                <a:spcPts val="0"/>
              </a:spcBef>
              <a:spcAft>
                <a:spcPts val="0"/>
              </a:spcAft>
              <a:buNone/>
            </a:pPr>
            <a:r>
              <a:rPr b="0" i="0" lang="en-US" sz="1200" u="none" cap="none" strike="noStrike">
                <a:solidFill>
                  <a:srgbClr val="101010"/>
                </a:solidFill>
                <a:latin typeface="Calibri"/>
                <a:ea typeface="Calibri"/>
                <a:cs typeface="Calibri"/>
                <a:sym typeface="Calibri"/>
              </a:rPr>
              <a:t>Adds full lipid panel + ratios (TG/HDL, TC/HDL, LDL/HDL)</a:t>
            </a:r>
            <a:endParaRPr/>
          </a:p>
        </p:txBody>
      </p:sp>
      <p:sp>
        <p:nvSpPr>
          <p:cNvPr id="323" name="Google Shape;323;p37"/>
          <p:cNvSpPr/>
          <p:nvPr/>
        </p:nvSpPr>
        <p:spPr>
          <a:xfrm>
            <a:off x="8366760" y="3392424"/>
            <a:ext cx="1188720" cy="566928"/>
          </a:xfrm>
          <a:prstGeom prst="rect">
            <a:avLst/>
          </a:prstGeom>
          <a:solidFill>
            <a:srgbClr val="FFFFFF"/>
          </a:solidFill>
          <a:ln cap="flat" cmpd="sng" w="9525">
            <a:solidFill>
              <a:srgbClr val="CDD4D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91425" spcFirstLastPara="1" rIns="91425" wrap="square" tIns="0">
            <a:noAutofit/>
          </a:bodyPr>
          <a:lstStyle/>
          <a:p>
            <a:pPr indent="0" lvl="0" marL="0" marR="0" rtl="0" algn="l">
              <a:spcBef>
                <a:spcPts val="0"/>
              </a:spcBef>
              <a:spcAft>
                <a:spcPts val="0"/>
              </a:spcAft>
              <a:buNone/>
            </a:pPr>
            <a:r>
              <a:rPr b="0" i="0" lang="en-US" sz="1200" u="none" cap="none" strike="noStrike">
                <a:solidFill>
                  <a:srgbClr val="101010"/>
                </a:solidFill>
                <a:latin typeface="Calibri"/>
                <a:ea typeface="Calibri"/>
                <a:cs typeface="Calibri"/>
                <a:sym typeface="Calibri"/>
              </a:rPr>
              <a:t>~34 % (lipids optional)</a:t>
            </a:r>
            <a:endParaRPr/>
          </a:p>
        </p:txBody>
      </p:sp>
      <p:sp>
        <p:nvSpPr>
          <p:cNvPr id="324" name="Google Shape;324;p37"/>
          <p:cNvSpPr txBox="1"/>
          <p:nvPr/>
        </p:nvSpPr>
        <p:spPr>
          <a:xfrm>
            <a:off x="502920" y="4069080"/>
            <a:ext cx="9052560" cy="41148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1" lang="en-US" sz="1100" u="none" cap="none" strike="noStrike">
                <a:solidFill>
                  <a:srgbClr val="555555"/>
                </a:solidFill>
                <a:latin typeface="Calibri"/>
                <a:ea typeface="Calibri"/>
                <a:cs typeface="Calibri"/>
                <a:sym typeface="Calibri"/>
              </a:rPr>
              <a:t>Table 4. Each tier strictly contains the previous one — the design enables a clean ablation of the marginal value of each data category.</a:t>
            </a:r>
            <a:endParaRPr/>
          </a:p>
        </p:txBody>
      </p:sp>
      <p:sp>
        <p:nvSpPr>
          <p:cNvPr id="325" name="Google Shape;325;p37"/>
          <p:cNvSpPr/>
          <p:nvPr/>
        </p:nvSpPr>
        <p:spPr>
          <a:xfrm>
            <a:off x="502925" y="4863575"/>
            <a:ext cx="9144000" cy="1903200"/>
          </a:xfrm>
          <a:prstGeom prst="roundRect">
            <a:avLst>
              <a:gd fmla="val 16667" name="adj"/>
            </a:avLst>
          </a:prstGeom>
          <a:solidFill>
            <a:srgbClr val="0E2841"/>
          </a:solidFill>
          <a:ln>
            <a:noFill/>
          </a:ln>
          <a:effectLst>
            <a:outerShdw blurRad="40000" rotWithShape="0" dir="5400000" dist="23000">
              <a:srgbClr val="000000">
                <a:alpha val="34901"/>
              </a:srgbClr>
            </a:outerShdw>
          </a:effectLst>
        </p:spPr>
        <p:txBody>
          <a:bodyPr anchorCtr="0" anchor="ctr" bIns="182875" lIns="274300" spcFirstLastPara="1" rIns="274300" wrap="square" tIns="182875">
            <a:noAutofit/>
          </a:bodyPr>
          <a:lstStyle/>
          <a:p>
            <a:pPr indent="0" lvl="0" marL="0" marR="0" rtl="0" algn="ctr">
              <a:spcBef>
                <a:spcPts val="0"/>
              </a:spcBef>
              <a:spcAft>
                <a:spcPts val="0"/>
              </a:spcAft>
              <a:buNone/>
            </a:pPr>
            <a:r>
              <a:rPr b="1" i="0" lang="en-US" sz="2000" u="none" cap="none" strike="noStrike">
                <a:solidFill>
                  <a:srgbClr val="FFFFFF"/>
                </a:solidFill>
                <a:latin typeface="Calibri"/>
                <a:ea typeface="Calibri"/>
                <a:cs typeface="Calibri"/>
                <a:sym typeface="Calibri"/>
              </a:rPr>
              <a:t>Why nested?</a:t>
            </a:r>
            <a:endParaRPr sz="1600"/>
          </a:p>
          <a:p>
            <a:pPr indent="0" lvl="0" marL="0" marR="0" rtl="0" algn="ctr">
              <a:spcBef>
                <a:spcPts val="0"/>
              </a:spcBef>
              <a:spcAft>
                <a:spcPts val="0"/>
              </a:spcAft>
              <a:buNone/>
            </a:pPr>
            <a:r>
              <a:rPr b="0" i="0" lang="en-US" sz="1700" u="none" cap="none" strike="noStrike">
                <a:solidFill>
                  <a:srgbClr val="FFFFFF"/>
                </a:solidFill>
                <a:latin typeface="Calibri"/>
                <a:ea typeface="Calibri"/>
                <a:cs typeface="Calibri"/>
                <a:sym typeface="Calibri"/>
              </a:rPr>
              <a:t>~66% of NHIS records lack a lipid panel because the test is optional. Nested tiers let us measure exactly how much each data category buys us — and confirm the model degrades gracefully without lipids.</a:t>
            </a:r>
            <a:endParaRPr sz="1600"/>
          </a:p>
        </p:txBody>
      </p:sp>
      <p:sp>
        <p:nvSpPr>
          <p:cNvPr id="326" name="Google Shape;326;p37"/>
          <p:cNvSpPr txBox="1"/>
          <p:nvPr/>
        </p:nvSpPr>
        <p:spPr>
          <a:xfrm>
            <a:off x="411480" y="7479792"/>
            <a:ext cx="6400800" cy="256032"/>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00" u="none" cap="none" strike="noStrike">
                <a:solidFill>
                  <a:srgbClr val="555555"/>
                </a:solidFill>
                <a:latin typeface="Calibri"/>
                <a:ea typeface="Calibri"/>
                <a:cs typeface="Calibri"/>
                <a:sym typeface="Calibri"/>
              </a:rPr>
              <a:t>Team 3c  ·  CDS-492 Capstone  ·  Spring 2026</a:t>
            </a:r>
            <a:endParaRPr/>
          </a:p>
        </p:txBody>
      </p:sp>
      <p:sp>
        <p:nvSpPr>
          <p:cNvPr id="327" name="Google Shape;327;p37"/>
          <p:cNvSpPr txBox="1"/>
          <p:nvPr/>
        </p:nvSpPr>
        <p:spPr>
          <a:xfrm>
            <a:off x="8686800" y="7479792"/>
            <a:ext cx="1005840" cy="256032"/>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i="0" lang="en-US" sz="1000" u="none" cap="none" strike="noStrike">
                <a:solidFill>
                  <a:srgbClr val="555555"/>
                </a:solidFill>
                <a:latin typeface="Calibri"/>
                <a:ea typeface="Calibri"/>
                <a:cs typeface="Calibri"/>
                <a:sym typeface="Calibri"/>
              </a:rPr>
              <a:t>5 / 16</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sp>
        <p:nvSpPr>
          <p:cNvPr id="332" name="Google Shape;332;p38"/>
          <p:cNvSpPr/>
          <p:nvPr/>
        </p:nvSpPr>
        <p:spPr>
          <a:xfrm>
            <a:off x="0" y="0"/>
            <a:ext cx="10058400" cy="1188720"/>
          </a:xfrm>
          <a:prstGeom prst="rect">
            <a:avLst/>
          </a:prstGeom>
          <a:solidFill>
            <a:srgbClr val="0E2841"/>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333" name="Google Shape;333;p38"/>
          <p:cNvSpPr txBox="1"/>
          <p:nvPr/>
        </p:nvSpPr>
        <p:spPr>
          <a:xfrm>
            <a:off x="502920" y="313540"/>
            <a:ext cx="9144000" cy="6156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4000">
                <a:solidFill>
                  <a:srgbClr val="FFFFFF"/>
                </a:solidFill>
                <a:latin typeface="Calibri"/>
                <a:ea typeface="Calibri"/>
                <a:cs typeface="Calibri"/>
                <a:sym typeface="Calibri"/>
              </a:rPr>
              <a:t>Project Data Preparation</a:t>
            </a:r>
            <a:endParaRPr sz="4000"/>
          </a:p>
        </p:txBody>
      </p:sp>
      <p:sp>
        <p:nvSpPr>
          <p:cNvPr id="334" name="Google Shape;334;p38"/>
          <p:cNvSpPr/>
          <p:nvPr/>
        </p:nvSpPr>
        <p:spPr>
          <a:xfrm>
            <a:off x="0" y="1188720"/>
            <a:ext cx="10058400" cy="45720"/>
          </a:xfrm>
          <a:prstGeom prst="rect">
            <a:avLst/>
          </a:prstGeom>
          <a:solidFill>
            <a:srgbClr val="156082"/>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descr="data_preparation_pipeline_diagram.png" id="335" name="Google Shape;335;p38"/>
          <p:cNvPicPr preferRelativeResize="0"/>
          <p:nvPr/>
        </p:nvPicPr>
        <p:blipFill rotWithShape="1">
          <a:blip r:embed="rId3">
            <a:alphaModFix/>
          </a:blip>
          <a:srcRect b="0" l="0" r="0" t="11442"/>
          <a:stretch/>
        </p:blipFill>
        <p:spPr>
          <a:xfrm>
            <a:off x="502925" y="1453607"/>
            <a:ext cx="8961099" cy="5369249"/>
          </a:xfrm>
          <a:prstGeom prst="rect">
            <a:avLst/>
          </a:prstGeom>
          <a:noFill/>
          <a:ln>
            <a:noFill/>
          </a:ln>
        </p:spPr>
      </p:pic>
      <p:sp>
        <p:nvSpPr>
          <p:cNvPr id="336" name="Google Shape;336;p38"/>
          <p:cNvSpPr txBox="1"/>
          <p:nvPr/>
        </p:nvSpPr>
        <p:spPr>
          <a:xfrm>
            <a:off x="548640" y="6724245"/>
            <a:ext cx="8961000" cy="3387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1" lang="en-US" sz="1100" u="none" cap="none" strike="noStrike">
                <a:solidFill>
                  <a:srgbClr val="555555"/>
                </a:solidFill>
                <a:latin typeface="Calibri"/>
                <a:ea typeface="Calibri"/>
                <a:cs typeface="Calibri"/>
                <a:sym typeface="Calibri"/>
              </a:rPr>
              <a:t>Figure 3. Four-stage preprocessing pipeline: domain validation → log transforms (AST, ALT, GGT, TG) → age-band midpoint encoding → stratified 60/20/20 split. No imputation — missingness is preserved natively for CatBoost.</a:t>
            </a:r>
            <a:endParaRPr/>
          </a:p>
        </p:txBody>
      </p:sp>
      <p:sp>
        <p:nvSpPr>
          <p:cNvPr id="337" name="Google Shape;337;p38"/>
          <p:cNvSpPr txBox="1"/>
          <p:nvPr/>
        </p:nvSpPr>
        <p:spPr>
          <a:xfrm>
            <a:off x="411480" y="7479792"/>
            <a:ext cx="6400800" cy="256032"/>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00" u="none" cap="none" strike="noStrike">
                <a:solidFill>
                  <a:srgbClr val="555555"/>
                </a:solidFill>
                <a:latin typeface="Calibri"/>
                <a:ea typeface="Calibri"/>
                <a:cs typeface="Calibri"/>
                <a:sym typeface="Calibri"/>
              </a:rPr>
              <a:t>Team 3c  ·  CDS-492 Capstone  ·  Spring 2026</a:t>
            </a:r>
            <a:endParaRPr/>
          </a:p>
        </p:txBody>
      </p:sp>
      <p:sp>
        <p:nvSpPr>
          <p:cNvPr id="338" name="Google Shape;338;p38"/>
          <p:cNvSpPr txBox="1"/>
          <p:nvPr/>
        </p:nvSpPr>
        <p:spPr>
          <a:xfrm>
            <a:off x="8686800" y="7479792"/>
            <a:ext cx="1005840" cy="256032"/>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i="0" lang="en-US" sz="1000" u="none" cap="none" strike="noStrike">
                <a:solidFill>
                  <a:srgbClr val="555555"/>
                </a:solidFill>
                <a:latin typeface="Calibri"/>
                <a:ea typeface="Calibri"/>
                <a:cs typeface="Calibri"/>
                <a:sym typeface="Calibri"/>
              </a:rPr>
              <a:t>6 / 16</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39"/>
          <p:cNvSpPr/>
          <p:nvPr/>
        </p:nvSpPr>
        <p:spPr>
          <a:xfrm>
            <a:off x="0" y="0"/>
            <a:ext cx="10058400" cy="1188720"/>
          </a:xfrm>
          <a:prstGeom prst="rect">
            <a:avLst/>
          </a:prstGeom>
          <a:solidFill>
            <a:srgbClr val="0E2841"/>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344" name="Google Shape;344;p39"/>
          <p:cNvSpPr txBox="1"/>
          <p:nvPr/>
        </p:nvSpPr>
        <p:spPr>
          <a:xfrm>
            <a:off x="502920" y="280945"/>
            <a:ext cx="9144000" cy="6156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4000">
                <a:solidFill>
                  <a:srgbClr val="FFFFFF"/>
                </a:solidFill>
                <a:latin typeface="Calibri"/>
                <a:ea typeface="Calibri"/>
                <a:cs typeface="Calibri"/>
                <a:sym typeface="Calibri"/>
              </a:rPr>
              <a:t>Model Comparison</a:t>
            </a:r>
            <a:endParaRPr sz="4000"/>
          </a:p>
        </p:txBody>
      </p:sp>
      <p:sp>
        <p:nvSpPr>
          <p:cNvPr id="345" name="Google Shape;345;p39"/>
          <p:cNvSpPr/>
          <p:nvPr/>
        </p:nvSpPr>
        <p:spPr>
          <a:xfrm>
            <a:off x="0" y="1188720"/>
            <a:ext cx="10058400" cy="45720"/>
          </a:xfrm>
          <a:prstGeom prst="rect">
            <a:avLst/>
          </a:prstGeom>
          <a:solidFill>
            <a:srgbClr val="156082"/>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346" name="Google Shape;346;p39"/>
          <p:cNvSpPr/>
          <p:nvPr/>
        </p:nvSpPr>
        <p:spPr>
          <a:xfrm>
            <a:off x="411480" y="1691640"/>
            <a:ext cx="1371600" cy="384048"/>
          </a:xfrm>
          <a:prstGeom prst="rect">
            <a:avLst/>
          </a:prstGeom>
          <a:solidFill>
            <a:srgbClr val="0E2841"/>
          </a:solidFill>
          <a:ln cap="flat" cmpd="sng" w="9525">
            <a:solidFill>
              <a:srgbClr val="0E2841"/>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91425" spcFirstLastPara="1" rIns="91425" wrap="square" tIns="0">
            <a:noAutofit/>
          </a:bodyPr>
          <a:lstStyle/>
          <a:p>
            <a:pPr indent="0" lvl="0" marL="0" marR="0" rtl="0" algn="l">
              <a:spcBef>
                <a:spcPts val="0"/>
              </a:spcBef>
              <a:spcAft>
                <a:spcPts val="0"/>
              </a:spcAft>
              <a:buNone/>
            </a:pPr>
            <a:r>
              <a:rPr b="1" i="0" lang="en-US" sz="1200" u="none" cap="none" strike="noStrike">
                <a:solidFill>
                  <a:srgbClr val="FFFFFF"/>
                </a:solidFill>
                <a:latin typeface="Calibri"/>
                <a:ea typeface="Calibri"/>
                <a:cs typeface="Calibri"/>
                <a:sym typeface="Calibri"/>
              </a:rPr>
              <a:t>Family</a:t>
            </a:r>
            <a:endParaRPr/>
          </a:p>
        </p:txBody>
      </p:sp>
      <p:sp>
        <p:nvSpPr>
          <p:cNvPr id="347" name="Google Shape;347;p39"/>
          <p:cNvSpPr/>
          <p:nvPr/>
        </p:nvSpPr>
        <p:spPr>
          <a:xfrm>
            <a:off x="1783080" y="1691640"/>
            <a:ext cx="2926080" cy="384048"/>
          </a:xfrm>
          <a:prstGeom prst="rect">
            <a:avLst/>
          </a:prstGeom>
          <a:solidFill>
            <a:srgbClr val="0E2841"/>
          </a:solidFill>
          <a:ln cap="flat" cmpd="sng" w="9525">
            <a:solidFill>
              <a:srgbClr val="0E2841"/>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91425" spcFirstLastPara="1" rIns="91425" wrap="square" tIns="0">
            <a:noAutofit/>
          </a:bodyPr>
          <a:lstStyle/>
          <a:p>
            <a:pPr indent="0" lvl="0" marL="0" marR="0" rtl="0" algn="l">
              <a:spcBef>
                <a:spcPts val="0"/>
              </a:spcBef>
              <a:spcAft>
                <a:spcPts val="0"/>
              </a:spcAft>
              <a:buNone/>
            </a:pPr>
            <a:r>
              <a:rPr b="1" i="0" lang="en-US" sz="1200" u="none" cap="none" strike="noStrike">
                <a:solidFill>
                  <a:srgbClr val="FFFFFF"/>
                </a:solidFill>
                <a:latin typeface="Calibri"/>
                <a:ea typeface="Calibri"/>
                <a:cs typeface="Calibri"/>
                <a:sym typeface="Calibri"/>
              </a:rPr>
              <a:t>Model</a:t>
            </a:r>
            <a:endParaRPr/>
          </a:p>
        </p:txBody>
      </p:sp>
      <p:sp>
        <p:nvSpPr>
          <p:cNvPr id="348" name="Google Shape;348;p39"/>
          <p:cNvSpPr/>
          <p:nvPr/>
        </p:nvSpPr>
        <p:spPr>
          <a:xfrm>
            <a:off x="4709160" y="1691640"/>
            <a:ext cx="1828800" cy="384048"/>
          </a:xfrm>
          <a:prstGeom prst="rect">
            <a:avLst/>
          </a:prstGeom>
          <a:solidFill>
            <a:srgbClr val="0E2841"/>
          </a:solidFill>
          <a:ln cap="flat" cmpd="sng" w="9525">
            <a:solidFill>
              <a:srgbClr val="0E2841"/>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91425" spcFirstLastPara="1" rIns="91425" wrap="square" tIns="0">
            <a:noAutofit/>
          </a:bodyPr>
          <a:lstStyle/>
          <a:p>
            <a:pPr indent="0" lvl="0" marL="0" marR="0" rtl="0" algn="l">
              <a:spcBef>
                <a:spcPts val="0"/>
              </a:spcBef>
              <a:spcAft>
                <a:spcPts val="0"/>
              </a:spcAft>
              <a:buNone/>
            </a:pPr>
            <a:r>
              <a:rPr b="1" i="0" lang="en-US" sz="1200" u="none" cap="none" strike="noStrike">
                <a:solidFill>
                  <a:srgbClr val="FFFFFF"/>
                </a:solidFill>
                <a:latin typeface="Calibri"/>
                <a:ea typeface="Calibri"/>
                <a:cs typeface="Calibri"/>
                <a:sym typeface="Calibri"/>
              </a:rPr>
              <a:t>Imbalance handling</a:t>
            </a:r>
            <a:endParaRPr/>
          </a:p>
        </p:txBody>
      </p:sp>
      <p:sp>
        <p:nvSpPr>
          <p:cNvPr id="349" name="Google Shape;349;p39"/>
          <p:cNvSpPr/>
          <p:nvPr/>
        </p:nvSpPr>
        <p:spPr>
          <a:xfrm>
            <a:off x="6537960" y="1691640"/>
            <a:ext cx="1188720" cy="384048"/>
          </a:xfrm>
          <a:prstGeom prst="rect">
            <a:avLst/>
          </a:prstGeom>
          <a:solidFill>
            <a:srgbClr val="0E2841"/>
          </a:solidFill>
          <a:ln cap="flat" cmpd="sng" w="9525">
            <a:solidFill>
              <a:srgbClr val="0E2841"/>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91425" spcFirstLastPara="1" rIns="91425" wrap="square" tIns="0">
            <a:noAutofit/>
          </a:bodyPr>
          <a:lstStyle/>
          <a:p>
            <a:pPr indent="0" lvl="0" marL="0" marR="0" rtl="0" algn="l">
              <a:spcBef>
                <a:spcPts val="0"/>
              </a:spcBef>
              <a:spcAft>
                <a:spcPts val="0"/>
              </a:spcAft>
              <a:buNone/>
            </a:pPr>
            <a:r>
              <a:rPr b="1" i="0" lang="en-US" sz="1200" u="none" cap="none" strike="noStrike">
                <a:solidFill>
                  <a:srgbClr val="FFFFFF"/>
                </a:solidFill>
                <a:latin typeface="Calibri"/>
                <a:ea typeface="Calibri"/>
                <a:cs typeface="Calibri"/>
                <a:sym typeface="Calibri"/>
              </a:rPr>
              <a:t># Feats</a:t>
            </a:r>
            <a:endParaRPr/>
          </a:p>
        </p:txBody>
      </p:sp>
      <p:sp>
        <p:nvSpPr>
          <p:cNvPr id="350" name="Google Shape;350;p39"/>
          <p:cNvSpPr/>
          <p:nvPr/>
        </p:nvSpPr>
        <p:spPr>
          <a:xfrm>
            <a:off x="7726680" y="1691640"/>
            <a:ext cx="1920240" cy="384048"/>
          </a:xfrm>
          <a:prstGeom prst="rect">
            <a:avLst/>
          </a:prstGeom>
          <a:solidFill>
            <a:srgbClr val="0E2841"/>
          </a:solidFill>
          <a:ln cap="flat" cmpd="sng" w="9525">
            <a:solidFill>
              <a:srgbClr val="0E2841"/>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91425" spcFirstLastPara="1" rIns="91425" wrap="square" tIns="0">
            <a:noAutofit/>
          </a:bodyPr>
          <a:lstStyle/>
          <a:p>
            <a:pPr indent="0" lvl="0" marL="0" marR="0" rtl="0" algn="l">
              <a:spcBef>
                <a:spcPts val="0"/>
              </a:spcBef>
              <a:spcAft>
                <a:spcPts val="0"/>
              </a:spcAft>
              <a:buNone/>
            </a:pPr>
            <a:r>
              <a:rPr b="1" i="0" lang="en-US" sz="1200" u="none" cap="none" strike="noStrike">
                <a:solidFill>
                  <a:srgbClr val="FFFFFF"/>
                </a:solidFill>
                <a:latin typeface="Calibri"/>
                <a:ea typeface="Calibri"/>
                <a:cs typeface="Calibri"/>
                <a:sym typeface="Calibri"/>
              </a:rPr>
              <a:t>Notes</a:t>
            </a:r>
            <a:endParaRPr/>
          </a:p>
        </p:txBody>
      </p:sp>
      <p:sp>
        <p:nvSpPr>
          <p:cNvPr id="351" name="Google Shape;351;p39"/>
          <p:cNvSpPr/>
          <p:nvPr/>
        </p:nvSpPr>
        <p:spPr>
          <a:xfrm>
            <a:off x="411480" y="2075688"/>
            <a:ext cx="1371600" cy="384048"/>
          </a:xfrm>
          <a:prstGeom prst="rect">
            <a:avLst/>
          </a:prstGeom>
          <a:solidFill>
            <a:srgbClr val="FFFFFF"/>
          </a:solidFill>
          <a:ln cap="flat" cmpd="sng" w="9525">
            <a:solidFill>
              <a:srgbClr val="CDD4D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91425" spcFirstLastPara="1" rIns="91425" wrap="square" tIns="0">
            <a:noAutofit/>
          </a:bodyPr>
          <a:lstStyle/>
          <a:p>
            <a:pPr indent="0" lvl="0" marL="0" marR="0" rtl="0" algn="l">
              <a:spcBef>
                <a:spcPts val="0"/>
              </a:spcBef>
              <a:spcAft>
                <a:spcPts val="0"/>
              </a:spcAft>
              <a:buNone/>
            </a:pPr>
            <a:r>
              <a:rPr b="0" i="0" lang="en-US" sz="1200" u="none" cap="none" strike="noStrike">
                <a:solidFill>
                  <a:srgbClr val="101010"/>
                </a:solidFill>
                <a:latin typeface="Calibri"/>
                <a:ea typeface="Calibri"/>
                <a:cs typeface="Calibri"/>
                <a:sym typeface="Calibri"/>
              </a:rPr>
              <a:t>Tree</a:t>
            </a:r>
            <a:endParaRPr/>
          </a:p>
        </p:txBody>
      </p:sp>
      <p:sp>
        <p:nvSpPr>
          <p:cNvPr id="352" name="Google Shape;352;p39"/>
          <p:cNvSpPr/>
          <p:nvPr/>
        </p:nvSpPr>
        <p:spPr>
          <a:xfrm>
            <a:off x="1783080" y="2075688"/>
            <a:ext cx="2926080" cy="384048"/>
          </a:xfrm>
          <a:prstGeom prst="rect">
            <a:avLst/>
          </a:prstGeom>
          <a:solidFill>
            <a:srgbClr val="FFFFFF"/>
          </a:solidFill>
          <a:ln cap="flat" cmpd="sng" w="9525">
            <a:solidFill>
              <a:srgbClr val="CDD4D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91425" spcFirstLastPara="1" rIns="91425" wrap="square" tIns="0">
            <a:noAutofit/>
          </a:bodyPr>
          <a:lstStyle/>
          <a:p>
            <a:pPr indent="0" lvl="0" marL="0" marR="0" rtl="0" algn="l">
              <a:spcBef>
                <a:spcPts val="0"/>
              </a:spcBef>
              <a:spcAft>
                <a:spcPts val="0"/>
              </a:spcAft>
              <a:buNone/>
            </a:pPr>
            <a:r>
              <a:rPr b="0" i="0" lang="en-US" sz="1200" u="none" cap="none" strike="noStrike">
                <a:solidFill>
                  <a:srgbClr val="101010"/>
                </a:solidFill>
                <a:latin typeface="Calibri"/>
                <a:ea typeface="Calibri"/>
                <a:cs typeface="Calibri"/>
                <a:sym typeface="Calibri"/>
              </a:rPr>
              <a:t>CatBoost (Core)</a:t>
            </a:r>
            <a:endParaRPr/>
          </a:p>
        </p:txBody>
      </p:sp>
      <p:sp>
        <p:nvSpPr>
          <p:cNvPr id="353" name="Google Shape;353;p39"/>
          <p:cNvSpPr/>
          <p:nvPr/>
        </p:nvSpPr>
        <p:spPr>
          <a:xfrm>
            <a:off x="4709160" y="2075688"/>
            <a:ext cx="1828800" cy="384048"/>
          </a:xfrm>
          <a:prstGeom prst="rect">
            <a:avLst/>
          </a:prstGeom>
          <a:solidFill>
            <a:srgbClr val="FFFFFF"/>
          </a:solidFill>
          <a:ln cap="flat" cmpd="sng" w="9525">
            <a:solidFill>
              <a:srgbClr val="CDD4D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91425" spcFirstLastPara="1" rIns="91425" wrap="square" tIns="0">
            <a:noAutofit/>
          </a:bodyPr>
          <a:lstStyle/>
          <a:p>
            <a:pPr indent="0" lvl="0" marL="0" marR="0" rtl="0" algn="l">
              <a:spcBef>
                <a:spcPts val="0"/>
              </a:spcBef>
              <a:spcAft>
                <a:spcPts val="0"/>
              </a:spcAft>
              <a:buNone/>
            </a:pPr>
            <a:r>
              <a:rPr b="0" i="0" lang="en-US" sz="1200" u="none" cap="none" strike="noStrike">
                <a:solidFill>
                  <a:srgbClr val="101010"/>
                </a:solidFill>
                <a:latin typeface="Calibri"/>
                <a:ea typeface="Calibri"/>
                <a:cs typeface="Calibri"/>
                <a:sym typeface="Calibri"/>
              </a:rPr>
              <a:t>Inverse-freq weights</a:t>
            </a:r>
            <a:endParaRPr/>
          </a:p>
        </p:txBody>
      </p:sp>
      <p:sp>
        <p:nvSpPr>
          <p:cNvPr id="354" name="Google Shape;354;p39"/>
          <p:cNvSpPr/>
          <p:nvPr/>
        </p:nvSpPr>
        <p:spPr>
          <a:xfrm>
            <a:off x="6537960" y="2075688"/>
            <a:ext cx="1188720" cy="384048"/>
          </a:xfrm>
          <a:prstGeom prst="rect">
            <a:avLst/>
          </a:prstGeom>
          <a:solidFill>
            <a:srgbClr val="FFFFFF"/>
          </a:solidFill>
          <a:ln cap="flat" cmpd="sng" w="9525">
            <a:solidFill>
              <a:srgbClr val="CDD4D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91425" spcFirstLastPara="1" rIns="91425" wrap="square" tIns="0">
            <a:noAutofit/>
          </a:bodyPr>
          <a:lstStyle/>
          <a:p>
            <a:pPr indent="0" lvl="0" marL="0" marR="0" rtl="0" algn="l">
              <a:spcBef>
                <a:spcPts val="0"/>
              </a:spcBef>
              <a:spcAft>
                <a:spcPts val="0"/>
              </a:spcAft>
              <a:buNone/>
            </a:pPr>
            <a:r>
              <a:rPr b="0" i="0" lang="en-US" sz="1200" u="none" cap="none" strike="noStrike">
                <a:solidFill>
                  <a:srgbClr val="101010"/>
                </a:solidFill>
                <a:latin typeface="Calibri"/>
                <a:ea typeface="Calibri"/>
                <a:cs typeface="Calibri"/>
                <a:sym typeface="Calibri"/>
              </a:rPr>
              <a:t>15</a:t>
            </a:r>
            <a:endParaRPr/>
          </a:p>
        </p:txBody>
      </p:sp>
      <p:sp>
        <p:nvSpPr>
          <p:cNvPr id="355" name="Google Shape;355;p39"/>
          <p:cNvSpPr/>
          <p:nvPr/>
        </p:nvSpPr>
        <p:spPr>
          <a:xfrm>
            <a:off x="7726680" y="2075688"/>
            <a:ext cx="1920240" cy="384048"/>
          </a:xfrm>
          <a:prstGeom prst="rect">
            <a:avLst/>
          </a:prstGeom>
          <a:solidFill>
            <a:srgbClr val="FFFFFF"/>
          </a:solidFill>
          <a:ln cap="flat" cmpd="sng" w="9525">
            <a:solidFill>
              <a:srgbClr val="CDD4D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91425" spcFirstLastPara="1" rIns="91425" wrap="square" tIns="0">
            <a:noAutofit/>
          </a:bodyPr>
          <a:lstStyle/>
          <a:p>
            <a:pPr indent="0" lvl="0" marL="0" marR="0" rtl="0" algn="l">
              <a:spcBef>
                <a:spcPts val="0"/>
              </a:spcBef>
              <a:spcAft>
                <a:spcPts val="0"/>
              </a:spcAft>
              <a:buNone/>
            </a:pPr>
            <a:r>
              <a:rPr b="0" i="0" lang="en-US" sz="1200" u="none" cap="none" strike="noStrike">
                <a:solidFill>
                  <a:srgbClr val="101010"/>
                </a:solidFill>
                <a:latin typeface="Calibri"/>
                <a:ea typeface="Calibri"/>
                <a:cs typeface="Calibri"/>
                <a:sym typeface="Calibri"/>
              </a:rPr>
              <a:t>Ablation tier</a:t>
            </a:r>
            <a:endParaRPr/>
          </a:p>
        </p:txBody>
      </p:sp>
      <p:sp>
        <p:nvSpPr>
          <p:cNvPr id="356" name="Google Shape;356;p39"/>
          <p:cNvSpPr/>
          <p:nvPr/>
        </p:nvSpPr>
        <p:spPr>
          <a:xfrm>
            <a:off x="411480" y="2459736"/>
            <a:ext cx="1371600" cy="384048"/>
          </a:xfrm>
          <a:prstGeom prst="rect">
            <a:avLst/>
          </a:prstGeom>
          <a:solidFill>
            <a:srgbClr val="F4F7FA"/>
          </a:solidFill>
          <a:ln cap="flat" cmpd="sng" w="9525">
            <a:solidFill>
              <a:srgbClr val="CDD4D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91425" spcFirstLastPara="1" rIns="91425" wrap="square" tIns="0">
            <a:noAutofit/>
          </a:bodyPr>
          <a:lstStyle/>
          <a:p>
            <a:pPr indent="0" lvl="0" marL="0" marR="0" rtl="0" algn="l">
              <a:spcBef>
                <a:spcPts val="0"/>
              </a:spcBef>
              <a:spcAft>
                <a:spcPts val="0"/>
              </a:spcAft>
              <a:buNone/>
            </a:pPr>
            <a:r>
              <a:rPr b="0" i="0" lang="en-US" sz="1200" u="none" cap="none" strike="noStrike">
                <a:solidFill>
                  <a:srgbClr val="101010"/>
                </a:solidFill>
                <a:latin typeface="Calibri"/>
                <a:ea typeface="Calibri"/>
                <a:cs typeface="Calibri"/>
                <a:sym typeface="Calibri"/>
              </a:rPr>
              <a:t>Tree</a:t>
            </a:r>
            <a:endParaRPr/>
          </a:p>
        </p:txBody>
      </p:sp>
      <p:sp>
        <p:nvSpPr>
          <p:cNvPr id="357" name="Google Shape;357;p39"/>
          <p:cNvSpPr/>
          <p:nvPr/>
        </p:nvSpPr>
        <p:spPr>
          <a:xfrm>
            <a:off x="1783080" y="2459736"/>
            <a:ext cx="2926080" cy="384048"/>
          </a:xfrm>
          <a:prstGeom prst="rect">
            <a:avLst/>
          </a:prstGeom>
          <a:solidFill>
            <a:srgbClr val="F4F7FA"/>
          </a:solidFill>
          <a:ln cap="flat" cmpd="sng" w="9525">
            <a:solidFill>
              <a:srgbClr val="CDD4D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91425" spcFirstLastPara="1" rIns="91425" wrap="square" tIns="0">
            <a:noAutofit/>
          </a:bodyPr>
          <a:lstStyle/>
          <a:p>
            <a:pPr indent="0" lvl="0" marL="0" marR="0" rtl="0" algn="l">
              <a:spcBef>
                <a:spcPts val="0"/>
              </a:spcBef>
              <a:spcAft>
                <a:spcPts val="0"/>
              </a:spcAft>
              <a:buNone/>
            </a:pPr>
            <a:r>
              <a:rPr b="0" i="0" lang="en-US" sz="1200" u="none" cap="none" strike="noStrike">
                <a:solidFill>
                  <a:srgbClr val="101010"/>
                </a:solidFill>
                <a:latin typeface="Calibri"/>
                <a:ea typeface="Calibri"/>
                <a:cs typeface="Calibri"/>
                <a:sym typeface="Calibri"/>
              </a:rPr>
              <a:t>CatBoost (Core + Labs)</a:t>
            </a:r>
            <a:endParaRPr/>
          </a:p>
        </p:txBody>
      </p:sp>
      <p:sp>
        <p:nvSpPr>
          <p:cNvPr id="358" name="Google Shape;358;p39"/>
          <p:cNvSpPr/>
          <p:nvPr/>
        </p:nvSpPr>
        <p:spPr>
          <a:xfrm>
            <a:off x="4709160" y="2459736"/>
            <a:ext cx="1828800" cy="384048"/>
          </a:xfrm>
          <a:prstGeom prst="rect">
            <a:avLst/>
          </a:prstGeom>
          <a:solidFill>
            <a:srgbClr val="F4F7FA"/>
          </a:solidFill>
          <a:ln cap="flat" cmpd="sng" w="9525">
            <a:solidFill>
              <a:srgbClr val="CDD4D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91425" spcFirstLastPara="1" rIns="91425" wrap="square" tIns="0">
            <a:noAutofit/>
          </a:bodyPr>
          <a:lstStyle/>
          <a:p>
            <a:pPr indent="0" lvl="0" marL="0" marR="0" rtl="0" algn="l">
              <a:spcBef>
                <a:spcPts val="0"/>
              </a:spcBef>
              <a:spcAft>
                <a:spcPts val="0"/>
              </a:spcAft>
              <a:buNone/>
            </a:pPr>
            <a:r>
              <a:rPr b="0" i="0" lang="en-US" sz="1200" u="none" cap="none" strike="noStrike">
                <a:solidFill>
                  <a:srgbClr val="101010"/>
                </a:solidFill>
                <a:latin typeface="Calibri"/>
                <a:ea typeface="Calibri"/>
                <a:cs typeface="Calibri"/>
                <a:sym typeface="Calibri"/>
              </a:rPr>
              <a:t>Inverse-freq weights</a:t>
            </a:r>
            <a:endParaRPr/>
          </a:p>
        </p:txBody>
      </p:sp>
      <p:sp>
        <p:nvSpPr>
          <p:cNvPr id="359" name="Google Shape;359;p39"/>
          <p:cNvSpPr/>
          <p:nvPr/>
        </p:nvSpPr>
        <p:spPr>
          <a:xfrm>
            <a:off x="6537960" y="2459736"/>
            <a:ext cx="1188720" cy="384048"/>
          </a:xfrm>
          <a:prstGeom prst="rect">
            <a:avLst/>
          </a:prstGeom>
          <a:solidFill>
            <a:srgbClr val="F4F7FA"/>
          </a:solidFill>
          <a:ln cap="flat" cmpd="sng" w="9525">
            <a:solidFill>
              <a:srgbClr val="CDD4D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91425" spcFirstLastPara="1" rIns="91425" wrap="square" tIns="0">
            <a:noAutofit/>
          </a:bodyPr>
          <a:lstStyle/>
          <a:p>
            <a:pPr indent="0" lvl="0" marL="0" marR="0" rtl="0" algn="l">
              <a:spcBef>
                <a:spcPts val="0"/>
              </a:spcBef>
              <a:spcAft>
                <a:spcPts val="0"/>
              </a:spcAft>
              <a:buNone/>
            </a:pPr>
            <a:r>
              <a:rPr b="0" i="0" lang="en-US" sz="1200" u="none" cap="none" strike="noStrike">
                <a:solidFill>
                  <a:srgbClr val="101010"/>
                </a:solidFill>
                <a:latin typeface="Calibri"/>
                <a:ea typeface="Calibri"/>
                <a:cs typeface="Calibri"/>
                <a:sym typeface="Calibri"/>
              </a:rPr>
              <a:t>26</a:t>
            </a:r>
            <a:endParaRPr/>
          </a:p>
        </p:txBody>
      </p:sp>
      <p:sp>
        <p:nvSpPr>
          <p:cNvPr id="360" name="Google Shape;360;p39"/>
          <p:cNvSpPr/>
          <p:nvPr/>
        </p:nvSpPr>
        <p:spPr>
          <a:xfrm>
            <a:off x="7726680" y="2459736"/>
            <a:ext cx="1920240" cy="384048"/>
          </a:xfrm>
          <a:prstGeom prst="rect">
            <a:avLst/>
          </a:prstGeom>
          <a:solidFill>
            <a:srgbClr val="F4F7FA"/>
          </a:solidFill>
          <a:ln cap="flat" cmpd="sng" w="9525">
            <a:solidFill>
              <a:srgbClr val="CDD4D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91425" spcFirstLastPara="1" rIns="91425" wrap="square" tIns="0">
            <a:noAutofit/>
          </a:bodyPr>
          <a:lstStyle/>
          <a:p>
            <a:pPr indent="0" lvl="0" marL="0" marR="0" rtl="0" algn="l">
              <a:spcBef>
                <a:spcPts val="0"/>
              </a:spcBef>
              <a:spcAft>
                <a:spcPts val="0"/>
              </a:spcAft>
              <a:buNone/>
            </a:pPr>
            <a:r>
              <a:rPr b="0" i="0" lang="en-US" sz="1200" u="none" cap="none" strike="noStrike">
                <a:solidFill>
                  <a:srgbClr val="101010"/>
                </a:solidFill>
                <a:latin typeface="Calibri"/>
                <a:ea typeface="Calibri"/>
                <a:cs typeface="Calibri"/>
                <a:sym typeface="Calibri"/>
              </a:rPr>
              <a:t>Ablation tier</a:t>
            </a:r>
            <a:endParaRPr/>
          </a:p>
        </p:txBody>
      </p:sp>
      <p:sp>
        <p:nvSpPr>
          <p:cNvPr id="361" name="Google Shape;361;p39"/>
          <p:cNvSpPr/>
          <p:nvPr/>
        </p:nvSpPr>
        <p:spPr>
          <a:xfrm>
            <a:off x="411455" y="2843784"/>
            <a:ext cx="1371600" cy="384000"/>
          </a:xfrm>
          <a:prstGeom prst="rect">
            <a:avLst/>
          </a:prstGeom>
          <a:solidFill>
            <a:srgbClr val="E6EFF6"/>
          </a:solidFill>
          <a:ln cap="flat" cmpd="sng" w="9525">
            <a:solidFill>
              <a:srgbClr val="CDD4DC"/>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0" lIns="91425" spcFirstLastPara="1" rIns="91425" wrap="square" tIns="0">
            <a:noAutofit/>
          </a:bodyPr>
          <a:lstStyle/>
          <a:p>
            <a:pPr indent="0" lvl="0" marL="0" marR="0" rtl="0" algn="l">
              <a:spcBef>
                <a:spcPts val="0"/>
              </a:spcBef>
              <a:spcAft>
                <a:spcPts val="0"/>
              </a:spcAft>
              <a:buNone/>
            </a:pPr>
            <a:r>
              <a:rPr b="1" i="0" lang="en-US" sz="1200" u="none" cap="none" strike="noStrike">
                <a:solidFill>
                  <a:schemeClr val="dk1"/>
                </a:solidFill>
                <a:latin typeface="Calibri"/>
                <a:ea typeface="Calibri"/>
                <a:cs typeface="Calibri"/>
                <a:sym typeface="Calibri"/>
              </a:rPr>
              <a:t>Tree</a:t>
            </a:r>
            <a:endParaRPr>
              <a:solidFill>
                <a:schemeClr val="dk1"/>
              </a:solidFill>
            </a:endParaRPr>
          </a:p>
        </p:txBody>
      </p:sp>
      <p:sp>
        <p:nvSpPr>
          <p:cNvPr id="362" name="Google Shape;362;p39"/>
          <p:cNvSpPr/>
          <p:nvPr/>
        </p:nvSpPr>
        <p:spPr>
          <a:xfrm>
            <a:off x="1783080" y="2843784"/>
            <a:ext cx="2926200" cy="384000"/>
          </a:xfrm>
          <a:prstGeom prst="rect">
            <a:avLst/>
          </a:prstGeom>
          <a:solidFill>
            <a:srgbClr val="E6EFF6"/>
          </a:solidFill>
          <a:ln cap="flat" cmpd="sng" w="9525">
            <a:solidFill>
              <a:srgbClr val="CDD4DC"/>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0" lIns="91425" spcFirstLastPara="1" rIns="91425" wrap="square" tIns="0">
            <a:noAutofit/>
          </a:bodyPr>
          <a:lstStyle/>
          <a:p>
            <a:pPr indent="0" lvl="0" marL="0" marR="0" rtl="0" algn="l">
              <a:spcBef>
                <a:spcPts val="0"/>
              </a:spcBef>
              <a:spcAft>
                <a:spcPts val="0"/>
              </a:spcAft>
              <a:buNone/>
            </a:pPr>
            <a:r>
              <a:rPr b="1" i="0" lang="en-US" sz="1200" u="none" cap="none" strike="noStrike">
                <a:solidFill>
                  <a:schemeClr val="dk1"/>
                </a:solidFill>
                <a:latin typeface="Calibri"/>
                <a:ea typeface="Calibri"/>
                <a:cs typeface="Calibri"/>
                <a:sym typeface="Calibri"/>
              </a:rPr>
              <a:t>CatBoost (Full)</a:t>
            </a:r>
            <a:endParaRPr>
              <a:solidFill>
                <a:schemeClr val="dk1"/>
              </a:solidFill>
            </a:endParaRPr>
          </a:p>
        </p:txBody>
      </p:sp>
      <p:sp>
        <p:nvSpPr>
          <p:cNvPr id="363" name="Google Shape;363;p39"/>
          <p:cNvSpPr/>
          <p:nvPr/>
        </p:nvSpPr>
        <p:spPr>
          <a:xfrm>
            <a:off x="4709160" y="2843784"/>
            <a:ext cx="1828800" cy="384000"/>
          </a:xfrm>
          <a:prstGeom prst="rect">
            <a:avLst/>
          </a:prstGeom>
          <a:solidFill>
            <a:srgbClr val="E6EFF6"/>
          </a:solidFill>
          <a:ln cap="flat" cmpd="sng" w="9525">
            <a:solidFill>
              <a:srgbClr val="CDD4DC"/>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0" lIns="91425" spcFirstLastPara="1" rIns="91425" wrap="square" tIns="0">
            <a:noAutofit/>
          </a:bodyPr>
          <a:lstStyle/>
          <a:p>
            <a:pPr indent="0" lvl="0" marL="0" marR="0" rtl="0" algn="l">
              <a:spcBef>
                <a:spcPts val="0"/>
              </a:spcBef>
              <a:spcAft>
                <a:spcPts val="0"/>
              </a:spcAft>
              <a:buNone/>
            </a:pPr>
            <a:r>
              <a:rPr b="1" i="0" lang="en-US" sz="1200" u="none" cap="none" strike="noStrike">
                <a:solidFill>
                  <a:schemeClr val="dk1"/>
                </a:solidFill>
                <a:latin typeface="Calibri"/>
                <a:ea typeface="Calibri"/>
                <a:cs typeface="Calibri"/>
                <a:sym typeface="Calibri"/>
              </a:rPr>
              <a:t>Inverse-freq weights</a:t>
            </a:r>
            <a:endParaRPr>
              <a:solidFill>
                <a:schemeClr val="dk1"/>
              </a:solidFill>
            </a:endParaRPr>
          </a:p>
        </p:txBody>
      </p:sp>
      <p:sp>
        <p:nvSpPr>
          <p:cNvPr id="364" name="Google Shape;364;p39"/>
          <p:cNvSpPr/>
          <p:nvPr/>
        </p:nvSpPr>
        <p:spPr>
          <a:xfrm>
            <a:off x="6537960" y="2843784"/>
            <a:ext cx="1188600" cy="384000"/>
          </a:xfrm>
          <a:prstGeom prst="rect">
            <a:avLst/>
          </a:prstGeom>
          <a:solidFill>
            <a:srgbClr val="E6EFF6"/>
          </a:solidFill>
          <a:ln cap="flat" cmpd="sng" w="9525">
            <a:solidFill>
              <a:srgbClr val="CDD4DC"/>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0" lIns="91425" spcFirstLastPara="1" rIns="91425" wrap="square" tIns="0">
            <a:noAutofit/>
          </a:bodyPr>
          <a:lstStyle/>
          <a:p>
            <a:pPr indent="0" lvl="0" marL="0" marR="0" rtl="0" algn="l">
              <a:spcBef>
                <a:spcPts val="0"/>
              </a:spcBef>
              <a:spcAft>
                <a:spcPts val="0"/>
              </a:spcAft>
              <a:buNone/>
            </a:pPr>
            <a:r>
              <a:rPr b="1" i="0" lang="en-US" sz="1200" u="none" cap="none" strike="noStrike">
                <a:solidFill>
                  <a:schemeClr val="dk1"/>
                </a:solidFill>
                <a:latin typeface="Calibri"/>
                <a:ea typeface="Calibri"/>
                <a:cs typeface="Calibri"/>
                <a:sym typeface="Calibri"/>
              </a:rPr>
              <a:t>40</a:t>
            </a:r>
            <a:endParaRPr>
              <a:solidFill>
                <a:schemeClr val="dk1"/>
              </a:solidFill>
            </a:endParaRPr>
          </a:p>
        </p:txBody>
      </p:sp>
      <p:sp>
        <p:nvSpPr>
          <p:cNvPr id="365" name="Google Shape;365;p39"/>
          <p:cNvSpPr/>
          <p:nvPr/>
        </p:nvSpPr>
        <p:spPr>
          <a:xfrm>
            <a:off x="7726680" y="2843784"/>
            <a:ext cx="1920300" cy="384000"/>
          </a:xfrm>
          <a:prstGeom prst="rect">
            <a:avLst/>
          </a:prstGeom>
          <a:solidFill>
            <a:srgbClr val="E6EFF6"/>
          </a:solidFill>
          <a:ln cap="flat" cmpd="sng" w="9525">
            <a:solidFill>
              <a:srgbClr val="CDD4DC"/>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0" lIns="91425" spcFirstLastPara="1" rIns="91425" wrap="square" tIns="0">
            <a:noAutofit/>
          </a:bodyPr>
          <a:lstStyle/>
          <a:p>
            <a:pPr indent="0" lvl="0" marL="0" marR="0" rtl="0" algn="l">
              <a:spcBef>
                <a:spcPts val="0"/>
              </a:spcBef>
              <a:spcAft>
                <a:spcPts val="0"/>
              </a:spcAft>
              <a:buNone/>
            </a:pPr>
            <a:r>
              <a:rPr b="1" i="0" lang="en-US" sz="1200" u="none" cap="none" strike="noStrike">
                <a:solidFill>
                  <a:schemeClr val="dk1"/>
                </a:solidFill>
                <a:latin typeface="Calibri"/>
                <a:ea typeface="Calibri"/>
                <a:cs typeface="Calibri"/>
                <a:sym typeface="Calibri"/>
              </a:rPr>
              <a:t>Production model</a:t>
            </a:r>
            <a:endParaRPr b="1">
              <a:solidFill>
                <a:schemeClr val="dk1"/>
              </a:solidFill>
            </a:endParaRPr>
          </a:p>
        </p:txBody>
      </p:sp>
      <p:sp>
        <p:nvSpPr>
          <p:cNvPr id="366" name="Google Shape;366;p39"/>
          <p:cNvSpPr/>
          <p:nvPr/>
        </p:nvSpPr>
        <p:spPr>
          <a:xfrm>
            <a:off x="411480" y="3227832"/>
            <a:ext cx="1371600" cy="384048"/>
          </a:xfrm>
          <a:prstGeom prst="rect">
            <a:avLst/>
          </a:prstGeom>
          <a:solidFill>
            <a:srgbClr val="F4F7FA"/>
          </a:solidFill>
          <a:ln cap="flat" cmpd="sng" w="9525">
            <a:solidFill>
              <a:srgbClr val="CDD4D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91425" spcFirstLastPara="1" rIns="91425" wrap="square" tIns="0">
            <a:noAutofit/>
          </a:bodyPr>
          <a:lstStyle/>
          <a:p>
            <a:pPr indent="0" lvl="0" marL="0" marR="0" rtl="0" algn="l">
              <a:spcBef>
                <a:spcPts val="0"/>
              </a:spcBef>
              <a:spcAft>
                <a:spcPts val="0"/>
              </a:spcAft>
              <a:buNone/>
            </a:pPr>
            <a:r>
              <a:rPr b="0" i="0" lang="en-US" sz="1200" u="none" cap="none" strike="noStrike">
                <a:solidFill>
                  <a:srgbClr val="101010"/>
                </a:solidFill>
                <a:latin typeface="Calibri"/>
                <a:ea typeface="Calibri"/>
                <a:cs typeface="Calibri"/>
                <a:sym typeface="Calibri"/>
              </a:rPr>
              <a:t>Tree</a:t>
            </a:r>
            <a:endParaRPr/>
          </a:p>
        </p:txBody>
      </p:sp>
      <p:sp>
        <p:nvSpPr>
          <p:cNvPr id="367" name="Google Shape;367;p39"/>
          <p:cNvSpPr/>
          <p:nvPr/>
        </p:nvSpPr>
        <p:spPr>
          <a:xfrm>
            <a:off x="1783080" y="3227832"/>
            <a:ext cx="2926080" cy="384048"/>
          </a:xfrm>
          <a:prstGeom prst="rect">
            <a:avLst/>
          </a:prstGeom>
          <a:solidFill>
            <a:srgbClr val="F4F7FA"/>
          </a:solidFill>
          <a:ln cap="flat" cmpd="sng" w="9525">
            <a:solidFill>
              <a:srgbClr val="CDD4D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91425" spcFirstLastPara="1" rIns="91425" wrap="square" tIns="0">
            <a:noAutofit/>
          </a:bodyPr>
          <a:lstStyle/>
          <a:p>
            <a:pPr indent="0" lvl="0" marL="0" marR="0" rtl="0" algn="l">
              <a:spcBef>
                <a:spcPts val="0"/>
              </a:spcBef>
              <a:spcAft>
                <a:spcPts val="0"/>
              </a:spcAft>
              <a:buNone/>
            </a:pPr>
            <a:r>
              <a:rPr b="0" i="0" lang="en-US" sz="1200" u="none" cap="none" strike="noStrike">
                <a:solidFill>
                  <a:srgbClr val="101010"/>
                </a:solidFill>
                <a:latin typeface="Calibri"/>
                <a:ea typeface="Calibri"/>
                <a:cs typeface="Calibri"/>
                <a:sym typeface="Calibri"/>
              </a:rPr>
              <a:t>Decision Tree</a:t>
            </a:r>
            <a:endParaRPr/>
          </a:p>
        </p:txBody>
      </p:sp>
      <p:sp>
        <p:nvSpPr>
          <p:cNvPr id="368" name="Google Shape;368;p39"/>
          <p:cNvSpPr/>
          <p:nvPr/>
        </p:nvSpPr>
        <p:spPr>
          <a:xfrm>
            <a:off x="4709160" y="3227832"/>
            <a:ext cx="1828800" cy="384048"/>
          </a:xfrm>
          <a:prstGeom prst="rect">
            <a:avLst/>
          </a:prstGeom>
          <a:solidFill>
            <a:srgbClr val="F4F7FA"/>
          </a:solidFill>
          <a:ln cap="flat" cmpd="sng" w="9525">
            <a:solidFill>
              <a:srgbClr val="CDD4D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91425" spcFirstLastPara="1" rIns="91425" wrap="square" tIns="0">
            <a:noAutofit/>
          </a:bodyPr>
          <a:lstStyle/>
          <a:p>
            <a:pPr indent="0" lvl="0" marL="0" marR="0" rtl="0" algn="l">
              <a:spcBef>
                <a:spcPts val="0"/>
              </a:spcBef>
              <a:spcAft>
                <a:spcPts val="0"/>
              </a:spcAft>
              <a:buNone/>
            </a:pPr>
            <a:r>
              <a:rPr b="0" i="0" lang="en-US" sz="1200" u="none" cap="none" strike="noStrike">
                <a:solidFill>
                  <a:srgbClr val="101010"/>
                </a:solidFill>
                <a:latin typeface="Calibri"/>
                <a:ea typeface="Calibri"/>
                <a:cs typeface="Calibri"/>
                <a:sym typeface="Calibri"/>
              </a:rPr>
              <a:t>Inverse-freq weights</a:t>
            </a:r>
            <a:endParaRPr/>
          </a:p>
        </p:txBody>
      </p:sp>
      <p:sp>
        <p:nvSpPr>
          <p:cNvPr id="369" name="Google Shape;369;p39"/>
          <p:cNvSpPr/>
          <p:nvPr/>
        </p:nvSpPr>
        <p:spPr>
          <a:xfrm>
            <a:off x="6537960" y="3227832"/>
            <a:ext cx="1188720" cy="384048"/>
          </a:xfrm>
          <a:prstGeom prst="rect">
            <a:avLst/>
          </a:prstGeom>
          <a:solidFill>
            <a:srgbClr val="F4F7FA"/>
          </a:solidFill>
          <a:ln cap="flat" cmpd="sng" w="9525">
            <a:solidFill>
              <a:srgbClr val="CDD4D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91425" spcFirstLastPara="1" rIns="91425" wrap="square" tIns="0">
            <a:noAutofit/>
          </a:bodyPr>
          <a:lstStyle/>
          <a:p>
            <a:pPr indent="0" lvl="0" marL="0" marR="0" rtl="0" algn="l">
              <a:spcBef>
                <a:spcPts val="0"/>
              </a:spcBef>
              <a:spcAft>
                <a:spcPts val="0"/>
              </a:spcAft>
              <a:buNone/>
            </a:pPr>
            <a:r>
              <a:rPr b="0" i="0" lang="en-US" sz="1200" u="none" cap="none" strike="noStrike">
                <a:solidFill>
                  <a:srgbClr val="101010"/>
                </a:solidFill>
                <a:latin typeface="Calibri"/>
                <a:ea typeface="Calibri"/>
                <a:cs typeface="Calibri"/>
                <a:sym typeface="Calibri"/>
              </a:rPr>
              <a:t>40</a:t>
            </a:r>
            <a:endParaRPr/>
          </a:p>
        </p:txBody>
      </p:sp>
      <p:sp>
        <p:nvSpPr>
          <p:cNvPr id="370" name="Google Shape;370;p39"/>
          <p:cNvSpPr/>
          <p:nvPr/>
        </p:nvSpPr>
        <p:spPr>
          <a:xfrm>
            <a:off x="7726680" y="3227832"/>
            <a:ext cx="1920240" cy="384048"/>
          </a:xfrm>
          <a:prstGeom prst="rect">
            <a:avLst/>
          </a:prstGeom>
          <a:solidFill>
            <a:srgbClr val="F4F7FA"/>
          </a:solidFill>
          <a:ln cap="flat" cmpd="sng" w="9525">
            <a:solidFill>
              <a:srgbClr val="CDD4D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91425" spcFirstLastPara="1" rIns="91425" wrap="square" tIns="0">
            <a:noAutofit/>
          </a:bodyPr>
          <a:lstStyle/>
          <a:p>
            <a:pPr indent="0" lvl="0" marL="0" marR="0" rtl="0" algn="l">
              <a:spcBef>
                <a:spcPts val="0"/>
              </a:spcBef>
              <a:spcAft>
                <a:spcPts val="0"/>
              </a:spcAft>
              <a:buNone/>
            </a:pPr>
            <a:r>
              <a:rPr b="0" i="0" lang="en-US" sz="1200" u="none" cap="none" strike="noStrike">
                <a:solidFill>
                  <a:srgbClr val="101010"/>
                </a:solidFill>
                <a:latin typeface="Calibri"/>
                <a:ea typeface="Calibri"/>
                <a:cs typeface="Calibri"/>
                <a:sym typeface="Calibri"/>
              </a:rPr>
              <a:t>Tree baseline</a:t>
            </a:r>
            <a:endParaRPr/>
          </a:p>
        </p:txBody>
      </p:sp>
      <p:sp>
        <p:nvSpPr>
          <p:cNvPr id="371" name="Google Shape;371;p39"/>
          <p:cNvSpPr/>
          <p:nvPr/>
        </p:nvSpPr>
        <p:spPr>
          <a:xfrm>
            <a:off x="411480" y="3611880"/>
            <a:ext cx="1371600" cy="384048"/>
          </a:xfrm>
          <a:prstGeom prst="rect">
            <a:avLst/>
          </a:prstGeom>
          <a:solidFill>
            <a:srgbClr val="FFFFFF"/>
          </a:solidFill>
          <a:ln cap="flat" cmpd="sng" w="9525">
            <a:solidFill>
              <a:srgbClr val="CDD4D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91425" spcFirstLastPara="1" rIns="91425" wrap="square" tIns="0">
            <a:noAutofit/>
          </a:bodyPr>
          <a:lstStyle/>
          <a:p>
            <a:pPr indent="0" lvl="0" marL="0" marR="0" rtl="0" algn="l">
              <a:spcBef>
                <a:spcPts val="0"/>
              </a:spcBef>
              <a:spcAft>
                <a:spcPts val="0"/>
              </a:spcAft>
              <a:buNone/>
            </a:pPr>
            <a:r>
              <a:rPr b="0" i="0" lang="en-US" sz="1200" u="none" cap="none" strike="noStrike">
                <a:solidFill>
                  <a:srgbClr val="101010"/>
                </a:solidFill>
                <a:latin typeface="Calibri"/>
                <a:ea typeface="Calibri"/>
                <a:cs typeface="Calibri"/>
                <a:sym typeface="Calibri"/>
              </a:rPr>
              <a:t>Neural</a:t>
            </a:r>
            <a:endParaRPr/>
          </a:p>
        </p:txBody>
      </p:sp>
      <p:sp>
        <p:nvSpPr>
          <p:cNvPr id="372" name="Google Shape;372;p39"/>
          <p:cNvSpPr/>
          <p:nvPr/>
        </p:nvSpPr>
        <p:spPr>
          <a:xfrm>
            <a:off x="1783080" y="3611880"/>
            <a:ext cx="2926080" cy="384048"/>
          </a:xfrm>
          <a:prstGeom prst="rect">
            <a:avLst/>
          </a:prstGeom>
          <a:solidFill>
            <a:srgbClr val="FFFFFF"/>
          </a:solidFill>
          <a:ln cap="flat" cmpd="sng" w="9525">
            <a:solidFill>
              <a:srgbClr val="CDD4D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91425" spcFirstLastPara="1" rIns="91425" wrap="square" tIns="0">
            <a:noAutofit/>
          </a:bodyPr>
          <a:lstStyle/>
          <a:p>
            <a:pPr indent="0" lvl="0" marL="0" marR="0" rtl="0" algn="l">
              <a:spcBef>
                <a:spcPts val="0"/>
              </a:spcBef>
              <a:spcAft>
                <a:spcPts val="0"/>
              </a:spcAft>
              <a:buNone/>
            </a:pPr>
            <a:r>
              <a:rPr b="0" i="0" lang="en-US" sz="1200" u="none" cap="none" strike="noStrike">
                <a:solidFill>
                  <a:srgbClr val="101010"/>
                </a:solidFill>
                <a:latin typeface="Calibri"/>
                <a:ea typeface="Calibri"/>
                <a:cs typeface="Calibri"/>
                <a:sym typeface="Calibri"/>
              </a:rPr>
              <a:t>PyTorch Tabular Net</a:t>
            </a:r>
            <a:endParaRPr/>
          </a:p>
        </p:txBody>
      </p:sp>
      <p:sp>
        <p:nvSpPr>
          <p:cNvPr id="373" name="Google Shape;373;p39"/>
          <p:cNvSpPr/>
          <p:nvPr/>
        </p:nvSpPr>
        <p:spPr>
          <a:xfrm>
            <a:off x="4709160" y="3611880"/>
            <a:ext cx="1828800" cy="384048"/>
          </a:xfrm>
          <a:prstGeom prst="rect">
            <a:avLst/>
          </a:prstGeom>
          <a:solidFill>
            <a:srgbClr val="FFFFFF"/>
          </a:solidFill>
          <a:ln cap="flat" cmpd="sng" w="9525">
            <a:solidFill>
              <a:srgbClr val="CDD4D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91425" spcFirstLastPara="1" rIns="91425" wrap="square" tIns="0">
            <a:noAutofit/>
          </a:bodyPr>
          <a:lstStyle/>
          <a:p>
            <a:pPr indent="0" lvl="0" marL="0" marR="0" rtl="0" algn="l">
              <a:spcBef>
                <a:spcPts val="0"/>
              </a:spcBef>
              <a:spcAft>
                <a:spcPts val="0"/>
              </a:spcAft>
              <a:buNone/>
            </a:pPr>
            <a:r>
              <a:rPr b="0" i="0" lang="en-US" sz="1200" u="none" cap="none" strike="noStrike">
                <a:solidFill>
                  <a:srgbClr val="101010"/>
                </a:solidFill>
                <a:latin typeface="Calibri"/>
                <a:ea typeface="Calibri"/>
                <a:cs typeface="Calibri"/>
                <a:sym typeface="Calibri"/>
              </a:rPr>
              <a:t>Inverse-freq weights</a:t>
            </a:r>
            <a:endParaRPr/>
          </a:p>
        </p:txBody>
      </p:sp>
      <p:sp>
        <p:nvSpPr>
          <p:cNvPr id="374" name="Google Shape;374;p39"/>
          <p:cNvSpPr/>
          <p:nvPr/>
        </p:nvSpPr>
        <p:spPr>
          <a:xfrm>
            <a:off x="6537960" y="3611880"/>
            <a:ext cx="1188720" cy="384048"/>
          </a:xfrm>
          <a:prstGeom prst="rect">
            <a:avLst/>
          </a:prstGeom>
          <a:solidFill>
            <a:srgbClr val="FFFFFF"/>
          </a:solidFill>
          <a:ln cap="flat" cmpd="sng" w="9525">
            <a:solidFill>
              <a:srgbClr val="CDD4D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91425" spcFirstLastPara="1" rIns="91425" wrap="square" tIns="0">
            <a:noAutofit/>
          </a:bodyPr>
          <a:lstStyle/>
          <a:p>
            <a:pPr indent="0" lvl="0" marL="0" marR="0" rtl="0" algn="l">
              <a:spcBef>
                <a:spcPts val="0"/>
              </a:spcBef>
              <a:spcAft>
                <a:spcPts val="0"/>
              </a:spcAft>
              <a:buNone/>
            </a:pPr>
            <a:r>
              <a:rPr b="0" i="0" lang="en-US" sz="1200" u="none" cap="none" strike="noStrike">
                <a:solidFill>
                  <a:srgbClr val="101010"/>
                </a:solidFill>
                <a:latin typeface="Calibri"/>
                <a:ea typeface="Calibri"/>
                <a:cs typeface="Calibri"/>
                <a:sym typeface="Calibri"/>
              </a:rPr>
              <a:t>40</a:t>
            </a:r>
            <a:endParaRPr/>
          </a:p>
        </p:txBody>
      </p:sp>
      <p:sp>
        <p:nvSpPr>
          <p:cNvPr id="375" name="Google Shape;375;p39"/>
          <p:cNvSpPr/>
          <p:nvPr/>
        </p:nvSpPr>
        <p:spPr>
          <a:xfrm>
            <a:off x="7726680" y="3611880"/>
            <a:ext cx="1920240" cy="384048"/>
          </a:xfrm>
          <a:prstGeom prst="rect">
            <a:avLst/>
          </a:prstGeom>
          <a:solidFill>
            <a:srgbClr val="FFFFFF"/>
          </a:solidFill>
          <a:ln cap="flat" cmpd="sng" w="9525">
            <a:solidFill>
              <a:srgbClr val="CDD4D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91425" spcFirstLastPara="1" rIns="91425" wrap="square" tIns="0">
            <a:noAutofit/>
          </a:bodyPr>
          <a:lstStyle/>
          <a:p>
            <a:pPr indent="0" lvl="0" marL="0" marR="0" rtl="0" algn="l">
              <a:spcBef>
                <a:spcPts val="0"/>
              </a:spcBef>
              <a:spcAft>
                <a:spcPts val="0"/>
              </a:spcAft>
              <a:buNone/>
            </a:pPr>
            <a:r>
              <a:rPr b="0" i="0" lang="en-US" sz="1200" u="none" cap="none" strike="noStrike">
                <a:solidFill>
                  <a:srgbClr val="101010"/>
                </a:solidFill>
                <a:latin typeface="Calibri"/>
                <a:ea typeface="Calibri"/>
                <a:cs typeface="Calibri"/>
                <a:sym typeface="Calibri"/>
              </a:rPr>
              <a:t>Learned cat embeddings</a:t>
            </a:r>
            <a:endParaRPr/>
          </a:p>
        </p:txBody>
      </p:sp>
      <p:sp>
        <p:nvSpPr>
          <p:cNvPr id="376" name="Google Shape;376;p39"/>
          <p:cNvSpPr/>
          <p:nvPr/>
        </p:nvSpPr>
        <p:spPr>
          <a:xfrm>
            <a:off x="411480" y="3995928"/>
            <a:ext cx="1371600" cy="384048"/>
          </a:xfrm>
          <a:prstGeom prst="rect">
            <a:avLst/>
          </a:prstGeom>
          <a:solidFill>
            <a:srgbClr val="F4F7FA"/>
          </a:solidFill>
          <a:ln cap="flat" cmpd="sng" w="9525">
            <a:solidFill>
              <a:srgbClr val="CDD4D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91425" spcFirstLastPara="1" rIns="91425" wrap="square" tIns="0">
            <a:noAutofit/>
          </a:bodyPr>
          <a:lstStyle/>
          <a:p>
            <a:pPr indent="0" lvl="0" marL="0" marR="0" rtl="0" algn="l">
              <a:spcBef>
                <a:spcPts val="0"/>
              </a:spcBef>
              <a:spcAft>
                <a:spcPts val="0"/>
              </a:spcAft>
              <a:buNone/>
            </a:pPr>
            <a:r>
              <a:rPr b="0" i="0" lang="en-US" sz="1200" u="none" cap="none" strike="noStrike">
                <a:solidFill>
                  <a:srgbClr val="101010"/>
                </a:solidFill>
                <a:latin typeface="Calibri"/>
                <a:ea typeface="Calibri"/>
                <a:cs typeface="Calibri"/>
                <a:sym typeface="Calibri"/>
              </a:rPr>
              <a:t>Neural</a:t>
            </a:r>
            <a:endParaRPr/>
          </a:p>
        </p:txBody>
      </p:sp>
      <p:sp>
        <p:nvSpPr>
          <p:cNvPr id="377" name="Google Shape;377;p39"/>
          <p:cNvSpPr/>
          <p:nvPr/>
        </p:nvSpPr>
        <p:spPr>
          <a:xfrm>
            <a:off x="1783080" y="3995928"/>
            <a:ext cx="2926080" cy="384048"/>
          </a:xfrm>
          <a:prstGeom prst="rect">
            <a:avLst/>
          </a:prstGeom>
          <a:solidFill>
            <a:srgbClr val="F4F7FA"/>
          </a:solidFill>
          <a:ln cap="flat" cmpd="sng" w="9525">
            <a:solidFill>
              <a:srgbClr val="CDD4D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91425" spcFirstLastPara="1" rIns="91425" wrap="square" tIns="0">
            <a:noAutofit/>
          </a:bodyPr>
          <a:lstStyle/>
          <a:p>
            <a:pPr indent="0" lvl="0" marL="0" marR="0" rtl="0" algn="l">
              <a:spcBef>
                <a:spcPts val="0"/>
              </a:spcBef>
              <a:spcAft>
                <a:spcPts val="0"/>
              </a:spcAft>
              <a:buNone/>
            </a:pPr>
            <a:r>
              <a:rPr b="0" i="0" lang="en-US" sz="1200" u="none" cap="none" strike="noStrike">
                <a:solidFill>
                  <a:srgbClr val="101010"/>
                </a:solidFill>
                <a:latin typeface="Calibri"/>
                <a:ea typeface="Calibri"/>
                <a:cs typeface="Calibri"/>
                <a:sym typeface="Calibri"/>
              </a:rPr>
              <a:t>sklearn MLP</a:t>
            </a:r>
            <a:endParaRPr/>
          </a:p>
        </p:txBody>
      </p:sp>
      <p:sp>
        <p:nvSpPr>
          <p:cNvPr id="378" name="Google Shape;378;p39"/>
          <p:cNvSpPr/>
          <p:nvPr/>
        </p:nvSpPr>
        <p:spPr>
          <a:xfrm>
            <a:off x="4709160" y="3995928"/>
            <a:ext cx="1828800" cy="384048"/>
          </a:xfrm>
          <a:prstGeom prst="rect">
            <a:avLst/>
          </a:prstGeom>
          <a:solidFill>
            <a:srgbClr val="F4F7FA"/>
          </a:solidFill>
          <a:ln cap="flat" cmpd="sng" w="9525">
            <a:solidFill>
              <a:srgbClr val="CDD4D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91425" spcFirstLastPara="1" rIns="91425" wrap="square" tIns="0">
            <a:noAutofit/>
          </a:bodyPr>
          <a:lstStyle/>
          <a:p>
            <a:pPr indent="0" lvl="0" marL="0" marR="0" rtl="0" algn="l">
              <a:spcBef>
                <a:spcPts val="0"/>
              </a:spcBef>
              <a:spcAft>
                <a:spcPts val="0"/>
              </a:spcAft>
              <a:buNone/>
            </a:pPr>
            <a:r>
              <a:rPr b="0" i="0" lang="en-US" sz="1200" u="none" cap="none" strike="noStrike">
                <a:solidFill>
                  <a:srgbClr val="101010"/>
                </a:solidFill>
                <a:latin typeface="Calibri"/>
                <a:ea typeface="Calibri"/>
                <a:cs typeface="Calibri"/>
                <a:sym typeface="Calibri"/>
              </a:rPr>
              <a:t>Minority upsample 30 %</a:t>
            </a:r>
            <a:endParaRPr/>
          </a:p>
        </p:txBody>
      </p:sp>
      <p:sp>
        <p:nvSpPr>
          <p:cNvPr id="379" name="Google Shape;379;p39"/>
          <p:cNvSpPr/>
          <p:nvPr/>
        </p:nvSpPr>
        <p:spPr>
          <a:xfrm>
            <a:off x="6537960" y="3995928"/>
            <a:ext cx="1188720" cy="384048"/>
          </a:xfrm>
          <a:prstGeom prst="rect">
            <a:avLst/>
          </a:prstGeom>
          <a:solidFill>
            <a:srgbClr val="F4F7FA"/>
          </a:solidFill>
          <a:ln cap="flat" cmpd="sng" w="9525">
            <a:solidFill>
              <a:srgbClr val="CDD4D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91425" spcFirstLastPara="1" rIns="91425" wrap="square" tIns="0">
            <a:noAutofit/>
          </a:bodyPr>
          <a:lstStyle/>
          <a:p>
            <a:pPr indent="0" lvl="0" marL="0" marR="0" rtl="0" algn="l">
              <a:spcBef>
                <a:spcPts val="0"/>
              </a:spcBef>
              <a:spcAft>
                <a:spcPts val="0"/>
              </a:spcAft>
              <a:buNone/>
            </a:pPr>
            <a:r>
              <a:rPr b="0" i="0" lang="en-US" sz="1200" u="none" cap="none" strike="noStrike">
                <a:solidFill>
                  <a:srgbClr val="101010"/>
                </a:solidFill>
                <a:latin typeface="Calibri"/>
                <a:ea typeface="Calibri"/>
                <a:cs typeface="Calibri"/>
                <a:sym typeface="Calibri"/>
              </a:rPr>
              <a:t>40</a:t>
            </a:r>
            <a:endParaRPr/>
          </a:p>
        </p:txBody>
      </p:sp>
      <p:sp>
        <p:nvSpPr>
          <p:cNvPr id="380" name="Google Shape;380;p39"/>
          <p:cNvSpPr/>
          <p:nvPr/>
        </p:nvSpPr>
        <p:spPr>
          <a:xfrm>
            <a:off x="7726680" y="3995928"/>
            <a:ext cx="1920240" cy="384048"/>
          </a:xfrm>
          <a:prstGeom prst="rect">
            <a:avLst/>
          </a:prstGeom>
          <a:solidFill>
            <a:srgbClr val="F4F7FA"/>
          </a:solidFill>
          <a:ln cap="flat" cmpd="sng" w="9525">
            <a:solidFill>
              <a:srgbClr val="CDD4D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91425" spcFirstLastPara="1" rIns="91425" wrap="square" tIns="0">
            <a:noAutofit/>
          </a:bodyPr>
          <a:lstStyle/>
          <a:p>
            <a:pPr indent="0" lvl="0" marL="0" marR="0" rtl="0" algn="l">
              <a:spcBef>
                <a:spcPts val="0"/>
              </a:spcBef>
              <a:spcAft>
                <a:spcPts val="0"/>
              </a:spcAft>
              <a:buNone/>
            </a:pPr>
            <a:r>
              <a:rPr b="0" i="0" lang="en-US" sz="1200" u="none" cap="none" strike="noStrike">
                <a:solidFill>
                  <a:srgbClr val="101010"/>
                </a:solidFill>
                <a:latin typeface="Calibri"/>
                <a:ea typeface="Calibri"/>
                <a:cs typeface="Calibri"/>
                <a:sym typeface="Calibri"/>
              </a:rPr>
              <a:t>Wide-net baseline</a:t>
            </a:r>
            <a:endParaRPr/>
          </a:p>
        </p:txBody>
      </p:sp>
      <p:sp>
        <p:nvSpPr>
          <p:cNvPr id="381" name="Google Shape;381;p39"/>
          <p:cNvSpPr/>
          <p:nvPr/>
        </p:nvSpPr>
        <p:spPr>
          <a:xfrm>
            <a:off x="411480" y="4379976"/>
            <a:ext cx="1371600" cy="384048"/>
          </a:xfrm>
          <a:prstGeom prst="rect">
            <a:avLst/>
          </a:prstGeom>
          <a:solidFill>
            <a:srgbClr val="FFFFFF"/>
          </a:solidFill>
          <a:ln cap="flat" cmpd="sng" w="9525">
            <a:solidFill>
              <a:srgbClr val="CDD4D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91425" spcFirstLastPara="1" rIns="91425" wrap="square" tIns="0">
            <a:noAutofit/>
          </a:bodyPr>
          <a:lstStyle/>
          <a:p>
            <a:pPr indent="0" lvl="0" marL="0" marR="0" rtl="0" algn="l">
              <a:spcBef>
                <a:spcPts val="0"/>
              </a:spcBef>
              <a:spcAft>
                <a:spcPts val="0"/>
              </a:spcAft>
              <a:buNone/>
            </a:pPr>
            <a:r>
              <a:rPr b="0" i="0" lang="en-US" sz="1200" u="none" cap="none" strike="noStrike">
                <a:solidFill>
                  <a:srgbClr val="101010"/>
                </a:solidFill>
                <a:latin typeface="Calibri"/>
                <a:ea typeface="Calibri"/>
                <a:cs typeface="Calibri"/>
                <a:sym typeface="Calibri"/>
              </a:rPr>
              <a:t>Linear</a:t>
            </a:r>
            <a:endParaRPr/>
          </a:p>
        </p:txBody>
      </p:sp>
      <p:sp>
        <p:nvSpPr>
          <p:cNvPr id="382" name="Google Shape;382;p39"/>
          <p:cNvSpPr/>
          <p:nvPr/>
        </p:nvSpPr>
        <p:spPr>
          <a:xfrm>
            <a:off x="1783080" y="4379976"/>
            <a:ext cx="2926080" cy="384048"/>
          </a:xfrm>
          <a:prstGeom prst="rect">
            <a:avLst/>
          </a:prstGeom>
          <a:solidFill>
            <a:srgbClr val="FFFFFF"/>
          </a:solidFill>
          <a:ln cap="flat" cmpd="sng" w="9525">
            <a:solidFill>
              <a:srgbClr val="CDD4D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91425" spcFirstLastPara="1" rIns="91425" wrap="square" tIns="0">
            <a:noAutofit/>
          </a:bodyPr>
          <a:lstStyle/>
          <a:p>
            <a:pPr indent="0" lvl="0" marL="0" marR="0" rtl="0" algn="l">
              <a:spcBef>
                <a:spcPts val="0"/>
              </a:spcBef>
              <a:spcAft>
                <a:spcPts val="0"/>
              </a:spcAft>
              <a:buNone/>
            </a:pPr>
            <a:r>
              <a:rPr b="0" i="0" lang="en-US" sz="1200" u="none" cap="none" strike="noStrike">
                <a:solidFill>
                  <a:srgbClr val="101010"/>
                </a:solidFill>
                <a:latin typeface="Calibri"/>
                <a:ea typeface="Calibri"/>
                <a:cs typeface="Calibri"/>
                <a:sym typeface="Calibri"/>
              </a:rPr>
              <a:t>Logistic Regression</a:t>
            </a:r>
            <a:endParaRPr/>
          </a:p>
        </p:txBody>
      </p:sp>
      <p:sp>
        <p:nvSpPr>
          <p:cNvPr id="383" name="Google Shape;383;p39"/>
          <p:cNvSpPr/>
          <p:nvPr/>
        </p:nvSpPr>
        <p:spPr>
          <a:xfrm>
            <a:off x="4709160" y="4379976"/>
            <a:ext cx="1828800" cy="384048"/>
          </a:xfrm>
          <a:prstGeom prst="rect">
            <a:avLst/>
          </a:prstGeom>
          <a:solidFill>
            <a:srgbClr val="FFFFFF"/>
          </a:solidFill>
          <a:ln cap="flat" cmpd="sng" w="9525">
            <a:solidFill>
              <a:srgbClr val="CDD4D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91425" spcFirstLastPara="1" rIns="91425" wrap="square" tIns="0">
            <a:noAutofit/>
          </a:bodyPr>
          <a:lstStyle/>
          <a:p>
            <a:pPr indent="0" lvl="0" marL="0" marR="0" rtl="0" algn="l">
              <a:spcBef>
                <a:spcPts val="0"/>
              </a:spcBef>
              <a:spcAft>
                <a:spcPts val="0"/>
              </a:spcAft>
              <a:buNone/>
            </a:pPr>
            <a:r>
              <a:rPr b="0" i="0" lang="en-US" sz="1200" u="none" cap="none" strike="noStrike">
                <a:solidFill>
                  <a:srgbClr val="101010"/>
                </a:solidFill>
                <a:latin typeface="Calibri"/>
                <a:ea typeface="Calibri"/>
                <a:cs typeface="Calibri"/>
                <a:sym typeface="Calibri"/>
              </a:rPr>
              <a:t>Inverse-freq weights</a:t>
            </a:r>
            <a:endParaRPr/>
          </a:p>
        </p:txBody>
      </p:sp>
      <p:sp>
        <p:nvSpPr>
          <p:cNvPr id="384" name="Google Shape;384;p39"/>
          <p:cNvSpPr/>
          <p:nvPr/>
        </p:nvSpPr>
        <p:spPr>
          <a:xfrm>
            <a:off x="6537960" y="4379976"/>
            <a:ext cx="1188720" cy="384048"/>
          </a:xfrm>
          <a:prstGeom prst="rect">
            <a:avLst/>
          </a:prstGeom>
          <a:solidFill>
            <a:srgbClr val="FFFFFF"/>
          </a:solidFill>
          <a:ln cap="flat" cmpd="sng" w="9525">
            <a:solidFill>
              <a:srgbClr val="CDD4D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91425" spcFirstLastPara="1" rIns="91425" wrap="square" tIns="0">
            <a:noAutofit/>
          </a:bodyPr>
          <a:lstStyle/>
          <a:p>
            <a:pPr indent="0" lvl="0" marL="0" marR="0" rtl="0" algn="l">
              <a:spcBef>
                <a:spcPts val="0"/>
              </a:spcBef>
              <a:spcAft>
                <a:spcPts val="0"/>
              </a:spcAft>
              <a:buNone/>
            </a:pPr>
            <a:r>
              <a:rPr b="0" i="0" lang="en-US" sz="1200" u="none" cap="none" strike="noStrike">
                <a:solidFill>
                  <a:srgbClr val="101010"/>
                </a:solidFill>
                <a:latin typeface="Calibri"/>
                <a:ea typeface="Calibri"/>
                <a:cs typeface="Calibri"/>
                <a:sym typeface="Calibri"/>
              </a:rPr>
              <a:t>40</a:t>
            </a:r>
            <a:endParaRPr/>
          </a:p>
        </p:txBody>
      </p:sp>
      <p:sp>
        <p:nvSpPr>
          <p:cNvPr id="385" name="Google Shape;385;p39"/>
          <p:cNvSpPr/>
          <p:nvPr/>
        </p:nvSpPr>
        <p:spPr>
          <a:xfrm>
            <a:off x="7726680" y="4379976"/>
            <a:ext cx="1920240" cy="384048"/>
          </a:xfrm>
          <a:prstGeom prst="rect">
            <a:avLst/>
          </a:prstGeom>
          <a:solidFill>
            <a:srgbClr val="FFFFFF"/>
          </a:solidFill>
          <a:ln cap="flat" cmpd="sng" w="9525">
            <a:solidFill>
              <a:srgbClr val="CDD4D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91425" spcFirstLastPara="1" rIns="91425" wrap="square" tIns="0">
            <a:noAutofit/>
          </a:bodyPr>
          <a:lstStyle/>
          <a:p>
            <a:pPr indent="0" lvl="0" marL="0" marR="0" rtl="0" algn="l">
              <a:spcBef>
                <a:spcPts val="0"/>
              </a:spcBef>
              <a:spcAft>
                <a:spcPts val="0"/>
              </a:spcAft>
              <a:buNone/>
            </a:pPr>
            <a:r>
              <a:rPr b="0" i="0" lang="en-US" sz="1200" u="none" cap="none" strike="noStrike">
                <a:solidFill>
                  <a:srgbClr val="101010"/>
                </a:solidFill>
                <a:latin typeface="Calibri"/>
                <a:ea typeface="Calibri"/>
                <a:cs typeface="Calibri"/>
                <a:sym typeface="Calibri"/>
              </a:rPr>
              <a:t>Linear baseline</a:t>
            </a:r>
            <a:endParaRPr/>
          </a:p>
        </p:txBody>
      </p:sp>
      <p:sp>
        <p:nvSpPr>
          <p:cNvPr id="386" name="Google Shape;386;p39"/>
          <p:cNvSpPr/>
          <p:nvPr/>
        </p:nvSpPr>
        <p:spPr>
          <a:xfrm>
            <a:off x="411480" y="4764024"/>
            <a:ext cx="1371600" cy="384048"/>
          </a:xfrm>
          <a:prstGeom prst="rect">
            <a:avLst/>
          </a:prstGeom>
          <a:solidFill>
            <a:srgbClr val="F4F7FA"/>
          </a:solidFill>
          <a:ln cap="flat" cmpd="sng" w="9525">
            <a:solidFill>
              <a:srgbClr val="CDD4D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91425" spcFirstLastPara="1" rIns="91425" wrap="square" tIns="0">
            <a:noAutofit/>
          </a:bodyPr>
          <a:lstStyle/>
          <a:p>
            <a:pPr indent="0" lvl="0" marL="0" marR="0" rtl="0" algn="l">
              <a:spcBef>
                <a:spcPts val="0"/>
              </a:spcBef>
              <a:spcAft>
                <a:spcPts val="0"/>
              </a:spcAft>
              <a:buNone/>
            </a:pPr>
            <a:r>
              <a:rPr b="0" i="0" lang="en-US" sz="1200" u="none" cap="none" strike="noStrike">
                <a:solidFill>
                  <a:srgbClr val="101010"/>
                </a:solidFill>
                <a:latin typeface="Calibri"/>
                <a:ea typeface="Calibri"/>
                <a:cs typeface="Calibri"/>
                <a:sym typeface="Calibri"/>
              </a:rPr>
              <a:t>Linear</a:t>
            </a:r>
            <a:endParaRPr/>
          </a:p>
        </p:txBody>
      </p:sp>
      <p:sp>
        <p:nvSpPr>
          <p:cNvPr id="387" name="Google Shape;387;p39"/>
          <p:cNvSpPr/>
          <p:nvPr/>
        </p:nvSpPr>
        <p:spPr>
          <a:xfrm>
            <a:off x="1783080" y="4764024"/>
            <a:ext cx="2926080" cy="384048"/>
          </a:xfrm>
          <a:prstGeom prst="rect">
            <a:avLst/>
          </a:prstGeom>
          <a:solidFill>
            <a:srgbClr val="F4F7FA"/>
          </a:solidFill>
          <a:ln cap="flat" cmpd="sng" w="9525">
            <a:solidFill>
              <a:srgbClr val="CDD4D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91425" spcFirstLastPara="1" rIns="91425" wrap="square" tIns="0">
            <a:noAutofit/>
          </a:bodyPr>
          <a:lstStyle/>
          <a:p>
            <a:pPr indent="0" lvl="0" marL="0" marR="0" rtl="0" algn="l">
              <a:spcBef>
                <a:spcPts val="0"/>
              </a:spcBef>
              <a:spcAft>
                <a:spcPts val="0"/>
              </a:spcAft>
              <a:buNone/>
            </a:pPr>
            <a:r>
              <a:rPr b="0" i="0" lang="en-US" sz="1200" u="none" cap="none" strike="noStrike">
                <a:solidFill>
                  <a:srgbClr val="101010"/>
                </a:solidFill>
                <a:latin typeface="Calibri"/>
                <a:ea typeface="Calibri"/>
                <a:cs typeface="Calibri"/>
                <a:sym typeface="Calibri"/>
              </a:rPr>
              <a:t>Linear SVC</a:t>
            </a:r>
            <a:endParaRPr/>
          </a:p>
        </p:txBody>
      </p:sp>
      <p:sp>
        <p:nvSpPr>
          <p:cNvPr id="388" name="Google Shape;388;p39"/>
          <p:cNvSpPr/>
          <p:nvPr/>
        </p:nvSpPr>
        <p:spPr>
          <a:xfrm>
            <a:off x="4709160" y="4764024"/>
            <a:ext cx="1828800" cy="384048"/>
          </a:xfrm>
          <a:prstGeom prst="rect">
            <a:avLst/>
          </a:prstGeom>
          <a:solidFill>
            <a:srgbClr val="F4F7FA"/>
          </a:solidFill>
          <a:ln cap="flat" cmpd="sng" w="9525">
            <a:solidFill>
              <a:srgbClr val="CDD4D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91425" spcFirstLastPara="1" rIns="91425" wrap="square" tIns="0">
            <a:noAutofit/>
          </a:bodyPr>
          <a:lstStyle/>
          <a:p>
            <a:pPr indent="0" lvl="0" marL="0" marR="0" rtl="0" algn="l">
              <a:spcBef>
                <a:spcPts val="0"/>
              </a:spcBef>
              <a:spcAft>
                <a:spcPts val="0"/>
              </a:spcAft>
              <a:buNone/>
            </a:pPr>
            <a:r>
              <a:rPr b="0" i="0" lang="en-US" sz="1200" u="none" cap="none" strike="noStrike">
                <a:solidFill>
                  <a:srgbClr val="101010"/>
                </a:solidFill>
                <a:latin typeface="Calibri"/>
                <a:ea typeface="Calibri"/>
                <a:cs typeface="Calibri"/>
                <a:sym typeface="Calibri"/>
              </a:rPr>
              <a:t>Inverse-freq weights</a:t>
            </a:r>
            <a:endParaRPr/>
          </a:p>
        </p:txBody>
      </p:sp>
      <p:sp>
        <p:nvSpPr>
          <p:cNvPr id="389" name="Google Shape;389;p39"/>
          <p:cNvSpPr/>
          <p:nvPr/>
        </p:nvSpPr>
        <p:spPr>
          <a:xfrm>
            <a:off x="6537960" y="4764024"/>
            <a:ext cx="1188720" cy="384048"/>
          </a:xfrm>
          <a:prstGeom prst="rect">
            <a:avLst/>
          </a:prstGeom>
          <a:solidFill>
            <a:srgbClr val="F4F7FA"/>
          </a:solidFill>
          <a:ln cap="flat" cmpd="sng" w="9525">
            <a:solidFill>
              <a:srgbClr val="CDD4D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91425" spcFirstLastPara="1" rIns="91425" wrap="square" tIns="0">
            <a:noAutofit/>
          </a:bodyPr>
          <a:lstStyle/>
          <a:p>
            <a:pPr indent="0" lvl="0" marL="0" marR="0" rtl="0" algn="l">
              <a:spcBef>
                <a:spcPts val="0"/>
              </a:spcBef>
              <a:spcAft>
                <a:spcPts val="0"/>
              </a:spcAft>
              <a:buNone/>
            </a:pPr>
            <a:r>
              <a:rPr b="0" i="0" lang="en-US" sz="1200" u="none" cap="none" strike="noStrike">
                <a:solidFill>
                  <a:srgbClr val="101010"/>
                </a:solidFill>
                <a:latin typeface="Calibri"/>
                <a:ea typeface="Calibri"/>
                <a:cs typeface="Calibri"/>
                <a:sym typeface="Calibri"/>
              </a:rPr>
              <a:t>40</a:t>
            </a:r>
            <a:endParaRPr/>
          </a:p>
        </p:txBody>
      </p:sp>
      <p:sp>
        <p:nvSpPr>
          <p:cNvPr id="390" name="Google Shape;390;p39"/>
          <p:cNvSpPr/>
          <p:nvPr/>
        </p:nvSpPr>
        <p:spPr>
          <a:xfrm>
            <a:off x="7726680" y="4764024"/>
            <a:ext cx="1920240" cy="384048"/>
          </a:xfrm>
          <a:prstGeom prst="rect">
            <a:avLst/>
          </a:prstGeom>
          <a:solidFill>
            <a:srgbClr val="F4F7FA"/>
          </a:solidFill>
          <a:ln cap="flat" cmpd="sng" w="9525">
            <a:solidFill>
              <a:srgbClr val="CDD4D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91425" spcFirstLastPara="1" rIns="91425" wrap="square" tIns="0">
            <a:noAutofit/>
          </a:bodyPr>
          <a:lstStyle/>
          <a:p>
            <a:pPr indent="0" lvl="0" marL="0" marR="0" rtl="0" algn="l">
              <a:spcBef>
                <a:spcPts val="0"/>
              </a:spcBef>
              <a:spcAft>
                <a:spcPts val="0"/>
              </a:spcAft>
              <a:buNone/>
            </a:pPr>
            <a:r>
              <a:rPr b="0" i="0" lang="en-US" sz="1200" u="none" cap="none" strike="noStrike">
                <a:solidFill>
                  <a:srgbClr val="101010"/>
                </a:solidFill>
                <a:latin typeface="Calibri"/>
                <a:ea typeface="Calibri"/>
                <a:cs typeface="Calibri"/>
                <a:sym typeface="Calibri"/>
              </a:rPr>
              <a:t>Margin baseline</a:t>
            </a:r>
            <a:endParaRPr/>
          </a:p>
        </p:txBody>
      </p:sp>
      <p:sp>
        <p:nvSpPr>
          <p:cNvPr id="391" name="Google Shape;391;p39"/>
          <p:cNvSpPr txBox="1"/>
          <p:nvPr/>
        </p:nvSpPr>
        <p:spPr>
          <a:xfrm>
            <a:off x="411480" y="5359383"/>
            <a:ext cx="9235500" cy="1692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1" lang="en-US" sz="1100" u="none" cap="none" strike="noStrike">
                <a:solidFill>
                  <a:srgbClr val="555555"/>
                </a:solidFill>
                <a:latin typeface="Calibri"/>
                <a:ea typeface="Calibri"/>
                <a:cs typeface="Calibri"/>
                <a:sym typeface="Calibri"/>
              </a:rPr>
              <a:t>Table 5. All eight models share the same 60/20/20 stratified splits (seed 42); only architecture and feature set vary.</a:t>
            </a:r>
            <a:endParaRPr/>
          </a:p>
        </p:txBody>
      </p:sp>
      <p:sp>
        <p:nvSpPr>
          <p:cNvPr id="392" name="Google Shape;392;p39"/>
          <p:cNvSpPr txBox="1"/>
          <p:nvPr/>
        </p:nvSpPr>
        <p:spPr>
          <a:xfrm>
            <a:off x="502920" y="5852160"/>
            <a:ext cx="9052500" cy="2772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1" lang="en-US" sz="1800" u="none" cap="none" strike="noStrike">
                <a:solidFill>
                  <a:srgbClr val="156082"/>
                </a:solidFill>
                <a:latin typeface="Calibri"/>
                <a:ea typeface="Calibri"/>
                <a:cs typeface="Calibri"/>
                <a:sym typeface="Calibri"/>
              </a:rPr>
              <a:t>Why ROC-AUC: threshold-independent and stays informative under our 1:11.7 class imbalance.</a:t>
            </a:r>
            <a:endParaRPr/>
          </a:p>
        </p:txBody>
      </p:sp>
      <p:sp>
        <p:nvSpPr>
          <p:cNvPr id="393" name="Google Shape;393;p39"/>
          <p:cNvSpPr txBox="1"/>
          <p:nvPr/>
        </p:nvSpPr>
        <p:spPr>
          <a:xfrm>
            <a:off x="411480" y="7479792"/>
            <a:ext cx="6400800" cy="256032"/>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00" u="none" cap="none" strike="noStrike">
                <a:solidFill>
                  <a:srgbClr val="555555"/>
                </a:solidFill>
                <a:latin typeface="Calibri"/>
                <a:ea typeface="Calibri"/>
                <a:cs typeface="Calibri"/>
                <a:sym typeface="Calibri"/>
              </a:rPr>
              <a:t>Team 3c  ·  CDS-492 Capstone  ·  Spring 2026</a:t>
            </a:r>
            <a:endParaRPr/>
          </a:p>
        </p:txBody>
      </p:sp>
      <p:sp>
        <p:nvSpPr>
          <p:cNvPr id="394" name="Google Shape;394;p39"/>
          <p:cNvSpPr txBox="1"/>
          <p:nvPr/>
        </p:nvSpPr>
        <p:spPr>
          <a:xfrm>
            <a:off x="8686800" y="7479792"/>
            <a:ext cx="1005840" cy="256032"/>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i="0" lang="en-US" sz="1000" u="none" cap="none" strike="noStrike">
                <a:solidFill>
                  <a:srgbClr val="555555"/>
                </a:solidFill>
                <a:latin typeface="Calibri"/>
                <a:ea typeface="Calibri"/>
                <a:cs typeface="Calibri"/>
                <a:sym typeface="Calibri"/>
              </a:rPr>
              <a:t>7 / 16</a:t>
            </a:r>
            <a:endParaRPr/>
          </a:p>
        </p:txBody>
      </p:sp>
      <p:sp>
        <p:nvSpPr>
          <p:cNvPr id="395" name="Google Shape;395;p39"/>
          <p:cNvSpPr/>
          <p:nvPr/>
        </p:nvSpPr>
        <p:spPr>
          <a:xfrm>
            <a:off x="411450" y="2843800"/>
            <a:ext cx="9235500" cy="384000"/>
          </a:xfrm>
          <a:prstGeom prst="rect">
            <a:avLst/>
          </a:prstGeom>
          <a:solidFill>
            <a:srgbClr val="4E9CC4">
              <a:alpha val="2215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9" name="Shape 399"/>
        <p:cNvGrpSpPr/>
        <p:nvPr/>
      </p:nvGrpSpPr>
      <p:grpSpPr>
        <a:xfrm>
          <a:off x="0" y="0"/>
          <a:ext cx="0" cy="0"/>
          <a:chOff x="0" y="0"/>
          <a:chExt cx="0" cy="0"/>
        </a:xfrm>
      </p:grpSpPr>
      <p:sp>
        <p:nvSpPr>
          <p:cNvPr id="400" name="Google Shape;400;p40"/>
          <p:cNvSpPr/>
          <p:nvPr/>
        </p:nvSpPr>
        <p:spPr>
          <a:xfrm>
            <a:off x="0" y="0"/>
            <a:ext cx="10058400" cy="1188720"/>
          </a:xfrm>
          <a:prstGeom prst="rect">
            <a:avLst/>
          </a:prstGeom>
          <a:solidFill>
            <a:srgbClr val="0E2841"/>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401" name="Google Shape;401;p40"/>
          <p:cNvSpPr txBox="1"/>
          <p:nvPr/>
        </p:nvSpPr>
        <p:spPr>
          <a:xfrm>
            <a:off x="502920" y="368236"/>
            <a:ext cx="9144000" cy="6156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4000">
                <a:solidFill>
                  <a:srgbClr val="FFFFFF"/>
                </a:solidFill>
                <a:latin typeface="Calibri"/>
                <a:ea typeface="Calibri"/>
                <a:cs typeface="Calibri"/>
                <a:sym typeface="Calibri"/>
              </a:rPr>
              <a:t>Selected</a:t>
            </a:r>
            <a:r>
              <a:rPr b="1" i="0" lang="en-US" sz="4000" u="none" cap="none" strike="noStrike">
                <a:solidFill>
                  <a:srgbClr val="FFFFFF"/>
                </a:solidFill>
                <a:latin typeface="Calibri"/>
                <a:ea typeface="Calibri"/>
                <a:cs typeface="Calibri"/>
                <a:sym typeface="Calibri"/>
              </a:rPr>
              <a:t> </a:t>
            </a:r>
            <a:r>
              <a:rPr b="1" lang="en-US" sz="4000">
                <a:solidFill>
                  <a:srgbClr val="FFFFFF"/>
                </a:solidFill>
                <a:latin typeface="Calibri"/>
                <a:ea typeface="Calibri"/>
                <a:cs typeface="Calibri"/>
                <a:sym typeface="Calibri"/>
              </a:rPr>
              <a:t>Model: CatBoost</a:t>
            </a:r>
            <a:endParaRPr sz="4000"/>
          </a:p>
        </p:txBody>
      </p:sp>
      <p:sp>
        <p:nvSpPr>
          <p:cNvPr id="402" name="Google Shape;402;p40"/>
          <p:cNvSpPr/>
          <p:nvPr/>
        </p:nvSpPr>
        <p:spPr>
          <a:xfrm>
            <a:off x="0" y="1188720"/>
            <a:ext cx="10058400" cy="45720"/>
          </a:xfrm>
          <a:prstGeom prst="rect">
            <a:avLst/>
          </a:prstGeom>
          <a:solidFill>
            <a:srgbClr val="156082"/>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403" name="Google Shape;403;p40"/>
          <p:cNvSpPr/>
          <p:nvPr/>
        </p:nvSpPr>
        <p:spPr>
          <a:xfrm>
            <a:off x="502920" y="1691640"/>
            <a:ext cx="1554480" cy="384048"/>
          </a:xfrm>
          <a:prstGeom prst="rect">
            <a:avLst/>
          </a:prstGeom>
          <a:solidFill>
            <a:srgbClr val="0E2841"/>
          </a:solidFill>
          <a:ln cap="flat" cmpd="sng" w="9525">
            <a:solidFill>
              <a:srgbClr val="0E2841"/>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91425" spcFirstLastPara="1" rIns="91425" wrap="square" tIns="0">
            <a:noAutofit/>
          </a:bodyPr>
          <a:lstStyle/>
          <a:p>
            <a:pPr indent="0" lvl="0" marL="0" marR="0" rtl="0" algn="l">
              <a:spcBef>
                <a:spcPts val="0"/>
              </a:spcBef>
              <a:spcAft>
                <a:spcPts val="0"/>
              </a:spcAft>
              <a:buNone/>
            </a:pPr>
            <a:r>
              <a:rPr b="1" i="0" lang="en-US" sz="1200" u="none" cap="none" strike="noStrike">
                <a:solidFill>
                  <a:srgbClr val="FFFFFF"/>
                </a:solidFill>
                <a:latin typeface="Calibri"/>
                <a:ea typeface="Calibri"/>
                <a:cs typeface="Calibri"/>
                <a:sym typeface="Calibri"/>
              </a:rPr>
              <a:t>Parameter</a:t>
            </a:r>
            <a:endParaRPr/>
          </a:p>
        </p:txBody>
      </p:sp>
      <p:sp>
        <p:nvSpPr>
          <p:cNvPr id="404" name="Google Shape;404;p40"/>
          <p:cNvSpPr/>
          <p:nvPr/>
        </p:nvSpPr>
        <p:spPr>
          <a:xfrm>
            <a:off x="2057400" y="1691640"/>
            <a:ext cx="1280160" cy="384048"/>
          </a:xfrm>
          <a:prstGeom prst="rect">
            <a:avLst/>
          </a:prstGeom>
          <a:solidFill>
            <a:srgbClr val="0E2841"/>
          </a:solidFill>
          <a:ln cap="flat" cmpd="sng" w="9525">
            <a:solidFill>
              <a:srgbClr val="0E2841"/>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91425" spcFirstLastPara="1" rIns="91425" wrap="square" tIns="0">
            <a:noAutofit/>
          </a:bodyPr>
          <a:lstStyle/>
          <a:p>
            <a:pPr indent="0" lvl="0" marL="0" marR="0" rtl="0" algn="l">
              <a:spcBef>
                <a:spcPts val="0"/>
              </a:spcBef>
              <a:spcAft>
                <a:spcPts val="0"/>
              </a:spcAft>
              <a:buNone/>
            </a:pPr>
            <a:r>
              <a:rPr b="1" i="0" lang="en-US" sz="1200" u="none" cap="none" strike="noStrike">
                <a:solidFill>
                  <a:srgbClr val="FFFFFF"/>
                </a:solidFill>
                <a:latin typeface="Calibri"/>
                <a:ea typeface="Calibri"/>
                <a:cs typeface="Calibri"/>
                <a:sym typeface="Calibri"/>
              </a:rPr>
              <a:t>Value</a:t>
            </a:r>
            <a:endParaRPr/>
          </a:p>
        </p:txBody>
      </p:sp>
      <p:sp>
        <p:nvSpPr>
          <p:cNvPr id="405" name="Google Shape;405;p40"/>
          <p:cNvSpPr/>
          <p:nvPr/>
        </p:nvSpPr>
        <p:spPr>
          <a:xfrm>
            <a:off x="3337560" y="1691640"/>
            <a:ext cx="3291840" cy="384048"/>
          </a:xfrm>
          <a:prstGeom prst="rect">
            <a:avLst/>
          </a:prstGeom>
          <a:solidFill>
            <a:srgbClr val="0E2841"/>
          </a:solidFill>
          <a:ln cap="flat" cmpd="sng" w="9525">
            <a:solidFill>
              <a:srgbClr val="0E2841"/>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91425" spcFirstLastPara="1" rIns="91425" wrap="square" tIns="0">
            <a:noAutofit/>
          </a:bodyPr>
          <a:lstStyle/>
          <a:p>
            <a:pPr indent="0" lvl="0" marL="0" marR="0" rtl="0" algn="l">
              <a:spcBef>
                <a:spcPts val="0"/>
              </a:spcBef>
              <a:spcAft>
                <a:spcPts val="0"/>
              </a:spcAft>
              <a:buNone/>
            </a:pPr>
            <a:r>
              <a:rPr b="1" i="0" lang="en-US" sz="1200" u="none" cap="none" strike="noStrike">
                <a:solidFill>
                  <a:srgbClr val="FFFFFF"/>
                </a:solidFill>
                <a:latin typeface="Calibri"/>
                <a:ea typeface="Calibri"/>
                <a:cs typeface="Calibri"/>
                <a:sym typeface="Calibri"/>
              </a:rPr>
              <a:t>Rationale</a:t>
            </a:r>
            <a:endParaRPr/>
          </a:p>
        </p:txBody>
      </p:sp>
      <p:sp>
        <p:nvSpPr>
          <p:cNvPr id="406" name="Google Shape;406;p40"/>
          <p:cNvSpPr/>
          <p:nvPr/>
        </p:nvSpPr>
        <p:spPr>
          <a:xfrm>
            <a:off x="502920" y="2075688"/>
            <a:ext cx="1554480" cy="384048"/>
          </a:xfrm>
          <a:prstGeom prst="rect">
            <a:avLst/>
          </a:prstGeom>
          <a:solidFill>
            <a:srgbClr val="FFFFFF"/>
          </a:solidFill>
          <a:ln cap="flat" cmpd="sng" w="9525">
            <a:solidFill>
              <a:srgbClr val="CDD4D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91425" spcFirstLastPara="1" rIns="91425" wrap="square" tIns="0">
            <a:noAutofit/>
          </a:bodyPr>
          <a:lstStyle/>
          <a:p>
            <a:pPr indent="0" lvl="0" marL="0" marR="0" rtl="0" algn="l">
              <a:spcBef>
                <a:spcPts val="0"/>
              </a:spcBef>
              <a:spcAft>
                <a:spcPts val="0"/>
              </a:spcAft>
              <a:buNone/>
            </a:pPr>
            <a:r>
              <a:rPr b="1" i="0" lang="en-US" sz="1200" u="none" cap="none" strike="noStrike">
                <a:solidFill>
                  <a:srgbClr val="101010"/>
                </a:solidFill>
                <a:latin typeface="Calibri"/>
                <a:ea typeface="Calibri"/>
                <a:cs typeface="Calibri"/>
                <a:sym typeface="Calibri"/>
              </a:rPr>
              <a:t>Loss</a:t>
            </a:r>
            <a:endParaRPr/>
          </a:p>
        </p:txBody>
      </p:sp>
      <p:sp>
        <p:nvSpPr>
          <p:cNvPr id="407" name="Google Shape;407;p40"/>
          <p:cNvSpPr/>
          <p:nvPr/>
        </p:nvSpPr>
        <p:spPr>
          <a:xfrm>
            <a:off x="2057400" y="2075688"/>
            <a:ext cx="1280160" cy="384048"/>
          </a:xfrm>
          <a:prstGeom prst="rect">
            <a:avLst/>
          </a:prstGeom>
          <a:solidFill>
            <a:srgbClr val="FFFFFF"/>
          </a:solidFill>
          <a:ln cap="flat" cmpd="sng" w="9525">
            <a:solidFill>
              <a:srgbClr val="CDD4D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91425" spcFirstLastPara="1" rIns="91425" wrap="square" tIns="0">
            <a:noAutofit/>
          </a:bodyPr>
          <a:lstStyle/>
          <a:p>
            <a:pPr indent="0" lvl="0" marL="0" marR="0" rtl="0" algn="l">
              <a:spcBef>
                <a:spcPts val="0"/>
              </a:spcBef>
              <a:spcAft>
                <a:spcPts val="0"/>
              </a:spcAft>
              <a:buNone/>
            </a:pPr>
            <a:r>
              <a:rPr b="0" i="0" lang="en-US" sz="1200" u="none" cap="none" strike="noStrike">
                <a:solidFill>
                  <a:srgbClr val="101010"/>
                </a:solidFill>
                <a:latin typeface="Calibri"/>
                <a:ea typeface="Calibri"/>
                <a:cs typeface="Calibri"/>
                <a:sym typeface="Calibri"/>
              </a:rPr>
              <a:t>Logloss</a:t>
            </a:r>
            <a:endParaRPr/>
          </a:p>
        </p:txBody>
      </p:sp>
      <p:sp>
        <p:nvSpPr>
          <p:cNvPr id="408" name="Google Shape;408;p40"/>
          <p:cNvSpPr/>
          <p:nvPr/>
        </p:nvSpPr>
        <p:spPr>
          <a:xfrm>
            <a:off x="3337560" y="2075688"/>
            <a:ext cx="3291840" cy="384048"/>
          </a:xfrm>
          <a:prstGeom prst="rect">
            <a:avLst/>
          </a:prstGeom>
          <a:solidFill>
            <a:srgbClr val="FFFFFF"/>
          </a:solidFill>
          <a:ln cap="flat" cmpd="sng" w="9525">
            <a:solidFill>
              <a:srgbClr val="CDD4D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91425" spcFirstLastPara="1" rIns="91425" wrap="square" tIns="0">
            <a:noAutofit/>
          </a:bodyPr>
          <a:lstStyle/>
          <a:p>
            <a:pPr indent="0" lvl="0" marL="0" marR="0" rtl="0" algn="l">
              <a:spcBef>
                <a:spcPts val="0"/>
              </a:spcBef>
              <a:spcAft>
                <a:spcPts val="0"/>
              </a:spcAft>
              <a:buNone/>
            </a:pPr>
            <a:r>
              <a:rPr b="0" i="0" lang="en-US" sz="1200" u="none" cap="none" strike="noStrike">
                <a:solidFill>
                  <a:srgbClr val="101010"/>
                </a:solidFill>
                <a:latin typeface="Calibri"/>
                <a:ea typeface="Calibri"/>
                <a:cs typeface="Calibri"/>
                <a:sym typeface="Calibri"/>
              </a:rPr>
              <a:t>Binary classification</a:t>
            </a:r>
            <a:endParaRPr/>
          </a:p>
        </p:txBody>
      </p:sp>
      <p:sp>
        <p:nvSpPr>
          <p:cNvPr id="409" name="Google Shape;409;p40"/>
          <p:cNvSpPr/>
          <p:nvPr/>
        </p:nvSpPr>
        <p:spPr>
          <a:xfrm>
            <a:off x="502920" y="2459736"/>
            <a:ext cx="1554480" cy="384048"/>
          </a:xfrm>
          <a:prstGeom prst="rect">
            <a:avLst/>
          </a:prstGeom>
          <a:solidFill>
            <a:srgbClr val="F4F7FA"/>
          </a:solidFill>
          <a:ln cap="flat" cmpd="sng" w="9525">
            <a:solidFill>
              <a:srgbClr val="CDD4D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91425" spcFirstLastPara="1" rIns="91425" wrap="square" tIns="0">
            <a:noAutofit/>
          </a:bodyPr>
          <a:lstStyle/>
          <a:p>
            <a:pPr indent="0" lvl="0" marL="0" marR="0" rtl="0" algn="l">
              <a:spcBef>
                <a:spcPts val="0"/>
              </a:spcBef>
              <a:spcAft>
                <a:spcPts val="0"/>
              </a:spcAft>
              <a:buNone/>
            </a:pPr>
            <a:r>
              <a:rPr b="1" i="0" lang="en-US" sz="1200" u="none" cap="none" strike="noStrike">
                <a:solidFill>
                  <a:srgbClr val="101010"/>
                </a:solidFill>
                <a:latin typeface="Calibri"/>
                <a:ea typeface="Calibri"/>
                <a:cs typeface="Calibri"/>
                <a:sym typeface="Calibri"/>
              </a:rPr>
              <a:t>Depth</a:t>
            </a:r>
            <a:endParaRPr/>
          </a:p>
        </p:txBody>
      </p:sp>
      <p:sp>
        <p:nvSpPr>
          <p:cNvPr id="410" name="Google Shape;410;p40"/>
          <p:cNvSpPr/>
          <p:nvPr/>
        </p:nvSpPr>
        <p:spPr>
          <a:xfrm>
            <a:off x="2057400" y="2459736"/>
            <a:ext cx="1280160" cy="384048"/>
          </a:xfrm>
          <a:prstGeom prst="rect">
            <a:avLst/>
          </a:prstGeom>
          <a:solidFill>
            <a:srgbClr val="F4F7FA"/>
          </a:solidFill>
          <a:ln cap="flat" cmpd="sng" w="9525">
            <a:solidFill>
              <a:srgbClr val="CDD4D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91425" spcFirstLastPara="1" rIns="91425" wrap="square" tIns="0">
            <a:noAutofit/>
          </a:bodyPr>
          <a:lstStyle/>
          <a:p>
            <a:pPr indent="0" lvl="0" marL="0" marR="0" rtl="0" algn="l">
              <a:spcBef>
                <a:spcPts val="0"/>
              </a:spcBef>
              <a:spcAft>
                <a:spcPts val="0"/>
              </a:spcAft>
              <a:buNone/>
            </a:pPr>
            <a:r>
              <a:rPr b="0" i="0" lang="en-US" sz="1200" u="none" cap="none" strike="noStrike">
                <a:solidFill>
                  <a:srgbClr val="101010"/>
                </a:solidFill>
                <a:latin typeface="Calibri"/>
                <a:ea typeface="Calibri"/>
                <a:cs typeface="Calibri"/>
                <a:sym typeface="Calibri"/>
              </a:rPr>
              <a:t>6</a:t>
            </a:r>
            <a:endParaRPr/>
          </a:p>
        </p:txBody>
      </p:sp>
      <p:sp>
        <p:nvSpPr>
          <p:cNvPr id="411" name="Google Shape;411;p40"/>
          <p:cNvSpPr/>
          <p:nvPr/>
        </p:nvSpPr>
        <p:spPr>
          <a:xfrm>
            <a:off x="3337560" y="2459736"/>
            <a:ext cx="3291840" cy="384048"/>
          </a:xfrm>
          <a:prstGeom prst="rect">
            <a:avLst/>
          </a:prstGeom>
          <a:solidFill>
            <a:srgbClr val="F4F7FA"/>
          </a:solidFill>
          <a:ln cap="flat" cmpd="sng" w="9525">
            <a:solidFill>
              <a:srgbClr val="CDD4D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91425" spcFirstLastPara="1" rIns="91425" wrap="square" tIns="0">
            <a:noAutofit/>
          </a:bodyPr>
          <a:lstStyle/>
          <a:p>
            <a:pPr indent="0" lvl="0" marL="0" marR="0" rtl="0" algn="l">
              <a:spcBef>
                <a:spcPts val="0"/>
              </a:spcBef>
              <a:spcAft>
                <a:spcPts val="0"/>
              </a:spcAft>
              <a:buNone/>
            </a:pPr>
            <a:r>
              <a:rPr b="0" i="0" lang="en-US" sz="1200" u="none" cap="none" strike="noStrike">
                <a:solidFill>
                  <a:srgbClr val="101010"/>
                </a:solidFill>
                <a:latin typeface="Calibri"/>
                <a:ea typeface="Calibri"/>
                <a:cs typeface="Calibri"/>
                <a:sym typeface="Calibri"/>
              </a:rPr>
              <a:t>Balance bias / variance</a:t>
            </a:r>
            <a:endParaRPr/>
          </a:p>
        </p:txBody>
      </p:sp>
      <p:sp>
        <p:nvSpPr>
          <p:cNvPr id="412" name="Google Shape;412;p40"/>
          <p:cNvSpPr/>
          <p:nvPr/>
        </p:nvSpPr>
        <p:spPr>
          <a:xfrm>
            <a:off x="502920" y="2843784"/>
            <a:ext cx="1554480" cy="384048"/>
          </a:xfrm>
          <a:prstGeom prst="rect">
            <a:avLst/>
          </a:prstGeom>
          <a:solidFill>
            <a:srgbClr val="FFFFFF"/>
          </a:solidFill>
          <a:ln cap="flat" cmpd="sng" w="9525">
            <a:solidFill>
              <a:srgbClr val="CDD4D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91425" spcFirstLastPara="1" rIns="91425" wrap="square" tIns="0">
            <a:noAutofit/>
          </a:bodyPr>
          <a:lstStyle/>
          <a:p>
            <a:pPr indent="0" lvl="0" marL="0" marR="0" rtl="0" algn="l">
              <a:spcBef>
                <a:spcPts val="0"/>
              </a:spcBef>
              <a:spcAft>
                <a:spcPts val="0"/>
              </a:spcAft>
              <a:buNone/>
            </a:pPr>
            <a:r>
              <a:rPr b="1" i="0" lang="en-US" sz="1200" u="none" cap="none" strike="noStrike">
                <a:solidFill>
                  <a:srgbClr val="101010"/>
                </a:solidFill>
                <a:latin typeface="Calibri"/>
                <a:ea typeface="Calibri"/>
                <a:cs typeface="Calibri"/>
                <a:sym typeface="Calibri"/>
              </a:rPr>
              <a:t>Learning rate</a:t>
            </a:r>
            <a:endParaRPr/>
          </a:p>
        </p:txBody>
      </p:sp>
      <p:sp>
        <p:nvSpPr>
          <p:cNvPr id="413" name="Google Shape;413;p40"/>
          <p:cNvSpPr/>
          <p:nvPr/>
        </p:nvSpPr>
        <p:spPr>
          <a:xfrm>
            <a:off x="2057400" y="2843784"/>
            <a:ext cx="1280160" cy="384048"/>
          </a:xfrm>
          <a:prstGeom prst="rect">
            <a:avLst/>
          </a:prstGeom>
          <a:solidFill>
            <a:srgbClr val="FFFFFF"/>
          </a:solidFill>
          <a:ln cap="flat" cmpd="sng" w="9525">
            <a:solidFill>
              <a:srgbClr val="CDD4D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91425" spcFirstLastPara="1" rIns="91425" wrap="square" tIns="0">
            <a:noAutofit/>
          </a:bodyPr>
          <a:lstStyle/>
          <a:p>
            <a:pPr indent="0" lvl="0" marL="0" marR="0" rtl="0" algn="l">
              <a:spcBef>
                <a:spcPts val="0"/>
              </a:spcBef>
              <a:spcAft>
                <a:spcPts val="0"/>
              </a:spcAft>
              <a:buNone/>
            </a:pPr>
            <a:r>
              <a:rPr b="0" i="0" lang="en-US" sz="1200" u="none" cap="none" strike="noStrike">
                <a:solidFill>
                  <a:srgbClr val="101010"/>
                </a:solidFill>
                <a:latin typeface="Calibri"/>
                <a:ea typeface="Calibri"/>
                <a:cs typeface="Calibri"/>
                <a:sym typeface="Calibri"/>
              </a:rPr>
              <a:t>0.03</a:t>
            </a:r>
            <a:endParaRPr/>
          </a:p>
        </p:txBody>
      </p:sp>
      <p:sp>
        <p:nvSpPr>
          <p:cNvPr id="414" name="Google Shape;414;p40"/>
          <p:cNvSpPr/>
          <p:nvPr/>
        </p:nvSpPr>
        <p:spPr>
          <a:xfrm>
            <a:off x="3337560" y="2843784"/>
            <a:ext cx="3291840" cy="384048"/>
          </a:xfrm>
          <a:prstGeom prst="rect">
            <a:avLst/>
          </a:prstGeom>
          <a:solidFill>
            <a:srgbClr val="FFFFFF"/>
          </a:solidFill>
          <a:ln cap="flat" cmpd="sng" w="9525">
            <a:solidFill>
              <a:srgbClr val="CDD4D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91425" spcFirstLastPara="1" rIns="91425" wrap="square" tIns="0">
            <a:noAutofit/>
          </a:bodyPr>
          <a:lstStyle/>
          <a:p>
            <a:pPr indent="0" lvl="0" marL="0" marR="0" rtl="0" algn="l">
              <a:spcBef>
                <a:spcPts val="0"/>
              </a:spcBef>
              <a:spcAft>
                <a:spcPts val="0"/>
              </a:spcAft>
              <a:buNone/>
            </a:pPr>
            <a:r>
              <a:rPr b="0" i="0" lang="en-US" sz="1200" u="none" cap="none" strike="noStrike">
                <a:solidFill>
                  <a:srgbClr val="101010"/>
                </a:solidFill>
                <a:latin typeface="Calibri"/>
                <a:ea typeface="Calibri"/>
                <a:cs typeface="Calibri"/>
                <a:sym typeface="Calibri"/>
              </a:rPr>
              <a:t>Slow, steady convergence</a:t>
            </a:r>
            <a:endParaRPr/>
          </a:p>
        </p:txBody>
      </p:sp>
      <p:sp>
        <p:nvSpPr>
          <p:cNvPr id="415" name="Google Shape;415;p40"/>
          <p:cNvSpPr/>
          <p:nvPr/>
        </p:nvSpPr>
        <p:spPr>
          <a:xfrm>
            <a:off x="502920" y="3227832"/>
            <a:ext cx="1554480" cy="384048"/>
          </a:xfrm>
          <a:prstGeom prst="rect">
            <a:avLst/>
          </a:prstGeom>
          <a:solidFill>
            <a:srgbClr val="F4F7FA"/>
          </a:solidFill>
          <a:ln cap="flat" cmpd="sng" w="9525">
            <a:solidFill>
              <a:srgbClr val="CDD4D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91425" spcFirstLastPara="1" rIns="91425" wrap="square" tIns="0">
            <a:noAutofit/>
          </a:bodyPr>
          <a:lstStyle/>
          <a:p>
            <a:pPr indent="0" lvl="0" marL="0" marR="0" rtl="0" algn="l">
              <a:spcBef>
                <a:spcPts val="0"/>
              </a:spcBef>
              <a:spcAft>
                <a:spcPts val="0"/>
              </a:spcAft>
              <a:buNone/>
            </a:pPr>
            <a:r>
              <a:rPr b="1" i="0" lang="en-US" sz="1200" u="none" cap="none" strike="noStrike">
                <a:solidFill>
                  <a:srgbClr val="101010"/>
                </a:solidFill>
                <a:latin typeface="Calibri"/>
                <a:ea typeface="Calibri"/>
                <a:cs typeface="Calibri"/>
                <a:sym typeface="Calibri"/>
              </a:rPr>
              <a:t>L2 regularization</a:t>
            </a:r>
            <a:endParaRPr/>
          </a:p>
        </p:txBody>
      </p:sp>
      <p:sp>
        <p:nvSpPr>
          <p:cNvPr id="416" name="Google Shape;416;p40"/>
          <p:cNvSpPr/>
          <p:nvPr/>
        </p:nvSpPr>
        <p:spPr>
          <a:xfrm>
            <a:off x="2057400" y="3227832"/>
            <a:ext cx="1280160" cy="384048"/>
          </a:xfrm>
          <a:prstGeom prst="rect">
            <a:avLst/>
          </a:prstGeom>
          <a:solidFill>
            <a:srgbClr val="F4F7FA"/>
          </a:solidFill>
          <a:ln cap="flat" cmpd="sng" w="9525">
            <a:solidFill>
              <a:srgbClr val="CDD4D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91425" spcFirstLastPara="1" rIns="91425" wrap="square" tIns="0">
            <a:noAutofit/>
          </a:bodyPr>
          <a:lstStyle/>
          <a:p>
            <a:pPr indent="0" lvl="0" marL="0" marR="0" rtl="0" algn="l">
              <a:spcBef>
                <a:spcPts val="0"/>
              </a:spcBef>
              <a:spcAft>
                <a:spcPts val="0"/>
              </a:spcAft>
              <a:buNone/>
            </a:pPr>
            <a:r>
              <a:rPr b="0" i="0" lang="en-US" sz="1200" u="none" cap="none" strike="noStrike">
                <a:solidFill>
                  <a:srgbClr val="101010"/>
                </a:solidFill>
                <a:latin typeface="Calibri"/>
                <a:ea typeface="Calibri"/>
                <a:cs typeface="Calibri"/>
                <a:sym typeface="Calibri"/>
              </a:rPr>
              <a:t>5.0</a:t>
            </a:r>
            <a:endParaRPr/>
          </a:p>
        </p:txBody>
      </p:sp>
      <p:sp>
        <p:nvSpPr>
          <p:cNvPr id="417" name="Google Shape;417;p40"/>
          <p:cNvSpPr/>
          <p:nvPr/>
        </p:nvSpPr>
        <p:spPr>
          <a:xfrm>
            <a:off x="3337560" y="3227832"/>
            <a:ext cx="3291840" cy="384048"/>
          </a:xfrm>
          <a:prstGeom prst="rect">
            <a:avLst/>
          </a:prstGeom>
          <a:solidFill>
            <a:srgbClr val="F4F7FA"/>
          </a:solidFill>
          <a:ln cap="flat" cmpd="sng" w="9525">
            <a:solidFill>
              <a:srgbClr val="CDD4D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91425" spcFirstLastPara="1" rIns="91425" wrap="square" tIns="0">
            <a:noAutofit/>
          </a:bodyPr>
          <a:lstStyle/>
          <a:p>
            <a:pPr indent="0" lvl="0" marL="0" marR="0" rtl="0" algn="l">
              <a:spcBef>
                <a:spcPts val="0"/>
              </a:spcBef>
              <a:spcAft>
                <a:spcPts val="0"/>
              </a:spcAft>
              <a:buNone/>
            </a:pPr>
            <a:r>
              <a:rPr b="0" i="0" lang="en-US" sz="1200" u="none" cap="none" strike="noStrike">
                <a:solidFill>
                  <a:srgbClr val="101010"/>
                </a:solidFill>
                <a:latin typeface="Calibri"/>
                <a:ea typeface="Calibri"/>
                <a:cs typeface="Calibri"/>
                <a:sym typeface="Calibri"/>
              </a:rPr>
              <a:t>Reduce overfit on imbalanced data</a:t>
            </a:r>
            <a:endParaRPr/>
          </a:p>
        </p:txBody>
      </p:sp>
      <p:sp>
        <p:nvSpPr>
          <p:cNvPr id="418" name="Google Shape;418;p40"/>
          <p:cNvSpPr/>
          <p:nvPr/>
        </p:nvSpPr>
        <p:spPr>
          <a:xfrm>
            <a:off x="502920" y="3611880"/>
            <a:ext cx="1554480" cy="384048"/>
          </a:xfrm>
          <a:prstGeom prst="rect">
            <a:avLst/>
          </a:prstGeom>
          <a:solidFill>
            <a:srgbClr val="FFFFFF"/>
          </a:solidFill>
          <a:ln cap="flat" cmpd="sng" w="9525">
            <a:solidFill>
              <a:srgbClr val="CDD4D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91425" spcFirstLastPara="1" rIns="91425" wrap="square" tIns="0">
            <a:noAutofit/>
          </a:bodyPr>
          <a:lstStyle/>
          <a:p>
            <a:pPr indent="0" lvl="0" marL="0" marR="0" rtl="0" algn="l">
              <a:spcBef>
                <a:spcPts val="0"/>
              </a:spcBef>
              <a:spcAft>
                <a:spcPts val="0"/>
              </a:spcAft>
              <a:buNone/>
            </a:pPr>
            <a:r>
              <a:rPr b="1" i="0" lang="en-US" sz="1200" u="none" cap="none" strike="noStrike">
                <a:solidFill>
                  <a:srgbClr val="101010"/>
                </a:solidFill>
                <a:latin typeface="Calibri"/>
                <a:ea typeface="Calibri"/>
                <a:cs typeface="Calibri"/>
                <a:sym typeface="Calibri"/>
              </a:rPr>
              <a:t>Max iterations</a:t>
            </a:r>
            <a:endParaRPr/>
          </a:p>
        </p:txBody>
      </p:sp>
      <p:sp>
        <p:nvSpPr>
          <p:cNvPr id="419" name="Google Shape;419;p40"/>
          <p:cNvSpPr/>
          <p:nvPr/>
        </p:nvSpPr>
        <p:spPr>
          <a:xfrm>
            <a:off x="2057400" y="3611880"/>
            <a:ext cx="1280160" cy="384048"/>
          </a:xfrm>
          <a:prstGeom prst="rect">
            <a:avLst/>
          </a:prstGeom>
          <a:solidFill>
            <a:srgbClr val="FFFFFF"/>
          </a:solidFill>
          <a:ln cap="flat" cmpd="sng" w="9525">
            <a:solidFill>
              <a:srgbClr val="CDD4D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91425" spcFirstLastPara="1" rIns="91425" wrap="square" tIns="0">
            <a:noAutofit/>
          </a:bodyPr>
          <a:lstStyle/>
          <a:p>
            <a:pPr indent="0" lvl="0" marL="0" marR="0" rtl="0" algn="l">
              <a:spcBef>
                <a:spcPts val="0"/>
              </a:spcBef>
              <a:spcAft>
                <a:spcPts val="0"/>
              </a:spcAft>
              <a:buNone/>
            </a:pPr>
            <a:r>
              <a:rPr b="0" i="0" lang="en-US" sz="1200" u="none" cap="none" strike="noStrike">
                <a:solidFill>
                  <a:srgbClr val="101010"/>
                </a:solidFill>
                <a:latin typeface="Calibri"/>
                <a:ea typeface="Calibri"/>
                <a:cs typeface="Calibri"/>
                <a:sym typeface="Calibri"/>
              </a:rPr>
              <a:t>1,500</a:t>
            </a:r>
            <a:endParaRPr/>
          </a:p>
        </p:txBody>
      </p:sp>
      <p:sp>
        <p:nvSpPr>
          <p:cNvPr id="420" name="Google Shape;420;p40"/>
          <p:cNvSpPr/>
          <p:nvPr/>
        </p:nvSpPr>
        <p:spPr>
          <a:xfrm>
            <a:off x="3337560" y="3611880"/>
            <a:ext cx="3291840" cy="384048"/>
          </a:xfrm>
          <a:prstGeom prst="rect">
            <a:avLst/>
          </a:prstGeom>
          <a:solidFill>
            <a:srgbClr val="FFFFFF"/>
          </a:solidFill>
          <a:ln cap="flat" cmpd="sng" w="9525">
            <a:solidFill>
              <a:srgbClr val="CDD4D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91425" spcFirstLastPara="1" rIns="91425" wrap="square" tIns="0">
            <a:noAutofit/>
          </a:bodyPr>
          <a:lstStyle/>
          <a:p>
            <a:pPr indent="0" lvl="0" marL="0" marR="0" rtl="0" algn="l">
              <a:spcBef>
                <a:spcPts val="0"/>
              </a:spcBef>
              <a:spcAft>
                <a:spcPts val="0"/>
              </a:spcAft>
              <a:buNone/>
            </a:pPr>
            <a:r>
              <a:rPr b="0" i="0" lang="en-US" sz="1200" u="none" cap="none" strike="noStrike">
                <a:solidFill>
                  <a:srgbClr val="101010"/>
                </a:solidFill>
                <a:latin typeface="Calibri"/>
                <a:ea typeface="Calibri"/>
                <a:cs typeface="Calibri"/>
                <a:sym typeface="Calibri"/>
              </a:rPr>
              <a:t>Headroom for early stopping</a:t>
            </a:r>
            <a:endParaRPr/>
          </a:p>
        </p:txBody>
      </p:sp>
      <p:sp>
        <p:nvSpPr>
          <p:cNvPr id="421" name="Google Shape;421;p40"/>
          <p:cNvSpPr/>
          <p:nvPr/>
        </p:nvSpPr>
        <p:spPr>
          <a:xfrm>
            <a:off x="502920" y="3995928"/>
            <a:ext cx="1554480" cy="384048"/>
          </a:xfrm>
          <a:prstGeom prst="rect">
            <a:avLst/>
          </a:prstGeom>
          <a:solidFill>
            <a:srgbClr val="F4F7FA"/>
          </a:solidFill>
          <a:ln cap="flat" cmpd="sng" w="9525">
            <a:solidFill>
              <a:srgbClr val="CDD4D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91425" spcFirstLastPara="1" rIns="91425" wrap="square" tIns="0">
            <a:noAutofit/>
          </a:bodyPr>
          <a:lstStyle/>
          <a:p>
            <a:pPr indent="0" lvl="0" marL="0" marR="0" rtl="0" algn="l">
              <a:spcBef>
                <a:spcPts val="0"/>
              </a:spcBef>
              <a:spcAft>
                <a:spcPts val="0"/>
              </a:spcAft>
              <a:buNone/>
            </a:pPr>
            <a:r>
              <a:rPr b="1" i="0" lang="en-US" sz="1200" u="none" cap="none" strike="noStrike">
                <a:solidFill>
                  <a:srgbClr val="101010"/>
                </a:solidFill>
                <a:latin typeface="Calibri"/>
                <a:ea typeface="Calibri"/>
                <a:cs typeface="Calibri"/>
                <a:sym typeface="Calibri"/>
              </a:rPr>
              <a:t>Early stop</a:t>
            </a:r>
            <a:endParaRPr/>
          </a:p>
        </p:txBody>
      </p:sp>
      <p:sp>
        <p:nvSpPr>
          <p:cNvPr id="422" name="Google Shape;422;p40"/>
          <p:cNvSpPr/>
          <p:nvPr/>
        </p:nvSpPr>
        <p:spPr>
          <a:xfrm>
            <a:off x="2057400" y="3995928"/>
            <a:ext cx="1280160" cy="384048"/>
          </a:xfrm>
          <a:prstGeom prst="rect">
            <a:avLst/>
          </a:prstGeom>
          <a:solidFill>
            <a:srgbClr val="F4F7FA"/>
          </a:solidFill>
          <a:ln cap="flat" cmpd="sng" w="9525">
            <a:solidFill>
              <a:srgbClr val="CDD4D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91425" spcFirstLastPara="1" rIns="91425" wrap="square" tIns="0">
            <a:noAutofit/>
          </a:bodyPr>
          <a:lstStyle/>
          <a:p>
            <a:pPr indent="0" lvl="0" marL="0" marR="0" rtl="0" algn="l">
              <a:spcBef>
                <a:spcPts val="0"/>
              </a:spcBef>
              <a:spcAft>
                <a:spcPts val="0"/>
              </a:spcAft>
              <a:buNone/>
            </a:pPr>
            <a:r>
              <a:rPr b="0" i="0" lang="en-US" sz="1200" u="none" cap="none" strike="noStrike">
                <a:solidFill>
                  <a:srgbClr val="101010"/>
                </a:solidFill>
                <a:latin typeface="Calibri"/>
                <a:ea typeface="Calibri"/>
                <a:cs typeface="Calibri"/>
                <a:sym typeface="Calibri"/>
              </a:rPr>
              <a:t>100 rounds</a:t>
            </a:r>
            <a:endParaRPr/>
          </a:p>
        </p:txBody>
      </p:sp>
      <p:sp>
        <p:nvSpPr>
          <p:cNvPr id="423" name="Google Shape;423;p40"/>
          <p:cNvSpPr/>
          <p:nvPr/>
        </p:nvSpPr>
        <p:spPr>
          <a:xfrm>
            <a:off x="3337560" y="3995928"/>
            <a:ext cx="3291840" cy="384048"/>
          </a:xfrm>
          <a:prstGeom prst="rect">
            <a:avLst/>
          </a:prstGeom>
          <a:solidFill>
            <a:srgbClr val="F4F7FA"/>
          </a:solidFill>
          <a:ln cap="flat" cmpd="sng" w="9525">
            <a:solidFill>
              <a:srgbClr val="CDD4D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91425" spcFirstLastPara="1" rIns="91425" wrap="square" tIns="0">
            <a:noAutofit/>
          </a:bodyPr>
          <a:lstStyle/>
          <a:p>
            <a:pPr indent="0" lvl="0" marL="0" marR="0" rtl="0" algn="l">
              <a:spcBef>
                <a:spcPts val="0"/>
              </a:spcBef>
              <a:spcAft>
                <a:spcPts val="0"/>
              </a:spcAft>
              <a:buNone/>
            </a:pPr>
            <a:r>
              <a:rPr b="0" i="0" lang="en-US" sz="1200" u="none" cap="none" strike="noStrike">
                <a:solidFill>
                  <a:srgbClr val="101010"/>
                </a:solidFill>
                <a:latin typeface="Calibri"/>
                <a:ea typeface="Calibri"/>
                <a:cs typeface="Calibri"/>
                <a:sym typeface="Calibri"/>
              </a:rPr>
              <a:t>Stop on validation plateau</a:t>
            </a:r>
            <a:endParaRPr/>
          </a:p>
        </p:txBody>
      </p:sp>
      <p:sp>
        <p:nvSpPr>
          <p:cNvPr id="424" name="Google Shape;424;p40"/>
          <p:cNvSpPr/>
          <p:nvPr/>
        </p:nvSpPr>
        <p:spPr>
          <a:xfrm>
            <a:off x="502920" y="4379976"/>
            <a:ext cx="1554480" cy="384048"/>
          </a:xfrm>
          <a:prstGeom prst="rect">
            <a:avLst/>
          </a:prstGeom>
          <a:solidFill>
            <a:srgbClr val="FFFFFF"/>
          </a:solidFill>
          <a:ln cap="flat" cmpd="sng" w="9525">
            <a:solidFill>
              <a:srgbClr val="CDD4D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91425" spcFirstLastPara="1" rIns="91425" wrap="square" tIns="0">
            <a:noAutofit/>
          </a:bodyPr>
          <a:lstStyle/>
          <a:p>
            <a:pPr indent="0" lvl="0" marL="0" marR="0" rtl="0" algn="l">
              <a:spcBef>
                <a:spcPts val="0"/>
              </a:spcBef>
              <a:spcAft>
                <a:spcPts val="0"/>
              </a:spcAft>
              <a:buNone/>
            </a:pPr>
            <a:r>
              <a:rPr b="1" i="0" lang="en-US" sz="1200" u="none" cap="none" strike="noStrike">
                <a:solidFill>
                  <a:srgbClr val="101010"/>
                </a:solidFill>
                <a:latin typeface="Calibri"/>
                <a:ea typeface="Calibri"/>
                <a:cs typeface="Calibri"/>
                <a:sym typeface="Calibri"/>
              </a:rPr>
              <a:t>Best iteration</a:t>
            </a:r>
            <a:endParaRPr/>
          </a:p>
        </p:txBody>
      </p:sp>
      <p:sp>
        <p:nvSpPr>
          <p:cNvPr id="425" name="Google Shape;425;p40"/>
          <p:cNvSpPr/>
          <p:nvPr/>
        </p:nvSpPr>
        <p:spPr>
          <a:xfrm>
            <a:off x="2057400" y="4379976"/>
            <a:ext cx="1280160" cy="384048"/>
          </a:xfrm>
          <a:prstGeom prst="rect">
            <a:avLst/>
          </a:prstGeom>
          <a:solidFill>
            <a:srgbClr val="FFFFFF"/>
          </a:solidFill>
          <a:ln cap="flat" cmpd="sng" w="9525">
            <a:solidFill>
              <a:srgbClr val="CDD4D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91425" spcFirstLastPara="1" rIns="91425" wrap="square" tIns="0">
            <a:noAutofit/>
          </a:bodyPr>
          <a:lstStyle/>
          <a:p>
            <a:pPr indent="0" lvl="0" marL="0" marR="0" rtl="0" algn="l">
              <a:spcBef>
                <a:spcPts val="0"/>
              </a:spcBef>
              <a:spcAft>
                <a:spcPts val="0"/>
              </a:spcAft>
              <a:buNone/>
            </a:pPr>
            <a:r>
              <a:rPr b="0" i="0" lang="en-US" sz="1200" u="none" cap="none" strike="noStrike">
                <a:solidFill>
                  <a:srgbClr val="101010"/>
                </a:solidFill>
                <a:latin typeface="Calibri"/>
                <a:ea typeface="Calibri"/>
                <a:cs typeface="Calibri"/>
                <a:sym typeface="Calibri"/>
              </a:rPr>
              <a:t>1,324</a:t>
            </a:r>
            <a:endParaRPr/>
          </a:p>
        </p:txBody>
      </p:sp>
      <p:sp>
        <p:nvSpPr>
          <p:cNvPr id="426" name="Google Shape;426;p40"/>
          <p:cNvSpPr/>
          <p:nvPr/>
        </p:nvSpPr>
        <p:spPr>
          <a:xfrm>
            <a:off x="3337560" y="4379976"/>
            <a:ext cx="3291840" cy="384048"/>
          </a:xfrm>
          <a:prstGeom prst="rect">
            <a:avLst/>
          </a:prstGeom>
          <a:solidFill>
            <a:srgbClr val="FFFFFF"/>
          </a:solidFill>
          <a:ln cap="flat" cmpd="sng" w="9525">
            <a:solidFill>
              <a:srgbClr val="CDD4D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91425" spcFirstLastPara="1" rIns="91425" wrap="square" tIns="0">
            <a:noAutofit/>
          </a:bodyPr>
          <a:lstStyle/>
          <a:p>
            <a:pPr indent="0" lvl="0" marL="0" marR="0" rtl="0" algn="l">
              <a:spcBef>
                <a:spcPts val="0"/>
              </a:spcBef>
              <a:spcAft>
                <a:spcPts val="0"/>
              </a:spcAft>
              <a:buNone/>
            </a:pPr>
            <a:r>
              <a:rPr b="0" i="0" lang="en-US" sz="1200" u="none" cap="none" strike="noStrike">
                <a:solidFill>
                  <a:srgbClr val="101010"/>
                </a:solidFill>
                <a:latin typeface="Calibri"/>
                <a:ea typeface="Calibri"/>
                <a:cs typeface="Calibri"/>
                <a:sym typeface="Calibri"/>
              </a:rPr>
              <a:t>Selected by early stopping</a:t>
            </a:r>
            <a:endParaRPr/>
          </a:p>
        </p:txBody>
      </p:sp>
      <p:sp>
        <p:nvSpPr>
          <p:cNvPr id="427" name="Google Shape;427;p40"/>
          <p:cNvSpPr txBox="1"/>
          <p:nvPr/>
        </p:nvSpPr>
        <p:spPr>
          <a:xfrm>
            <a:off x="502920" y="4936828"/>
            <a:ext cx="5669400" cy="1692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1" lang="en-US" sz="1100" u="none" cap="none" strike="noStrike">
                <a:solidFill>
                  <a:srgbClr val="555555"/>
                </a:solidFill>
                <a:latin typeface="Calibri"/>
                <a:ea typeface="Calibri"/>
                <a:cs typeface="Calibri"/>
                <a:sym typeface="Calibri"/>
              </a:rPr>
              <a:t>Table 6. Production CatBoost hyperparameters tuned on the validation set.</a:t>
            </a:r>
            <a:endParaRPr/>
          </a:p>
        </p:txBody>
      </p:sp>
      <p:sp>
        <p:nvSpPr>
          <p:cNvPr id="428" name="Google Shape;428;p40"/>
          <p:cNvSpPr txBox="1"/>
          <p:nvPr/>
        </p:nvSpPr>
        <p:spPr>
          <a:xfrm>
            <a:off x="502920" y="5303520"/>
            <a:ext cx="5669400" cy="923400"/>
          </a:xfrm>
          <a:prstGeom prst="rect">
            <a:avLst/>
          </a:prstGeom>
          <a:noFill/>
          <a:ln>
            <a:noFill/>
          </a:ln>
        </p:spPr>
        <p:txBody>
          <a:bodyPr anchorCtr="0" anchor="t" bIns="0" lIns="0" spcFirstLastPara="1" rIns="0" wrap="square" tIns="0">
            <a:spAutoFit/>
          </a:bodyPr>
          <a:lstStyle/>
          <a:p>
            <a:pPr indent="-323850" lvl="0" marL="457200" marR="0" rtl="0" algn="l">
              <a:lnSpc>
                <a:spcPct val="150000"/>
              </a:lnSpc>
              <a:spcBef>
                <a:spcPts val="0"/>
              </a:spcBef>
              <a:spcAft>
                <a:spcPts val="0"/>
              </a:spcAft>
              <a:buClr>
                <a:srgbClr val="101010"/>
              </a:buClr>
              <a:buSzPts val="1500"/>
              <a:buFont typeface="Calibri"/>
              <a:buChar char="●"/>
            </a:pPr>
            <a:r>
              <a:rPr b="0" i="0" lang="en-US" sz="1500" u="none" cap="none" strike="noStrike">
                <a:solidFill>
                  <a:srgbClr val="101010"/>
                </a:solidFill>
                <a:latin typeface="Calibri"/>
                <a:ea typeface="Calibri"/>
                <a:cs typeface="Calibri"/>
                <a:sym typeface="Calibri"/>
              </a:rPr>
              <a:t>Ordered boosting + native categorical handling</a:t>
            </a:r>
            <a:endParaRPr b="0" i="0" sz="1500" u="none" cap="none" strike="noStrike">
              <a:solidFill>
                <a:srgbClr val="101010"/>
              </a:solidFill>
              <a:latin typeface="Calibri"/>
              <a:ea typeface="Calibri"/>
              <a:cs typeface="Calibri"/>
              <a:sym typeface="Calibri"/>
            </a:endParaRPr>
          </a:p>
          <a:p>
            <a:pPr indent="-323850" lvl="0" marL="457200" rtl="0" algn="l">
              <a:lnSpc>
                <a:spcPct val="150000"/>
              </a:lnSpc>
              <a:spcBef>
                <a:spcPts val="0"/>
              </a:spcBef>
              <a:spcAft>
                <a:spcPts val="0"/>
              </a:spcAft>
              <a:buClr>
                <a:srgbClr val="101010"/>
              </a:buClr>
              <a:buSzPts val="1500"/>
              <a:buFont typeface="Calibri"/>
              <a:buChar char="●"/>
            </a:pPr>
            <a:r>
              <a:rPr lang="en-US" sz="1500">
                <a:solidFill>
                  <a:srgbClr val="101010"/>
                </a:solidFill>
                <a:latin typeface="Calibri"/>
                <a:ea typeface="Calibri"/>
                <a:cs typeface="Calibri"/>
                <a:sym typeface="Calibri"/>
              </a:rPr>
              <a:t>SHAP — defensible for clinical audit</a:t>
            </a:r>
            <a:endParaRPr sz="1500">
              <a:solidFill>
                <a:srgbClr val="101010"/>
              </a:solidFill>
              <a:latin typeface="Calibri"/>
              <a:ea typeface="Calibri"/>
              <a:cs typeface="Calibri"/>
              <a:sym typeface="Calibri"/>
            </a:endParaRPr>
          </a:p>
          <a:p>
            <a:pPr indent="-323850" lvl="0" marL="457200" rtl="0" algn="l">
              <a:lnSpc>
                <a:spcPct val="150000"/>
              </a:lnSpc>
              <a:spcBef>
                <a:spcPts val="0"/>
              </a:spcBef>
              <a:spcAft>
                <a:spcPts val="0"/>
              </a:spcAft>
              <a:buClr>
                <a:srgbClr val="101010"/>
              </a:buClr>
              <a:buSzPts val="1500"/>
              <a:buFont typeface="Calibri"/>
              <a:buChar char="●"/>
            </a:pPr>
            <a:r>
              <a:rPr lang="en-US" sz="1500">
                <a:solidFill>
                  <a:srgbClr val="101010"/>
                </a:solidFill>
                <a:latin typeface="Calibri"/>
                <a:ea typeface="Calibri"/>
                <a:cs typeface="Calibri"/>
                <a:sym typeface="Calibri"/>
              </a:rPr>
              <a:t>Native missing-value handling; no imputation pipeline at inference</a:t>
            </a:r>
            <a:endParaRPr sz="1500">
              <a:solidFill>
                <a:srgbClr val="101010"/>
              </a:solidFill>
              <a:latin typeface="Calibri"/>
              <a:ea typeface="Calibri"/>
              <a:cs typeface="Calibri"/>
              <a:sym typeface="Calibri"/>
            </a:endParaRPr>
          </a:p>
        </p:txBody>
      </p:sp>
      <p:sp>
        <p:nvSpPr>
          <p:cNvPr id="429" name="Google Shape;429;p40"/>
          <p:cNvSpPr/>
          <p:nvPr/>
        </p:nvSpPr>
        <p:spPr>
          <a:xfrm>
            <a:off x="6903725" y="1624575"/>
            <a:ext cx="2859300" cy="5220300"/>
          </a:xfrm>
          <a:prstGeom prst="roundRect">
            <a:avLst>
              <a:gd fmla="val 16667" name="adj"/>
            </a:avLst>
          </a:prstGeom>
          <a:solidFill>
            <a:srgbClr val="0E2841"/>
          </a:solidFill>
          <a:ln>
            <a:noFill/>
          </a:ln>
          <a:effectLst>
            <a:outerShdw blurRad="40000" rotWithShape="0" dir="5400000" dist="23000">
              <a:srgbClr val="000000">
                <a:alpha val="34901"/>
              </a:srgbClr>
            </a:outerShdw>
          </a:effectLst>
        </p:spPr>
        <p:txBody>
          <a:bodyPr anchorCtr="0" anchor="ctr" bIns="45700" lIns="228600" spcFirstLastPara="1" rIns="228600" wrap="square" tIns="201150">
            <a:noAutofit/>
          </a:bodyPr>
          <a:lstStyle/>
          <a:p>
            <a:pPr indent="0" lvl="0" marL="0" marR="0" rtl="0" algn="ctr">
              <a:spcBef>
                <a:spcPts val="0"/>
              </a:spcBef>
              <a:spcAft>
                <a:spcPts val="0"/>
              </a:spcAft>
              <a:buNone/>
            </a:pPr>
            <a:r>
              <a:rPr b="1" i="0" lang="en-US" sz="2200" u="none" cap="none" strike="noStrike">
                <a:solidFill>
                  <a:srgbClr val="FFFFFF"/>
                </a:solidFill>
                <a:latin typeface="Calibri"/>
                <a:ea typeface="Calibri"/>
                <a:cs typeface="Calibri"/>
                <a:sym typeface="Calibri"/>
              </a:rPr>
              <a:t>Production model</a:t>
            </a:r>
            <a:endParaRPr sz="2000"/>
          </a:p>
          <a:p>
            <a:pPr indent="0" lvl="0" marL="0" marR="0" rtl="0" algn="ctr">
              <a:spcBef>
                <a:spcPts val="800"/>
              </a:spcBef>
              <a:spcAft>
                <a:spcPts val="0"/>
              </a:spcAft>
              <a:buNone/>
            </a:pPr>
            <a:r>
              <a:rPr b="0" i="0" lang="en-US" sz="1800" u="none" cap="none" strike="noStrike">
                <a:solidFill>
                  <a:srgbClr val="FFFFFF"/>
                </a:solidFill>
                <a:latin typeface="Calibri"/>
                <a:ea typeface="Calibri"/>
                <a:cs typeface="Calibri"/>
                <a:sym typeface="Calibri"/>
              </a:rPr>
              <a:t>Test ROC-AUC</a:t>
            </a:r>
            <a:br>
              <a:rPr b="0" i="0" lang="en-US" sz="1800" u="none" cap="none" strike="noStrike">
                <a:solidFill>
                  <a:srgbClr val="FFFFFF"/>
                </a:solidFill>
                <a:latin typeface="Calibri"/>
                <a:ea typeface="Calibri"/>
                <a:cs typeface="Calibri"/>
                <a:sym typeface="Calibri"/>
              </a:rPr>
            </a:br>
            <a:r>
              <a:rPr b="1" i="0" lang="en-US" sz="2600" u="none" cap="none" strike="noStrike">
                <a:solidFill>
                  <a:srgbClr val="FFFFFF"/>
                </a:solidFill>
                <a:latin typeface="Calibri"/>
                <a:ea typeface="Calibri"/>
                <a:cs typeface="Calibri"/>
                <a:sym typeface="Calibri"/>
              </a:rPr>
              <a:t>0.817</a:t>
            </a:r>
            <a:endParaRPr sz="2000"/>
          </a:p>
          <a:p>
            <a:pPr indent="0" lvl="0" marL="0" marR="0" rtl="0" algn="ctr">
              <a:spcBef>
                <a:spcPts val="800"/>
              </a:spcBef>
              <a:spcAft>
                <a:spcPts val="0"/>
              </a:spcAft>
              <a:buNone/>
            </a:pPr>
            <a:r>
              <a:rPr b="0" i="0" lang="en-US" sz="1800" u="none" cap="none" strike="noStrike">
                <a:solidFill>
                  <a:srgbClr val="FFFFFF"/>
                </a:solidFill>
                <a:latin typeface="Calibri"/>
                <a:ea typeface="Calibri"/>
                <a:cs typeface="Calibri"/>
                <a:sym typeface="Calibri"/>
              </a:rPr>
              <a:t>Sensitivity</a:t>
            </a:r>
            <a:br>
              <a:rPr b="0" i="0" lang="en-US" sz="1800" u="none" cap="none" strike="noStrike">
                <a:solidFill>
                  <a:srgbClr val="FFFFFF"/>
                </a:solidFill>
                <a:latin typeface="Calibri"/>
                <a:ea typeface="Calibri"/>
                <a:cs typeface="Calibri"/>
                <a:sym typeface="Calibri"/>
              </a:rPr>
            </a:br>
            <a:r>
              <a:rPr b="1" i="0" lang="en-US" sz="2600" u="none" cap="none" strike="noStrike">
                <a:solidFill>
                  <a:srgbClr val="FFFFFF"/>
                </a:solidFill>
                <a:latin typeface="Calibri"/>
                <a:ea typeface="Calibri"/>
                <a:cs typeface="Calibri"/>
                <a:sym typeface="Calibri"/>
              </a:rPr>
              <a:t>85.2 %</a:t>
            </a:r>
            <a:endParaRPr sz="2000"/>
          </a:p>
          <a:p>
            <a:pPr indent="0" lvl="0" marL="0" marR="0" rtl="0" algn="ctr">
              <a:spcBef>
                <a:spcPts val="800"/>
              </a:spcBef>
              <a:spcAft>
                <a:spcPts val="0"/>
              </a:spcAft>
              <a:buNone/>
            </a:pPr>
            <a:r>
              <a:rPr b="0" i="0" lang="en-US" sz="1800" u="none" cap="none" strike="noStrike">
                <a:solidFill>
                  <a:srgbClr val="FFFFFF"/>
                </a:solidFill>
                <a:latin typeface="Calibri"/>
                <a:ea typeface="Calibri"/>
                <a:cs typeface="Calibri"/>
                <a:sym typeface="Calibri"/>
              </a:rPr>
              <a:t>NPV</a:t>
            </a:r>
            <a:br>
              <a:rPr b="0" i="0" lang="en-US" sz="1800" u="none" cap="none" strike="noStrike">
                <a:solidFill>
                  <a:srgbClr val="FFFFFF"/>
                </a:solidFill>
                <a:latin typeface="Calibri"/>
                <a:ea typeface="Calibri"/>
                <a:cs typeface="Calibri"/>
                <a:sym typeface="Calibri"/>
              </a:rPr>
            </a:br>
            <a:r>
              <a:rPr b="1" i="0" lang="en-US" sz="2600" u="none" cap="none" strike="noStrike">
                <a:solidFill>
                  <a:srgbClr val="FFFFFF"/>
                </a:solidFill>
                <a:latin typeface="Calibri"/>
                <a:ea typeface="Calibri"/>
                <a:cs typeface="Calibri"/>
                <a:sym typeface="Calibri"/>
              </a:rPr>
              <a:t>98.0 %</a:t>
            </a:r>
            <a:endParaRPr sz="2000"/>
          </a:p>
          <a:p>
            <a:pPr indent="0" lvl="0" marL="0" marR="0" rtl="0" algn="ctr">
              <a:spcBef>
                <a:spcPts val="800"/>
              </a:spcBef>
              <a:spcAft>
                <a:spcPts val="0"/>
              </a:spcAft>
              <a:buNone/>
            </a:pPr>
            <a:r>
              <a:rPr b="0" i="0" lang="en-US" sz="1800" u="none" cap="none" strike="noStrike">
                <a:solidFill>
                  <a:srgbClr val="FFFFFF"/>
                </a:solidFill>
                <a:latin typeface="Calibri"/>
                <a:ea typeface="Calibri"/>
                <a:cs typeface="Calibri"/>
                <a:sym typeface="Calibri"/>
              </a:rPr>
              <a:t>Brier score</a:t>
            </a:r>
            <a:br>
              <a:rPr b="0" i="0" lang="en-US" sz="1800" u="none" cap="none" strike="noStrike">
                <a:solidFill>
                  <a:srgbClr val="FFFFFF"/>
                </a:solidFill>
                <a:latin typeface="Calibri"/>
                <a:ea typeface="Calibri"/>
                <a:cs typeface="Calibri"/>
                <a:sym typeface="Calibri"/>
              </a:rPr>
            </a:br>
            <a:r>
              <a:rPr b="1" i="0" lang="en-US" sz="2600" u="none" cap="none" strike="noStrike">
                <a:solidFill>
                  <a:srgbClr val="FFFFFF"/>
                </a:solidFill>
                <a:latin typeface="Calibri"/>
                <a:ea typeface="Calibri"/>
                <a:cs typeface="Calibri"/>
                <a:sym typeface="Calibri"/>
              </a:rPr>
              <a:t>0.064</a:t>
            </a:r>
            <a:endParaRPr sz="2000"/>
          </a:p>
          <a:p>
            <a:pPr indent="0" lvl="0" marL="0" marR="0" rtl="0" algn="ctr">
              <a:spcBef>
                <a:spcPts val="800"/>
              </a:spcBef>
              <a:spcAft>
                <a:spcPts val="0"/>
              </a:spcAft>
              <a:buNone/>
            </a:pPr>
            <a:r>
              <a:rPr b="0" i="0" lang="en-US" sz="1800" u="none" cap="none" strike="noStrike">
                <a:solidFill>
                  <a:srgbClr val="FFFFFF"/>
                </a:solidFill>
                <a:latin typeface="Calibri"/>
                <a:ea typeface="Calibri"/>
                <a:cs typeface="Calibri"/>
                <a:sym typeface="Calibri"/>
              </a:rPr>
              <a:t>Threshold</a:t>
            </a:r>
            <a:br>
              <a:rPr b="0" i="0" lang="en-US" sz="1800" u="none" cap="none" strike="noStrike">
                <a:solidFill>
                  <a:srgbClr val="FFFFFF"/>
                </a:solidFill>
                <a:latin typeface="Calibri"/>
                <a:ea typeface="Calibri"/>
                <a:cs typeface="Calibri"/>
                <a:sym typeface="Calibri"/>
              </a:rPr>
            </a:br>
            <a:r>
              <a:rPr b="1" i="0" lang="en-US" sz="2600" u="none" cap="none" strike="noStrike">
                <a:solidFill>
                  <a:srgbClr val="FFFFFF"/>
                </a:solidFill>
                <a:latin typeface="Calibri"/>
                <a:ea typeface="Calibri"/>
                <a:cs typeface="Calibri"/>
                <a:sym typeface="Calibri"/>
              </a:rPr>
              <a:t>0.0659</a:t>
            </a:r>
            <a:endParaRPr sz="2000"/>
          </a:p>
        </p:txBody>
      </p:sp>
      <p:sp>
        <p:nvSpPr>
          <p:cNvPr id="430" name="Google Shape;430;p40"/>
          <p:cNvSpPr txBox="1"/>
          <p:nvPr/>
        </p:nvSpPr>
        <p:spPr>
          <a:xfrm>
            <a:off x="411480" y="7479792"/>
            <a:ext cx="6400800" cy="256032"/>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00" u="none" cap="none" strike="noStrike">
                <a:solidFill>
                  <a:srgbClr val="555555"/>
                </a:solidFill>
                <a:latin typeface="Calibri"/>
                <a:ea typeface="Calibri"/>
                <a:cs typeface="Calibri"/>
                <a:sym typeface="Calibri"/>
              </a:rPr>
              <a:t>Team 3c  ·  CDS-492 Capstone  ·  Spring 2026</a:t>
            </a:r>
            <a:endParaRPr/>
          </a:p>
        </p:txBody>
      </p:sp>
      <p:sp>
        <p:nvSpPr>
          <p:cNvPr id="431" name="Google Shape;431;p40"/>
          <p:cNvSpPr txBox="1"/>
          <p:nvPr/>
        </p:nvSpPr>
        <p:spPr>
          <a:xfrm>
            <a:off x="8686800" y="7479792"/>
            <a:ext cx="1005840" cy="256032"/>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i="0" lang="en-US" sz="1000" u="none" cap="none" strike="noStrike">
                <a:solidFill>
                  <a:srgbClr val="555555"/>
                </a:solidFill>
                <a:latin typeface="Calibri"/>
                <a:ea typeface="Calibri"/>
                <a:cs typeface="Calibri"/>
                <a:sym typeface="Calibri"/>
              </a:rPr>
              <a:t>8 / 16</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5" name="Shape 435"/>
        <p:cNvGrpSpPr/>
        <p:nvPr/>
      </p:nvGrpSpPr>
      <p:grpSpPr>
        <a:xfrm>
          <a:off x="0" y="0"/>
          <a:ext cx="0" cy="0"/>
          <a:chOff x="0" y="0"/>
          <a:chExt cx="0" cy="0"/>
        </a:xfrm>
      </p:grpSpPr>
      <p:sp>
        <p:nvSpPr>
          <p:cNvPr id="436" name="Google Shape;436;p41"/>
          <p:cNvSpPr/>
          <p:nvPr/>
        </p:nvSpPr>
        <p:spPr>
          <a:xfrm>
            <a:off x="0" y="0"/>
            <a:ext cx="10058400" cy="1188720"/>
          </a:xfrm>
          <a:prstGeom prst="rect">
            <a:avLst/>
          </a:prstGeom>
          <a:solidFill>
            <a:srgbClr val="0E2841"/>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437" name="Google Shape;437;p41"/>
          <p:cNvSpPr txBox="1"/>
          <p:nvPr/>
        </p:nvSpPr>
        <p:spPr>
          <a:xfrm>
            <a:off x="411470" y="286555"/>
            <a:ext cx="9144000" cy="6156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4000">
                <a:solidFill>
                  <a:srgbClr val="FFFFFF"/>
                </a:solidFill>
                <a:latin typeface="Calibri"/>
                <a:ea typeface="Calibri"/>
                <a:cs typeface="Calibri"/>
                <a:sym typeface="Calibri"/>
              </a:rPr>
              <a:t>Probability C</a:t>
            </a:r>
            <a:r>
              <a:rPr b="1" i="0" lang="en-US" sz="4000" u="none" cap="none" strike="noStrike">
                <a:solidFill>
                  <a:srgbClr val="FFFFFF"/>
                </a:solidFill>
                <a:latin typeface="Calibri"/>
                <a:ea typeface="Calibri"/>
                <a:cs typeface="Calibri"/>
                <a:sym typeface="Calibri"/>
              </a:rPr>
              <a:t>alibration</a:t>
            </a:r>
            <a:r>
              <a:rPr b="1" lang="en-US" sz="4000">
                <a:solidFill>
                  <a:srgbClr val="FFFFFF"/>
                </a:solidFill>
                <a:latin typeface="Calibri"/>
                <a:ea typeface="Calibri"/>
                <a:cs typeface="Calibri"/>
                <a:sym typeface="Calibri"/>
              </a:rPr>
              <a:t> &amp; Threshold</a:t>
            </a:r>
            <a:endParaRPr sz="4000"/>
          </a:p>
        </p:txBody>
      </p:sp>
      <p:sp>
        <p:nvSpPr>
          <p:cNvPr id="438" name="Google Shape;438;p41"/>
          <p:cNvSpPr/>
          <p:nvPr/>
        </p:nvSpPr>
        <p:spPr>
          <a:xfrm>
            <a:off x="0" y="1188720"/>
            <a:ext cx="10058400" cy="45720"/>
          </a:xfrm>
          <a:prstGeom prst="rect">
            <a:avLst/>
          </a:prstGeom>
          <a:solidFill>
            <a:srgbClr val="156082"/>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descr="calibration_pre_post.png" id="439" name="Google Shape;439;p41"/>
          <p:cNvPicPr preferRelativeResize="0"/>
          <p:nvPr/>
        </p:nvPicPr>
        <p:blipFill rotWithShape="1">
          <a:blip r:embed="rId3">
            <a:alphaModFix/>
          </a:blip>
          <a:srcRect b="0" l="0" r="0" t="0"/>
          <a:stretch/>
        </p:blipFill>
        <p:spPr>
          <a:xfrm>
            <a:off x="411480" y="1635072"/>
            <a:ext cx="5120641" cy="4666974"/>
          </a:xfrm>
          <a:prstGeom prst="rect">
            <a:avLst/>
          </a:prstGeom>
          <a:noFill/>
          <a:ln cap="flat" cmpd="sng" w="9525">
            <a:solidFill>
              <a:schemeClr val="dk1"/>
            </a:solidFill>
            <a:prstDash val="solid"/>
            <a:round/>
            <a:headEnd len="sm" w="sm" type="none"/>
            <a:tailEnd len="sm" w="sm" type="none"/>
          </a:ln>
        </p:spPr>
      </p:pic>
      <p:sp>
        <p:nvSpPr>
          <p:cNvPr id="440" name="Google Shape;440;p41"/>
          <p:cNvSpPr txBox="1"/>
          <p:nvPr/>
        </p:nvSpPr>
        <p:spPr>
          <a:xfrm>
            <a:off x="411480" y="6462159"/>
            <a:ext cx="5120700" cy="3387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1" lang="en-US" sz="1100" u="none" cap="none" strike="noStrike">
                <a:solidFill>
                  <a:srgbClr val="555555"/>
                </a:solidFill>
                <a:latin typeface="Calibri"/>
                <a:ea typeface="Calibri"/>
                <a:cs typeface="Calibri"/>
                <a:sym typeface="Calibri"/>
              </a:rPr>
              <a:t>Figure 4. Reliability curves before and after Platt scaling. Post-calibration probabilities track the diagonal; Brier 0.064.</a:t>
            </a:r>
            <a:endParaRPr/>
          </a:p>
        </p:txBody>
      </p:sp>
      <p:sp>
        <p:nvSpPr>
          <p:cNvPr id="441" name="Google Shape;441;p41"/>
          <p:cNvSpPr/>
          <p:nvPr/>
        </p:nvSpPr>
        <p:spPr>
          <a:xfrm>
            <a:off x="5760720" y="1691640"/>
            <a:ext cx="1828800" cy="457200"/>
          </a:xfrm>
          <a:prstGeom prst="rect">
            <a:avLst/>
          </a:prstGeom>
          <a:solidFill>
            <a:srgbClr val="0E2841"/>
          </a:solidFill>
          <a:ln cap="flat" cmpd="sng" w="9525">
            <a:solidFill>
              <a:srgbClr val="0E2841"/>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91425" spcFirstLastPara="1" rIns="91425" wrap="square" tIns="0">
            <a:noAutofit/>
          </a:bodyPr>
          <a:lstStyle/>
          <a:p>
            <a:pPr indent="0" lvl="0" marL="0" marR="0" rtl="0" algn="l">
              <a:spcBef>
                <a:spcPts val="0"/>
              </a:spcBef>
              <a:spcAft>
                <a:spcPts val="0"/>
              </a:spcAft>
              <a:buNone/>
            </a:pPr>
            <a:r>
              <a:rPr b="1" i="0" lang="en-US" sz="1200" u="none" cap="none" strike="noStrike">
                <a:solidFill>
                  <a:srgbClr val="FFFFFF"/>
                </a:solidFill>
                <a:latin typeface="Calibri"/>
                <a:ea typeface="Calibri"/>
                <a:cs typeface="Calibri"/>
                <a:sym typeface="Calibri"/>
              </a:rPr>
              <a:t>Step</a:t>
            </a:r>
            <a:endParaRPr/>
          </a:p>
        </p:txBody>
      </p:sp>
      <p:sp>
        <p:nvSpPr>
          <p:cNvPr id="442" name="Google Shape;442;p41"/>
          <p:cNvSpPr/>
          <p:nvPr/>
        </p:nvSpPr>
        <p:spPr>
          <a:xfrm>
            <a:off x="7589520" y="1691640"/>
            <a:ext cx="2286000" cy="457200"/>
          </a:xfrm>
          <a:prstGeom prst="rect">
            <a:avLst/>
          </a:prstGeom>
          <a:solidFill>
            <a:srgbClr val="0E2841"/>
          </a:solidFill>
          <a:ln cap="flat" cmpd="sng" w="9525">
            <a:solidFill>
              <a:srgbClr val="0E2841"/>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91425" spcFirstLastPara="1" rIns="91425" wrap="square" tIns="0">
            <a:noAutofit/>
          </a:bodyPr>
          <a:lstStyle/>
          <a:p>
            <a:pPr indent="0" lvl="0" marL="0" marR="0" rtl="0" algn="l">
              <a:spcBef>
                <a:spcPts val="0"/>
              </a:spcBef>
              <a:spcAft>
                <a:spcPts val="0"/>
              </a:spcAft>
              <a:buNone/>
            </a:pPr>
            <a:r>
              <a:rPr b="1" i="0" lang="en-US" sz="1200" u="none" cap="none" strike="noStrike">
                <a:solidFill>
                  <a:srgbClr val="FFFFFF"/>
                </a:solidFill>
                <a:latin typeface="Calibri"/>
                <a:ea typeface="Calibri"/>
                <a:cs typeface="Calibri"/>
                <a:sym typeface="Calibri"/>
              </a:rPr>
              <a:t>Detail</a:t>
            </a:r>
            <a:endParaRPr/>
          </a:p>
        </p:txBody>
      </p:sp>
      <p:sp>
        <p:nvSpPr>
          <p:cNvPr id="443" name="Google Shape;443;p41"/>
          <p:cNvSpPr/>
          <p:nvPr/>
        </p:nvSpPr>
        <p:spPr>
          <a:xfrm>
            <a:off x="5760720" y="2148840"/>
            <a:ext cx="1828800" cy="457200"/>
          </a:xfrm>
          <a:prstGeom prst="rect">
            <a:avLst/>
          </a:prstGeom>
          <a:solidFill>
            <a:srgbClr val="FFFFFF"/>
          </a:solidFill>
          <a:ln cap="flat" cmpd="sng" w="9525">
            <a:solidFill>
              <a:srgbClr val="CDD4D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91425" spcFirstLastPara="1" rIns="91425" wrap="square" tIns="0">
            <a:noAutofit/>
          </a:bodyPr>
          <a:lstStyle/>
          <a:p>
            <a:pPr indent="0" lvl="0" marL="0" marR="0" rtl="0" algn="l">
              <a:spcBef>
                <a:spcPts val="0"/>
              </a:spcBef>
              <a:spcAft>
                <a:spcPts val="0"/>
              </a:spcAft>
              <a:buNone/>
            </a:pPr>
            <a:r>
              <a:rPr b="1" i="0" lang="en-US" sz="1200" u="none" cap="none" strike="noStrike">
                <a:solidFill>
                  <a:srgbClr val="101010"/>
                </a:solidFill>
                <a:latin typeface="Calibri"/>
                <a:ea typeface="Calibri"/>
                <a:cs typeface="Calibri"/>
                <a:sym typeface="Calibri"/>
              </a:rPr>
              <a:t>Calibrator</a:t>
            </a:r>
            <a:endParaRPr/>
          </a:p>
        </p:txBody>
      </p:sp>
      <p:sp>
        <p:nvSpPr>
          <p:cNvPr id="444" name="Google Shape;444;p41"/>
          <p:cNvSpPr/>
          <p:nvPr/>
        </p:nvSpPr>
        <p:spPr>
          <a:xfrm>
            <a:off x="7589520" y="2148840"/>
            <a:ext cx="2286000" cy="457200"/>
          </a:xfrm>
          <a:prstGeom prst="rect">
            <a:avLst/>
          </a:prstGeom>
          <a:solidFill>
            <a:srgbClr val="FFFFFF"/>
          </a:solidFill>
          <a:ln cap="flat" cmpd="sng" w="9525">
            <a:solidFill>
              <a:srgbClr val="CDD4D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91425" spcFirstLastPara="1" rIns="91425" wrap="square" tIns="0">
            <a:noAutofit/>
          </a:bodyPr>
          <a:lstStyle/>
          <a:p>
            <a:pPr indent="0" lvl="0" marL="0" marR="0" rtl="0" algn="l">
              <a:spcBef>
                <a:spcPts val="0"/>
              </a:spcBef>
              <a:spcAft>
                <a:spcPts val="0"/>
              </a:spcAft>
              <a:buNone/>
            </a:pPr>
            <a:r>
              <a:rPr b="0" i="0" lang="en-US" sz="1200" u="none" cap="none" strike="noStrike">
                <a:solidFill>
                  <a:srgbClr val="101010"/>
                </a:solidFill>
                <a:latin typeface="Calibri"/>
                <a:ea typeface="Calibri"/>
                <a:cs typeface="Calibri"/>
                <a:sym typeface="Calibri"/>
              </a:rPr>
              <a:t>Platt scaling, fit on val set</a:t>
            </a:r>
            <a:endParaRPr/>
          </a:p>
        </p:txBody>
      </p:sp>
      <p:sp>
        <p:nvSpPr>
          <p:cNvPr id="445" name="Google Shape;445;p41"/>
          <p:cNvSpPr/>
          <p:nvPr/>
        </p:nvSpPr>
        <p:spPr>
          <a:xfrm>
            <a:off x="5760720" y="2606040"/>
            <a:ext cx="1828800" cy="457200"/>
          </a:xfrm>
          <a:prstGeom prst="rect">
            <a:avLst/>
          </a:prstGeom>
          <a:solidFill>
            <a:srgbClr val="F4F7FA"/>
          </a:solidFill>
          <a:ln cap="flat" cmpd="sng" w="9525">
            <a:solidFill>
              <a:srgbClr val="CDD4D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91425" spcFirstLastPara="1" rIns="91425" wrap="square" tIns="0">
            <a:noAutofit/>
          </a:bodyPr>
          <a:lstStyle/>
          <a:p>
            <a:pPr indent="0" lvl="0" marL="0" marR="0" rtl="0" algn="l">
              <a:spcBef>
                <a:spcPts val="0"/>
              </a:spcBef>
              <a:spcAft>
                <a:spcPts val="0"/>
              </a:spcAft>
              <a:buNone/>
            </a:pPr>
            <a:r>
              <a:rPr b="1" i="0" lang="en-US" sz="1200" u="none" cap="none" strike="noStrike">
                <a:solidFill>
                  <a:srgbClr val="101010"/>
                </a:solidFill>
                <a:latin typeface="Calibri"/>
                <a:ea typeface="Calibri"/>
                <a:cs typeface="Calibri"/>
                <a:sym typeface="Calibri"/>
              </a:rPr>
              <a:t>Equation</a:t>
            </a:r>
            <a:endParaRPr/>
          </a:p>
        </p:txBody>
      </p:sp>
      <p:sp>
        <p:nvSpPr>
          <p:cNvPr id="446" name="Google Shape;446;p41"/>
          <p:cNvSpPr/>
          <p:nvPr/>
        </p:nvSpPr>
        <p:spPr>
          <a:xfrm>
            <a:off x="7589520" y="2606040"/>
            <a:ext cx="2286000" cy="457200"/>
          </a:xfrm>
          <a:prstGeom prst="rect">
            <a:avLst/>
          </a:prstGeom>
          <a:solidFill>
            <a:srgbClr val="F4F7FA"/>
          </a:solidFill>
          <a:ln cap="flat" cmpd="sng" w="9525">
            <a:solidFill>
              <a:srgbClr val="CDD4D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91425" spcFirstLastPara="1" rIns="91425" wrap="square" tIns="0">
            <a:noAutofit/>
          </a:bodyPr>
          <a:lstStyle/>
          <a:p>
            <a:pPr indent="0" lvl="0" marL="0" marR="0" rtl="0" algn="l">
              <a:spcBef>
                <a:spcPts val="0"/>
              </a:spcBef>
              <a:spcAft>
                <a:spcPts val="0"/>
              </a:spcAft>
              <a:buNone/>
            </a:pPr>
            <a:r>
              <a:rPr b="0" i="0" lang="en-US" sz="1200" u="none" cap="none" strike="noStrike">
                <a:solidFill>
                  <a:srgbClr val="101010"/>
                </a:solidFill>
                <a:latin typeface="Calibri"/>
                <a:ea typeface="Calibri"/>
                <a:cs typeface="Calibri"/>
                <a:sym typeface="Calibri"/>
              </a:rPr>
              <a:t>σ(a · logit p̂ + b)</a:t>
            </a:r>
            <a:endParaRPr/>
          </a:p>
        </p:txBody>
      </p:sp>
      <p:sp>
        <p:nvSpPr>
          <p:cNvPr id="447" name="Google Shape;447;p41"/>
          <p:cNvSpPr/>
          <p:nvPr/>
        </p:nvSpPr>
        <p:spPr>
          <a:xfrm>
            <a:off x="5760720" y="3063240"/>
            <a:ext cx="1828800" cy="457200"/>
          </a:xfrm>
          <a:prstGeom prst="rect">
            <a:avLst/>
          </a:prstGeom>
          <a:solidFill>
            <a:srgbClr val="FFFFFF"/>
          </a:solidFill>
          <a:ln cap="flat" cmpd="sng" w="9525">
            <a:solidFill>
              <a:srgbClr val="CDD4D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91425" spcFirstLastPara="1" rIns="91425" wrap="square" tIns="0">
            <a:noAutofit/>
          </a:bodyPr>
          <a:lstStyle/>
          <a:p>
            <a:pPr indent="0" lvl="0" marL="0" marR="0" rtl="0" algn="l">
              <a:spcBef>
                <a:spcPts val="0"/>
              </a:spcBef>
              <a:spcAft>
                <a:spcPts val="0"/>
              </a:spcAft>
              <a:buNone/>
            </a:pPr>
            <a:r>
              <a:rPr b="1" i="0" lang="en-US" sz="1200" u="none" cap="none" strike="noStrike">
                <a:solidFill>
                  <a:srgbClr val="101010"/>
                </a:solidFill>
                <a:latin typeface="Calibri"/>
                <a:ea typeface="Calibri"/>
                <a:cs typeface="Calibri"/>
                <a:sym typeface="Calibri"/>
              </a:rPr>
              <a:t>Property</a:t>
            </a:r>
            <a:endParaRPr/>
          </a:p>
        </p:txBody>
      </p:sp>
      <p:sp>
        <p:nvSpPr>
          <p:cNvPr id="448" name="Google Shape;448;p41"/>
          <p:cNvSpPr/>
          <p:nvPr/>
        </p:nvSpPr>
        <p:spPr>
          <a:xfrm>
            <a:off x="7589520" y="3063240"/>
            <a:ext cx="2286000" cy="457200"/>
          </a:xfrm>
          <a:prstGeom prst="rect">
            <a:avLst/>
          </a:prstGeom>
          <a:solidFill>
            <a:srgbClr val="FFFFFF"/>
          </a:solidFill>
          <a:ln cap="flat" cmpd="sng" w="9525">
            <a:solidFill>
              <a:srgbClr val="CDD4D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91425" spcFirstLastPara="1" rIns="91425" wrap="square" tIns="0">
            <a:noAutofit/>
          </a:bodyPr>
          <a:lstStyle/>
          <a:p>
            <a:pPr indent="0" lvl="0" marL="0" marR="0" rtl="0" algn="l">
              <a:spcBef>
                <a:spcPts val="0"/>
              </a:spcBef>
              <a:spcAft>
                <a:spcPts val="0"/>
              </a:spcAft>
              <a:buNone/>
            </a:pPr>
            <a:r>
              <a:rPr b="0" i="0" lang="en-US" sz="1200" u="none" cap="none" strike="noStrike">
                <a:solidFill>
                  <a:srgbClr val="101010"/>
                </a:solidFill>
                <a:latin typeface="Calibri"/>
                <a:ea typeface="Calibri"/>
                <a:cs typeface="Calibri"/>
                <a:sym typeface="Calibri"/>
              </a:rPr>
              <a:t>Monotonic — leaves AUC unchanged</a:t>
            </a:r>
            <a:endParaRPr/>
          </a:p>
        </p:txBody>
      </p:sp>
      <p:sp>
        <p:nvSpPr>
          <p:cNvPr id="449" name="Google Shape;449;p41"/>
          <p:cNvSpPr/>
          <p:nvPr/>
        </p:nvSpPr>
        <p:spPr>
          <a:xfrm>
            <a:off x="5760720" y="3520440"/>
            <a:ext cx="1828800" cy="457200"/>
          </a:xfrm>
          <a:prstGeom prst="rect">
            <a:avLst/>
          </a:prstGeom>
          <a:solidFill>
            <a:srgbClr val="F4F7FA"/>
          </a:solidFill>
          <a:ln cap="flat" cmpd="sng" w="9525">
            <a:solidFill>
              <a:srgbClr val="CDD4D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91425" spcFirstLastPara="1" rIns="91425" wrap="square" tIns="0">
            <a:noAutofit/>
          </a:bodyPr>
          <a:lstStyle/>
          <a:p>
            <a:pPr indent="0" lvl="0" marL="0" marR="0" rtl="0" algn="l">
              <a:spcBef>
                <a:spcPts val="0"/>
              </a:spcBef>
              <a:spcAft>
                <a:spcPts val="0"/>
              </a:spcAft>
              <a:buNone/>
            </a:pPr>
            <a:r>
              <a:rPr b="1" i="0" lang="en-US" sz="1200" u="none" cap="none" strike="noStrike">
                <a:solidFill>
                  <a:srgbClr val="101010"/>
                </a:solidFill>
                <a:latin typeface="Calibri"/>
                <a:ea typeface="Calibri"/>
                <a:cs typeface="Calibri"/>
                <a:sym typeface="Calibri"/>
              </a:rPr>
              <a:t>Threshold rule</a:t>
            </a:r>
            <a:endParaRPr/>
          </a:p>
        </p:txBody>
      </p:sp>
      <p:sp>
        <p:nvSpPr>
          <p:cNvPr id="450" name="Google Shape;450;p41"/>
          <p:cNvSpPr/>
          <p:nvPr/>
        </p:nvSpPr>
        <p:spPr>
          <a:xfrm>
            <a:off x="7589520" y="3520440"/>
            <a:ext cx="2286000" cy="457200"/>
          </a:xfrm>
          <a:prstGeom prst="rect">
            <a:avLst/>
          </a:prstGeom>
          <a:solidFill>
            <a:srgbClr val="F4F7FA"/>
          </a:solidFill>
          <a:ln cap="flat" cmpd="sng" w="9525">
            <a:solidFill>
              <a:srgbClr val="CDD4D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91425" spcFirstLastPara="1" rIns="91425" wrap="square" tIns="0">
            <a:noAutofit/>
          </a:bodyPr>
          <a:lstStyle/>
          <a:p>
            <a:pPr indent="0" lvl="0" marL="0" marR="0" rtl="0" algn="l">
              <a:spcBef>
                <a:spcPts val="0"/>
              </a:spcBef>
              <a:spcAft>
                <a:spcPts val="0"/>
              </a:spcAft>
              <a:buNone/>
            </a:pPr>
            <a:r>
              <a:rPr b="0" i="0" lang="en-US" sz="1200" u="none" cap="none" strike="noStrike">
                <a:solidFill>
                  <a:srgbClr val="101010"/>
                </a:solidFill>
                <a:latin typeface="Calibri"/>
                <a:ea typeface="Calibri"/>
                <a:cs typeface="Calibri"/>
                <a:sym typeface="Calibri"/>
              </a:rPr>
              <a:t>Lowest p with ≥85 % recall (val)</a:t>
            </a:r>
            <a:endParaRPr/>
          </a:p>
        </p:txBody>
      </p:sp>
      <p:sp>
        <p:nvSpPr>
          <p:cNvPr id="451" name="Google Shape;451;p41"/>
          <p:cNvSpPr/>
          <p:nvPr/>
        </p:nvSpPr>
        <p:spPr>
          <a:xfrm>
            <a:off x="5760720" y="3977640"/>
            <a:ext cx="1828800" cy="457200"/>
          </a:xfrm>
          <a:prstGeom prst="rect">
            <a:avLst/>
          </a:prstGeom>
          <a:solidFill>
            <a:srgbClr val="FFFFFF"/>
          </a:solidFill>
          <a:ln cap="flat" cmpd="sng" w="9525">
            <a:solidFill>
              <a:srgbClr val="CDD4D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91425" spcFirstLastPara="1" rIns="91425" wrap="square" tIns="0">
            <a:noAutofit/>
          </a:bodyPr>
          <a:lstStyle/>
          <a:p>
            <a:pPr indent="0" lvl="0" marL="0" marR="0" rtl="0" algn="l">
              <a:spcBef>
                <a:spcPts val="0"/>
              </a:spcBef>
              <a:spcAft>
                <a:spcPts val="0"/>
              </a:spcAft>
              <a:buNone/>
            </a:pPr>
            <a:r>
              <a:rPr b="1" i="0" lang="en-US" sz="1200" u="none" cap="none" strike="noStrike">
                <a:solidFill>
                  <a:srgbClr val="101010"/>
                </a:solidFill>
                <a:latin typeface="Calibri"/>
                <a:ea typeface="Calibri"/>
                <a:cs typeface="Calibri"/>
                <a:sym typeface="Calibri"/>
              </a:rPr>
              <a:t>Operating p</a:t>
            </a:r>
            <a:endParaRPr/>
          </a:p>
        </p:txBody>
      </p:sp>
      <p:sp>
        <p:nvSpPr>
          <p:cNvPr id="452" name="Google Shape;452;p41"/>
          <p:cNvSpPr/>
          <p:nvPr/>
        </p:nvSpPr>
        <p:spPr>
          <a:xfrm>
            <a:off x="7589520" y="3977640"/>
            <a:ext cx="2286000" cy="457200"/>
          </a:xfrm>
          <a:prstGeom prst="rect">
            <a:avLst/>
          </a:prstGeom>
          <a:solidFill>
            <a:srgbClr val="FFFFFF"/>
          </a:solidFill>
          <a:ln cap="flat" cmpd="sng" w="9525">
            <a:solidFill>
              <a:srgbClr val="CDD4D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91425" spcFirstLastPara="1" rIns="91425" wrap="square" tIns="0">
            <a:noAutofit/>
          </a:bodyPr>
          <a:lstStyle/>
          <a:p>
            <a:pPr indent="0" lvl="0" marL="0" marR="0" rtl="0" algn="l">
              <a:spcBef>
                <a:spcPts val="0"/>
              </a:spcBef>
              <a:spcAft>
                <a:spcPts val="0"/>
              </a:spcAft>
              <a:buNone/>
            </a:pPr>
            <a:r>
              <a:rPr b="0" i="0" lang="en-US" sz="1200" u="none" cap="none" strike="noStrike">
                <a:solidFill>
                  <a:srgbClr val="101010"/>
                </a:solidFill>
                <a:latin typeface="Calibri"/>
                <a:ea typeface="Calibri"/>
                <a:cs typeface="Calibri"/>
                <a:sym typeface="Calibri"/>
              </a:rPr>
              <a:t>0.0659</a:t>
            </a:r>
            <a:endParaRPr/>
          </a:p>
        </p:txBody>
      </p:sp>
      <p:sp>
        <p:nvSpPr>
          <p:cNvPr id="453" name="Google Shape;453;p41"/>
          <p:cNvSpPr/>
          <p:nvPr/>
        </p:nvSpPr>
        <p:spPr>
          <a:xfrm>
            <a:off x="5760720" y="4434840"/>
            <a:ext cx="1828800" cy="457200"/>
          </a:xfrm>
          <a:prstGeom prst="rect">
            <a:avLst/>
          </a:prstGeom>
          <a:solidFill>
            <a:srgbClr val="F4F7FA"/>
          </a:solidFill>
          <a:ln cap="flat" cmpd="sng" w="9525">
            <a:solidFill>
              <a:srgbClr val="CDD4D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91425" spcFirstLastPara="1" rIns="91425" wrap="square" tIns="0">
            <a:noAutofit/>
          </a:bodyPr>
          <a:lstStyle/>
          <a:p>
            <a:pPr indent="0" lvl="0" marL="0" marR="0" rtl="0" algn="l">
              <a:spcBef>
                <a:spcPts val="0"/>
              </a:spcBef>
              <a:spcAft>
                <a:spcPts val="0"/>
              </a:spcAft>
              <a:buNone/>
            </a:pPr>
            <a:r>
              <a:rPr b="1" i="0" lang="en-US" sz="1200" u="none" cap="none" strike="noStrike">
                <a:solidFill>
                  <a:srgbClr val="101010"/>
                </a:solidFill>
                <a:latin typeface="Calibri"/>
                <a:ea typeface="Calibri"/>
                <a:cs typeface="Calibri"/>
                <a:sym typeface="Calibri"/>
              </a:rPr>
              <a:t>Cost asymmetry</a:t>
            </a:r>
            <a:endParaRPr/>
          </a:p>
        </p:txBody>
      </p:sp>
      <p:sp>
        <p:nvSpPr>
          <p:cNvPr id="454" name="Google Shape;454;p41"/>
          <p:cNvSpPr/>
          <p:nvPr/>
        </p:nvSpPr>
        <p:spPr>
          <a:xfrm>
            <a:off x="7589520" y="4434840"/>
            <a:ext cx="2286000" cy="457200"/>
          </a:xfrm>
          <a:prstGeom prst="rect">
            <a:avLst/>
          </a:prstGeom>
          <a:solidFill>
            <a:srgbClr val="F4F7FA"/>
          </a:solidFill>
          <a:ln cap="flat" cmpd="sng" w="9525">
            <a:solidFill>
              <a:srgbClr val="CDD4D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91425" spcFirstLastPara="1" rIns="91425" wrap="square" tIns="0">
            <a:noAutofit/>
          </a:bodyPr>
          <a:lstStyle/>
          <a:p>
            <a:pPr indent="0" lvl="0" marL="0" marR="0" rtl="0" algn="l">
              <a:spcBef>
                <a:spcPts val="0"/>
              </a:spcBef>
              <a:spcAft>
                <a:spcPts val="0"/>
              </a:spcAft>
              <a:buNone/>
            </a:pPr>
            <a:r>
              <a:rPr b="0" i="0" lang="en-US" sz="1200" u="none" cap="none" strike="noStrike">
                <a:solidFill>
                  <a:srgbClr val="101010"/>
                </a:solidFill>
                <a:latin typeface="Calibri"/>
                <a:ea typeface="Calibri"/>
                <a:cs typeface="Calibri"/>
                <a:sym typeface="Calibri"/>
              </a:rPr>
              <a:t>FN  ≫  FP in screening</a:t>
            </a:r>
            <a:endParaRPr/>
          </a:p>
        </p:txBody>
      </p:sp>
      <p:sp>
        <p:nvSpPr>
          <p:cNvPr id="455" name="Google Shape;455;p41"/>
          <p:cNvSpPr txBox="1"/>
          <p:nvPr/>
        </p:nvSpPr>
        <p:spPr>
          <a:xfrm>
            <a:off x="5760720" y="5139540"/>
            <a:ext cx="4114800" cy="3387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1" lang="en-US" sz="1100" u="none" cap="none" strike="noStrike">
                <a:solidFill>
                  <a:srgbClr val="555555"/>
                </a:solidFill>
                <a:latin typeface="Calibri"/>
                <a:ea typeface="Calibri"/>
                <a:cs typeface="Calibri"/>
                <a:sym typeface="Calibri"/>
              </a:rPr>
              <a:t>Table 7. Calibration and operating-point selection deliberately trade specificity for sensitivity.</a:t>
            </a:r>
            <a:endParaRPr/>
          </a:p>
        </p:txBody>
      </p:sp>
      <p:sp>
        <p:nvSpPr>
          <p:cNvPr id="456" name="Google Shape;456;p41"/>
          <p:cNvSpPr txBox="1"/>
          <p:nvPr/>
        </p:nvSpPr>
        <p:spPr>
          <a:xfrm>
            <a:off x="411480" y="7479792"/>
            <a:ext cx="6400800" cy="256032"/>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00" u="none" cap="none" strike="noStrike">
                <a:solidFill>
                  <a:srgbClr val="555555"/>
                </a:solidFill>
                <a:latin typeface="Calibri"/>
                <a:ea typeface="Calibri"/>
                <a:cs typeface="Calibri"/>
                <a:sym typeface="Calibri"/>
              </a:rPr>
              <a:t>Team 3c  ·  CDS-492 Capstone  ·  Spring 2026</a:t>
            </a:r>
            <a:endParaRPr/>
          </a:p>
        </p:txBody>
      </p:sp>
      <p:sp>
        <p:nvSpPr>
          <p:cNvPr id="457" name="Google Shape;457;p41"/>
          <p:cNvSpPr txBox="1"/>
          <p:nvPr/>
        </p:nvSpPr>
        <p:spPr>
          <a:xfrm>
            <a:off x="8686800" y="7479792"/>
            <a:ext cx="1005840" cy="256032"/>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i="0" lang="en-US" sz="1000" u="none" cap="none" strike="noStrike">
                <a:solidFill>
                  <a:srgbClr val="555555"/>
                </a:solidFill>
                <a:latin typeface="Calibri"/>
                <a:ea typeface="Calibri"/>
                <a:cs typeface="Calibri"/>
                <a:sym typeface="Calibri"/>
              </a:rPr>
              <a:t>9 / 16</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1" name="Shape 461"/>
        <p:cNvGrpSpPr/>
        <p:nvPr/>
      </p:nvGrpSpPr>
      <p:grpSpPr>
        <a:xfrm>
          <a:off x="0" y="0"/>
          <a:ext cx="0" cy="0"/>
          <a:chOff x="0" y="0"/>
          <a:chExt cx="0" cy="0"/>
        </a:xfrm>
      </p:grpSpPr>
      <p:sp>
        <p:nvSpPr>
          <p:cNvPr id="462" name="Google Shape;462;p42"/>
          <p:cNvSpPr/>
          <p:nvPr/>
        </p:nvSpPr>
        <p:spPr>
          <a:xfrm>
            <a:off x="0" y="0"/>
            <a:ext cx="10058400" cy="1188720"/>
          </a:xfrm>
          <a:prstGeom prst="rect">
            <a:avLst/>
          </a:prstGeom>
          <a:solidFill>
            <a:srgbClr val="0E2841"/>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463" name="Google Shape;463;p42"/>
          <p:cNvSpPr txBox="1"/>
          <p:nvPr/>
        </p:nvSpPr>
        <p:spPr>
          <a:xfrm>
            <a:off x="396112" y="323449"/>
            <a:ext cx="9786300" cy="5850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3800">
                <a:solidFill>
                  <a:srgbClr val="FFFFFF"/>
                </a:solidFill>
                <a:latin typeface="Calibri"/>
                <a:ea typeface="Calibri"/>
                <a:cs typeface="Calibri"/>
                <a:sym typeface="Calibri"/>
              </a:rPr>
              <a:t>ROC Curve Comparison</a:t>
            </a:r>
            <a:endParaRPr sz="3800"/>
          </a:p>
        </p:txBody>
      </p:sp>
      <p:sp>
        <p:nvSpPr>
          <p:cNvPr id="464" name="Google Shape;464;p42"/>
          <p:cNvSpPr/>
          <p:nvPr/>
        </p:nvSpPr>
        <p:spPr>
          <a:xfrm>
            <a:off x="0" y="1188720"/>
            <a:ext cx="10058400" cy="45720"/>
          </a:xfrm>
          <a:prstGeom prst="rect">
            <a:avLst/>
          </a:prstGeom>
          <a:solidFill>
            <a:srgbClr val="156082"/>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descr="roc_all_models.png" id="465" name="Google Shape;465;p42"/>
          <p:cNvPicPr preferRelativeResize="0"/>
          <p:nvPr/>
        </p:nvPicPr>
        <p:blipFill rotWithShape="1">
          <a:blip r:embed="rId3">
            <a:alphaModFix/>
          </a:blip>
          <a:srcRect b="0" l="0" r="0" t="0"/>
          <a:stretch/>
        </p:blipFill>
        <p:spPr>
          <a:xfrm>
            <a:off x="274320" y="1629181"/>
            <a:ext cx="5349241" cy="5452723"/>
          </a:xfrm>
          <a:prstGeom prst="rect">
            <a:avLst/>
          </a:prstGeom>
          <a:noFill/>
          <a:ln cap="flat" cmpd="sng" w="9525">
            <a:solidFill>
              <a:schemeClr val="dk1"/>
            </a:solidFill>
            <a:prstDash val="solid"/>
            <a:round/>
            <a:headEnd len="sm" w="sm" type="none"/>
            <a:tailEnd len="sm" w="sm" type="none"/>
          </a:ln>
        </p:spPr>
      </p:pic>
      <p:sp>
        <p:nvSpPr>
          <p:cNvPr id="466" name="Google Shape;466;p42"/>
          <p:cNvSpPr txBox="1"/>
          <p:nvPr/>
        </p:nvSpPr>
        <p:spPr>
          <a:xfrm>
            <a:off x="289683" y="7115154"/>
            <a:ext cx="5349300" cy="1692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1" lang="en-US" sz="1100" u="none" cap="none" strike="noStrike">
                <a:solidFill>
                  <a:srgbClr val="555555"/>
                </a:solidFill>
                <a:latin typeface="Calibri"/>
                <a:ea typeface="Calibri"/>
                <a:cs typeface="Calibri"/>
                <a:sym typeface="Calibri"/>
              </a:rPr>
              <a:t>Figure 5. ROC curves for all eight models on the held-out test set (n = 198,830).</a:t>
            </a:r>
            <a:endParaRPr/>
          </a:p>
        </p:txBody>
      </p:sp>
      <p:sp>
        <p:nvSpPr>
          <p:cNvPr id="467" name="Google Shape;467;p42"/>
          <p:cNvSpPr/>
          <p:nvPr/>
        </p:nvSpPr>
        <p:spPr>
          <a:xfrm>
            <a:off x="5852160" y="1691640"/>
            <a:ext cx="2788920" cy="384048"/>
          </a:xfrm>
          <a:prstGeom prst="rect">
            <a:avLst/>
          </a:prstGeom>
          <a:solidFill>
            <a:srgbClr val="0E2841"/>
          </a:solidFill>
          <a:ln cap="flat" cmpd="sng" w="9525">
            <a:solidFill>
              <a:srgbClr val="0E2841"/>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91425" spcFirstLastPara="1" rIns="91425" wrap="square" tIns="0">
            <a:noAutofit/>
          </a:bodyPr>
          <a:lstStyle/>
          <a:p>
            <a:pPr indent="0" lvl="0" marL="0" marR="0" rtl="0" algn="l">
              <a:spcBef>
                <a:spcPts val="0"/>
              </a:spcBef>
              <a:spcAft>
                <a:spcPts val="0"/>
              </a:spcAft>
              <a:buNone/>
            </a:pPr>
            <a:r>
              <a:rPr b="1" i="0" lang="en-US" sz="1200" u="none" cap="none" strike="noStrike">
                <a:solidFill>
                  <a:srgbClr val="FFFFFF"/>
                </a:solidFill>
                <a:latin typeface="Calibri"/>
                <a:ea typeface="Calibri"/>
                <a:cs typeface="Calibri"/>
                <a:sym typeface="Calibri"/>
              </a:rPr>
              <a:t>Model</a:t>
            </a:r>
            <a:endParaRPr/>
          </a:p>
        </p:txBody>
      </p:sp>
      <p:sp>
        <p:nvSpPr>
          <p:cNvPr id="468" name="Google Shape;468;p42"/>
          <p:cNvSpPr/>
          <p:nvPr/>
        </p:nvSpPr>
        <p:spPr>
          <a:xfrm>
            <a:off x="8641080" y="1691640"/>
            <a:ext cx="1097400" cy="384000"/>
          </a:xfrm>
          <a:prstGeom prst="rect">
            <a:avLst/>
          </a:prstGeom>
          <a:solidFill>
            <a:srgbClr val="0E2841"/>
          </a:solidFill>
          <a:ln cap="flat" cmpd="sng" w="9525">
            <a:solidFill>
              <a:srgbClr val="0E2841"/>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91425" spcFirstLastPara="1" rIns="91425" wrap="square" tIns="0">
            <a:noAutofit/>
          </a:bodyPr>
          <a:lstStyle/>
          <a:p>
            <a:pPr indent="0" lvl="0" marL="0" marR="0" rtl="0" algn="l">
              <a:spcBef>
                <a:spcPts val="0"/>
              </a:spcBef>
              <a:spcAft>
                <a:spcPts val="0"/>
              </a:spcAft>
              <a:buNone/>
            </a:pPr>
            <a:r>
              <a:rPr b="1" i="0" lang="en-US" sz="1200" u="none" cap="none" strike="noStrike">
                <a:solidFill>
                  <a:srgbClr val="FFFFFF"/>
                </a:solidFill>
                <a:latin typeface="Calibri"/>
                <a:ea typeface="Calibri"/>
                <a:cs typeface="Calibri"/>
                <a:sym typeface="Calibri"/>
              </a:rPr>
              <a:t>AUC</a:t>
            </a:r>
            <a:endParaRPr/>
          </a:p>
        </p:txBody>
      </p:sp>
      <p:sp>
        <p:nvSpPr>
          <p:cNvPr id="469" name="Google Shape;469;p42"/>
          <p:cNvSpPr/>
          <p:nvPr/>
        </p:nvSpPr>
        <p:spPr>
          <a:xfrm>
            <a:off x="5852160" y="2075688"/>
            <a:ext cx="2788920" cy="384048"/>
          </a:xfrm>
          <a:prstGeom prst="rect">
            <a:avLst/>
          </a:prstGeom>
          <a:solidFill>
            <a:srgbClr val="E6EFF6"/>
          </a:solidFill>
          <a:ln cap="flat" cmpd="sng" w="9525">
            <a:solidFill>
              <a:srgbClr val="CDD4D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91425" spcFirstLastPara="1" rIns="91425" wrap="square" tIns="0">
            <a:noAutofit/>
          </a:bodyPr>
          <a:lstStyle/>
          <a:p>
            <a:pPr indent="0" lvl="0" marL="0" marR="0" rtl="0" algn="l">
              <a:spcBef>
                <a:spcPts val="0"/>
              </a:spcBef>
              <a:spcAft>
                <a:spcPts val="0"/>
              </a:spcAft>
              <a:buNone/>
            </a:pPr>
            <a:r>
              <a:rPr b="1" i="0" lang="en-US" sz="1300" u="none" cap="none" strike="noStrike">
                <a:solidFill>
                  <a:srgbClr val="156082"/>
                </a:solidFill>
                <a:latin typeface="Calibri"/>
                <a:ea typeface="Calibri"/>
                <a:cs typeface="Calibri"/>
                <a:sym typeface="Calibri"/>
              </a:rPr>
              <a:t>CatBoost (Full)</a:t>
            </a:r>
            <a:endParaRPr/>
          </a:p>
        </p:txBody>
      </p:sp>
      <p:sp>
        <p:nvSpPr>
          <p:cNvPr id="470" name="Google Shape;470;p42"/>
          <p:cNvSpPr/>
          <p:nvPr/>
        </p:nvSpPr>
        <p:spPr>
          <a:xfrm>
            <a:off x="8641080" y="2075688"/>
            <a:ext cx="1097280" cy="384048"/>
          </a:xfrm>
          <a:prstGeom prst="rect">
            <a:avLst/>
          </a:prstGeom>
          <a:solidFill>
            <a:srgbClr val="E6EFF6"/>
          </a:solidFill>
          <a:ln cap="flat" cmpd="sng" w="9525">
            <a:solidFill>
              <a:srgbClr val="CDD4D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91425" spcFirstLastPara="1" rIns="91425" wrap="square" tIns="0">
            <a:noAutofit/>
          </a:bodyPr>
          <a:lstStyle/>
          <a:p>
            <a:pPr indent="0" lvl="0" marL="0" marR="0" rtl="0" algn="l">
              <a:spcBef>
                <a:spcPts val="0"/>
              </a:spcBef>
              <a:spcAft>
                <a:spcPts val="0"/>
              </a:spcAft>
              <a:buNone/>
            </a:pPr>
            <a:r>
              <a:rPr b="1" i="0" lang="en-US" sz="1300" u="none" cap="none" strike="noStrike">
                <a:solidFill>
                  <a:srgbClr val="156082"/>
                </a:solidFill>
                <a:latin typeface="Calibri"/>
                <a:ea typeface="Calibri"/>
                <a:cs typeface="Calibri"/>
                <a:sym typeface="Calibri"/>
              </a:rPr>
              <a:t>0.817</a:t>
            </a:r>
            <a:endParaRPr/>
          </a:p>
        </p:txBody>
      </p:sp>
      <p:sp>
        <p:nvSpPr>
          <p:cNvPr id="471" name="Google Shape;471;p42"/>
          <p:cNvSpPr/>
          <p:nvPr/>
        </p:nvSpPr>
        <p:spPr>
          <a:xfrm>
            <a:off x="5852160" y="2459736"/>
            <a:ext cx="2788920" cy="384048"/>
          </a:xfrm>
          <a:prstGeom prst="rect">
            <a:avLst/>
          </a:prstGeom>
          <a:solidFill>
            <a:srgbClr val="F4F7FA"/>
          </a:solidFill>
          <a:ln cap="flat" cmpd="sng" w="9525">
            <a:solidFill>
              <a:srgbClr val="CDD4D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91425" spcFirstLastPara="1" rIns="91425" wrap="square" tIns="0">
            <a:noAutofit/>
          </a:bodyPr>
          <a:lstStyle/>
          <a:p>
            <a:pPr indent="0" lvl="0" marL="0" marR="0" rtl="0" algn="l">
              <a:spcBef>
                <a:spcPts val="0"/>
              </a:spcBef>
              <a:spcAft>
                <a:spcPts val="0"/>
              </a:spcAft>
              <a:buNone/>
            </a:pPr>
            <a:r>
              <a:rPr b="0" i="0" lang="en-US" sz="1300" u="none" cap="none" strike="noStrike">
                <a:solidFill>
                  <a:srgbClr val="101010"/>
                </a:solidFill>
                <a:latin typeface="Calibri"/>
                <a:ea typeface="Calibri"/>
                <a:cs typeface="Calibri"/>
                <a:sym typeface="Calibri"/>
              </a:rPr>
              <a:t>PyTorch Tabular Net</a:t>
            </a:r>
            <a:endParaRPr/>
          </a:p>
        </p:txBody>
      </p:sp>
      <p:sp>
        <p:nvSpPr>
          <p:cNvPr id="472" name="Google Shape;472;p42"/>
          <p:cNvSpPr/>
          <p:nvPr/>
        </p:nvSpPr>
        <p:spPr>
          <a:xfrm>
            <a:off x="8641080" y="2459736"/>
            <a:ext cx="1097280" cy="384048"/>
          </a:xfrm>
          <a:prstGeom prst="rect">
            <a:avLst/>
          </a:prstGeom>
          <a:solidFill>
            <a:srgbClr val="F4F7FA"/>
          </a:solidFill>
          <a:ln cap="flat" cmpd="sng" w="9525">
            <a:solidFill>
              <a:srgbClr val="CDD4D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91425" spcFirstLastPara="1" rIns="91425" wrap="square" tIns="0">
            <a:noAutofit/>
          </a:bodyPr>
          <a:lstStyle/>
          <a:p>
            <a:pPr indent="0" lvl="0" marL="0" marR="0" rtl="0" algn="l">
              <a:spcBef>
                <a:spcPts val="0"/>
              </a:spcBef>
              <a:spcAft>
                <a:spcPts val="0"/>
              </a:spcAft>
              <a:buNone/>
            </a:pPr>
            <a:r>
              <a:rPr b="0" i="0" lang="en-US" sz="1300" u="none" cap="none" strike="noStrike">
                <a:solidFill>
                  <a:srgbClr val="101010"/>
                </a:solidFill>
                <a:latin typeface="Calibri"/>
                <a:ea typeface="Calibri"/>
                <a:cs typeface="Calibri"/>
                <a:sym typeface="Calibri"/>
              </a:rPr>
              <a:t>0.816</a:t>
            </a:r>
            <a:endParaRPr/>
          </a:p>
        </p:txBody>
      </p:sp>
      <p:sp>
        <p:nvSpPr>
          <p:cNvPr id="473" name="Google Shape;473;p42"/>
          <p:cNvSpPr/>
          <p:nvPr/>
        </p:nvSpPr>
        <p:spPr>
          <a:xfrm>
            <a:off x="5852160" y="2843784"/>
            <a:ext cx="2788920" cy="384048"/>
          </a:xfrm>
          <a:prstGeom prst="rect">
            <a:avLst/>
          </a:prstGeom>
          <a:solidFill>
            <a:srgbClr val="FFFFFF"/>
          </a:solidFill>
          <a:ln cap="flat" cmpd="sng" w="9525">
            <a:solidFill>
              <a:srgbClr val="CDD4D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91425" spcFirstLastPara="1" rIns="91425" wrap="square" tIns="0">
            <a:noAutofit/>
          </a:bodyPr>
          <a:lstStyle/>
          <a:p>
            <a:pPr indent="0" lvl="0" marL="0" marR="0" rtl="0" algn="l">
              <a:spcBef>
                <a:spcPts val="0"/>
              </a:spcBef>
              <a:spcAft>
                <a:spcPts val="0"/>
              </a:spcAft>
              <a:buNone/>
            </a:pPr>
            <a:r>
              <a:rPr b="0" i="0" lang="en-US" sz="1300" u="none" cap="none" strike="noStrike">
                <a:solidFill>
                  <a:srgbClr val="101010"/>
                </a:solidFill>
                <a:latin typeface="Calibri"/>
                <a:ea typeface="Calibri"/>
                <a:cs typeface="Calibri"/>
                <a:sym typeface="Calibri"/>
              </a:rPr>
              <a:t>sklearn ANN / MLP</a:t>
            </a:r>
            <a:endParaRPr/>
          </a:p>
        </p:txBody>
      </p:sp>
      <p:sp>
        <p:nvSpPr>
          <p:cNvPr id="474" name="Google Shape;474;p42"/>
          <p:cNvSpPr/>
          <p:nvPr/>
        </p:nvSpPr>
        <p:spPr>
          <a:xfrm>
            <a:off x="8641080" y="2843784"/>
            <a:ext cx="1097280" cy="384048"/>
          </a:xfrm>
          <a:prstGeom prst="rect">
            <a:avLst/>
          </a:prstGeom>
          <a:solidFill>
            <a:srgbClr val="FFFFFF"/>
          </a:solidFill>
          <a:ln cap="flat" cmpd="sng" w="9525">
            <a:solidFill>
              <a:srgbClr val="CDD4D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91425" spcFirstLastPara="1" rIns="91425" wrap="square" tIns="0">
            <a:noAutofit/>
          </a:bodyPr>
          <a:lstStyle/>
          <a:p>
            <a:pPr indent="0" lvl="0" marL="0" marR="0" rtl="0" algn="l">
              <a:spcBef>
                <a:spcPts val="0"/>
              </a:spcBef>
              <a:spcAft>
                <a:spcPts val="0"/>
              </a:spcAft>
              <a:buNone/>
            </a:pPr>
            <a:r>
              <a:rPr b="0" i="0" lang="en-US" sz="1300" u="none" cap="none" strike="noStrike">
                <a:solidFill>
                  <a:srgbClr val="101010"/>
                </a:solidFill>
                <a:latin typeface="Calibri"/>
                <a:ea typeface="Calibri"/>
                <a:cs typeface="Calibri"/>
                <a:sym typeface="Calibri"/>
              </a:rPr>
              <a:t>0.812</a:t>
            </a:r>
            <a:endParaRPr/>
          </a:p>
        </p:txBody>
      </p:sp>
      <p:sp>
        <p:nvSpPr>
          <p:cNvPr id="475" name="Google Shape;475;p42"/>
          <p:cNvSpPr/>
          <p:nvPr/>
        </p:nvSpPr>
        <p:spPr>
          <a:xfrm>
            <a:off x="5852160" y="3227832"/>
            <a:ext cx="2788920" cy="384048"/>
          </a:xfrm>
          <a:prstGeom prst="rect">
            <a:avLst/>
          </a:prstGeom>
          <a:solidFill>
            <a:srgbClr val="F4F7FA"/>
          </a:solidFill>
          <a:ln cap="flat" cmpd="sng" w="9525">
            <a:solidFill>
              <a:srgbClr val="CDD4D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91425" spcFirstLastPara="1" rIns="91425" wrap="square" tIns="0">
            <a:noAutofit/>
          </a:bodyPr>
          <a:lstStyle/>
          <a:p>
            <a:pPr indent="0" lvl="0" marL="0" marR="0" rtl="0" algn="l">
              <a:spcBef>
                <a:spcPts val="0"/>
              </a:spcBef>
              <a:spcAft>
                <a:spcPts val="0"/>
              </a:spcAft>
              <a:buNone/>
            </a:pPr>
            <a:r>
              <a:rPr b="0" i="0" lang="en-US" sz="1300" u="none" cap="none" strike="noStrike">
                <a:solidFill>
                  <a:srgbClr val="101010"/>
                </a:solidFill>
                <a:latin typeface="Calibri"/>
                <a:ea typeface="Calibri"/>
                <a:cs typeface="Calibri"/>
                <a:sym typeface="Calibri"/>
              </a:rPr>
              <a:t>CatBoost (Core+Labs)</a:t>
            </a:r>
            <a:endParaRPr/>
          </a:p>
        </p:txBody>
      </p:sp>
      <p:sp>
        <p:nvSpPr>
          <p:cNvPr id="476" name="Google Shape;476;p42"/>
          <p:cNvSpPr/>
          <p:nvPr/>
        </p:nvSpPr>
        <p:spPr>
          <a:xfrm>
            <a:off x="8641080" y="3227832"/>
            <a:ext cx="1097280" cy="384048"/>
          </a:xfrm>
          <a:prstGeom prst="rect">
            <a:avLst/>
          </a:prstGeom>
          <a:solidFill>
            <a:srgbClr val="F4F7FA"/>
          </a:solidFill>
          <a:ln cap="flat" cmpd="sng" w="9525">
            <a:solidFill>
              <a:srgbClr val="CDD4D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91425" spcFirstLastPara="1" rIns="91425" wrap="square" tIns="0">
            <a:noAutofit/>
          </a:bodyPr>
          <a:lstStyle/>
          <a:p>
            <a:pPr indent="0" lvl="0" marL="0" marR="0" rtl="0" algn="l">
              <a:spcBef>
                <a:spcPts val="0"/>
              </a:spcBef>
              <a:spcAft>
                <a:spcPts val="0"/>
              </a:spcAft>
              <a:buNone/>
            </a:pPr>
            <a:r>
              <a:rPr b="0" i="0" lang="en-US" sz="1300" u="none" cap="none" strike="noStrike">
                <a:solidFill>
                  <a:srgbClr val="101010"/>
                </a:solidFill>
                <a:latin typeface="Calibri"/>
                <a:ea typeface="Calibri"/>
                <a:cs typeface="Calibri"/>
                <a:sym typeface="Calibri"/>
              </a:rPr>
              <a:t>0.808</a:t>
            </a:r>
            <a:endParaRPr/>
          </a:p>
        </p:txBody>
      </p:sp>
      <p:sp>
        <p:nvSpPr>
          <p:cNvPr id="477" name="Google Shape;477;p42"/>
          <p:cNvSpPr/>
          <p:nvPr/>
        </p:nvSpPr>
        <p:spPr>
          <a:xfrm>
            <a:off x="5852160" y="3611880"/>
            <a:ext cx="2788920" cy="384048"/>
          </a:xfrm>
          <a:prstGeom prst="rect">
            <a:avLst/>
          </a:prstGeom>
          <a:solidFill>
            <a:srgbClr val="FFFFFF"/>
          </a:solidFill>
          <a:ln cap="flat" cmpd="sng" w="9525">
            <a:solidFill>
              <a:srgbClr val="CDD4D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91425" spcFirstLastPara="1" rIns="91425" wrap="square" tIns="0">
            <a:noAutofit/>
          </a:bodyPr>
          <a:lstStyle/>
          <a:p>
            <a:pPr indent="0" lvl="0" marL="0" marR="0" rtl="0" algn="l">
              <a:spcBef>
                <a:spcPts val="0"/>
              </a:spcBef>
              <a:spcAft>
                <a:spcPts val="0"/>
              </a:spcAft>
              <a:buNone/>
            </a:pPr>
            <a:r>
              <a:rPr b="0" i="0" lang="en-US" sz="1300" u="none" cap="none" strike="noStrike">
                <a:solidFill>
                  <a:srgbClr val="101010"/>
                </a:solidFill>
                <a:latin typeface="Calibri"/>
                <a:ea typeface="Calibri"/>
                <a:cs typeface="Calibri"/>
                <a:sym typeface="Calibri"/>
              </a:rPr>
              <a:t>Logistic Regression</a:t>
            </a:r>
            <a:endParaRPr/>
          </a:p>
        </p:txBody>
      </p:sp>
      <p:sp>
        <p:nvSpPr>
          <p:cNvPr id="478" name="Google Shape;478;p42"/>
          <p:cNvSpPr/>
          <p:nvPr/>
        </p:nvSpPr>
        <p:spPr>
          <a:xfrm>
            <a:off x="8641080" y="3611880"/>
            <a:ext cx="1097280" cy="384048"/>
          </a:xfrm>
          <a:prstGeom prst="rect">
            <a:avLst/>
          </a:prstGeom>
          <a:solidFill>
            <a:srgbClr val="FFFFFF"/>
          </a:solidFill>
          <a:ln cap="flat" cmpd="sng" w="9525">
            <a:solidFill>
              <a:srgbClr val="CDD4D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91425" spcFirstLastPara="1" rIns="91425" wrap="square" tIns="0">
            <a:noAutofit/>
          </a:bodyPr>
          <a:lstStyle/>
          <a:p>
            <a:pPr indent="0" lvl="0" marL="0" marR="0" rtl="0" algn="l">
              <a:spcBef>
                <a:spcPts val="0"/>
              </a:spcBef>
              <a:spcAft>
                <a:spcPts val="0"/>
              </a:spcAft>
              <a:buNone/>
            </a:pPr>
            <a:r>
              <a:rPr b="0" i="0" lang="en-US" sz="1300" u="none" cap="none" strike="noStrike">
                <a:solidFill>
                  <a:srgbClr val="101010"/>
                </a:solidFill>
                <a:latin typeface="Calibri"/>
                <a:ea typeface="Calibri"/>
                <a:cs typeface="Calibri"/>
                <a:sym typeface="Calibri"/>
              </a:rPr>
              <a:t>0.792</a:t>
            </a:r>
            <a:endParaRPr/>
          </a:p>
        </p:txBody>
      </p:sp>
      <p:sp>
        <p:nvSpPr>
          <p:cNvPr id="479" name="Google Shape;479;p42"/>
          <p:cNvSpPr/>
          <p:nvPr/>
        </p:nvSpPr>
        <p:spPr>
          <a:xfrm>
            <a:off x="5852160" y="3995928"/>
            <a:ext cx="2788920" cy="384048"/>
          </a:xfrm>
          <a:prstGeom prst="rect">
            <a:avLst/>
          </a:prstGeom>
          <a:solidFill>
            <a:srgbClr val="F4F7FA"/>
          </a:solidFill>
          <a:ln cap="flat" cmpd="sng" w="9525">
            <a:solidFill>
              <a:srgbClr val="CDD4D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91425" spcFirstLastPara="1" rIns="91425" wrap="square" tIns="0">
            <a:noAutofit/>
          </a:bodyPr>
          <a:lstStyle/>
          <a:p>
            <a:pPr indent="0" lvl="0" marL="0" marR="0" rtl="0" algn="l">
              <a:spcBef>
                <a:spcPts val="0"/>
              </a:spcBef>
              <a:spcAft>
                <a:spcPts val="0"/>
              </a:spcAft>
              <a:buNone/>
            </a:pPr>
            <a:r>
              <a:rPr b="0" i="0" lang="en-US" sz="1300" u="none" cap="none" strike="noStrike">
                <a:solidFill>
                  <a:srgbClr val="101010"/>
                </a:solidFill>
                <a:latin typeface="Calibri"/>
                <a:ea typeface="Calibri"/>
                <a:cs typeface="Calibri"/>
                <a:sym typeface="Calibri"/>
              </a:rPr>
              <a:t>Linear SVC</a:t>
            </a:r>
            <a:endParaRPr/>
          </a:p>
        </p:txBody>
      </p:sp>
      <p:sp>
        <p:nvSpPr>
          <p:cNvPr id="480" name="Google Shape;480;p42"/>
          <p:cNvSpPr/>
          <p:nvPr/>
        </p:nvSpPr>
        <p:spPr>
          <a:xfrm>
            <a:off x="8641080" y="3995928"/>
            <a:ext cx="1097280" cy="384048"/>
          </a:xfrm>
          <a:prstGeom prst="rect">
            <a:avLst/>
          </a:prstGeom>
          <a:solidFill>
            <a:srgbClr val="F4F7FA"/>
          </a:solidFill>
          <a:ln cap="flat" cmpd="sng" w="9525">
            <a:solidFill>
              <a:srgbClr val="CDD4D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91425" spcFirstLastPara="1" rIns="91425" wrap="square" tIns="0">
            <a:noAutofit/>
          </a:bodyPr>
          <a:lstStyle/>
          <a:p>
            <a:pPr indent="0" lvl="0" marL="0" marR="0" rtl="0" algn="l">
              <a:spcBef>
                <a:spcPts val="0"/>
              </a:spcBef>
              <a:spcAft>
                <a:spcPts val="0"/>
              </a:spcAft>
              <a:buNone/>
            </a:pPr>
            <a:r>
              <a:rPr b="0" i="0" lang="en-US" sz="1300" u="none" cap="none" strike="noStrike">
                <a:solidFill>
                  <a:srgbClr val="101010"/>
                </a:solidFill>
                <a:latin typeface="Calibri"/>
                <a:ea typeface="Calibri"/>
                <a:cs typeface="Calibri"/>
                <a:sym typeface="Calibri"/>
              </a:rPr>
              <a:t>0.792</a:t>
            </a:r>
            <a:endParaRPr/>
          </a:p>
        </p:txBody>
      </p:sp>
      <p:sp>
        <p:nvSpPr>
          <p:cNvPr id="481" name="Google Shape;481;p42"/>
          <p:cNvSpPr/>
          <p:nvPr/>
        </p:nvSpPr>
        <p:spPr>
          <a:xfrm>
            <a:off x="5852160" y="4379976"/>
            <a:ext cx="2788920" cy="384048"/>
          </a:xfrm>
          <a:prstGeom prst="rect">
            <a:avLst/>
          </a:prstGeom>
          <a:solidFill>
            <a:srgbClr val="FFFFFF"/>
          </a:solidFill>
          <a:ln cap="flat" cmpd="sng" w="9525">
            <a:solidFill>
              <a:srgbClr val="CDD4D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91425" spcFirstLastPara="1" rIns="91425" wrap="square" tIns="0">
            <a:noAutofit/>
          </a:bodyPr>
          <a:lstStyle/>
          <a:p>
            <a:pPr indent="0" lvl="0" marL="0" marR="0" rtl="0" algn="l">
              <a:spcBef>
                <a:spcPts val="0"/>
              </a:spcBef>
              <a:spcAft>
                <a:spcPts val="0"/>
              </a:spcAft>
              <a:buNone/>
            </a:pPr>
            <a:r>
              <a:rPr b="0" i="0" lang="en-US" sz="1300" u="none" cap="none" strike="noStrike">
                <a:solidFill>
                  <a:srgbClr val="101010"/>
                </a:solidFill>
                <a:latin typeface="Calibri"/>
                <a:ea typeface="Calibri"/>
                <a:cs typeface="Calibri"/>
                <a:sym typeface="Calibri"/>
              </a:rPr>
              <a:t>Decision Tree</a:t>
            </a:r>
            <a:endParaRPr/>
          </a:p>
        </p:txBody>
      </p:sp>
      <p:sp>
        <p:nvSpPr>
          <p:cNvPr id="482" name="Google Shape;482;p42"/>
          <p:cNvSpPr/>
          <p:nvPr/>
        </p:nvSpPr>
        <p:spPr>
          <a:xfrm>
            <a:off x="8641080" y="4379976"/>
            <a:ext cx="1097280" cy="384048"/>
          </a:xfrm>
          <a:prstGeom prst="rect">
            <a:avLst/>
          </a:prstGeom>
          <a:solidFill>
            <a:srgbClr val="FFFFFF"/>
          </a:solidFill>
          <a:ln cap="flat" cmpd="sng" w="9525">
            <a:solidFill>
              <a:srgbClr val="CDD4D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91425" spcFirstLastPara="1" rIns="91425" wrap="square" tIns="0">
            <a:noAutofit/>
          </a:bodyPr>
          <a:lstStyle/>
          <a:p>
            <a:pPr indent="0" lvl="0" marL="0" marR="0" rtl="0" algn="l">
              <a:spcBef>
                <a:spcPts val="0"/>
              </a:spcBef>
              <a:spcAft>
                <a:spcPts val="0"/>
              </a:spcAft>
              <a:buNone/>
            </a:pPr>
            <a:r>
              <a:rPr b="0" i="0" lang="en-US" sz="1300" u="none" cap="none" strike="noStrike">
                <a:solidFill>
                  <a:srgbClr val="101010"/>
                </a:solidFill>
                <a:latin typeface="Calibri"/>
                <a:ea typeface="Calibri"/>
                <a:cs typeface="Calibri"/>
                <a:sym typeface="Calibri"/>
              </a:rPr>
              <a:t>0.776</a:t>
            </a:r>
            <a:endParaRPr/>
          </a:p>
        </p:txBody>
      </p:sp>
      <p:sp>
        <p:nvSpPr>
          <p:cNvPr id="483" name="Google Shape;483;p42"/>
          <p:cNvSpPr/>
          <p:nvPr/>
        </p:nvSpPr>
        <p:spPr>
          <a:xfrm>
            <a:off x="5852160" y="4764024"/>
            <a:ext cx="2788800" cy="384000"/>
          </a:xfrm>
          <a:prstGeom prst="rect">
            <a:avLst/>
          </a:prstGeom>
          <a:solidFill>
            <a:srgbClr val="F4F7FA"/>
          </a:solidFill>
          <a:ln cap="flat" cmpd="sng" w="9525">
            <a:solidFill>
              <a:srgbClr val="CDD4D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91425" spcFirstLastPara="1" rIns="91425" wrap="square" tIns="0">
            <a:noAutofit/>
          </a:bodyPr>
          <a:lstStyle/>
          <a:p>
            <a:pPr indent="0" lvl="0" marL="0" marR="0" rtl="0" algn="l">
              <a:spcBef>
                <a:spcPts val="0"/>
              </a:spcBef>
              <a:spcAft>
                <a:spcPts val="0"/>
              </a:spcAft>
              <a:buNone/>
            </a:pPr>
            <a:r>
              <a:rPr b="0" i="0" lang="en-US" sz="1300" u="none" cap="none" strike="noStrike">
                <a:solidFill>
                  <a:srgbClr val="101010"/>
                </a:solidFill>
                <a:latin typeface="Calibri"/>
                <a:ea typeface="Calibri"/>
                <a:cs typeface="Calibri"/>
                <a:sym typeface="Calibri"/>
              </a:rPr>
              <a:t>CatBoost (Core only)</a:t>
            </a:r>
            <a:endParaRPr/>
          </a:p>
        </p:txBody>
      </p:sp>
      <p:sp>
        <p:nvSpPr>
          <p:cNvPr id="484" name="Google Shape;484;p42"/>
          <p:cNvSpPr/>
          <p:nvPr/>
        </p:nvSpPr>
        <p:spPr>
          <a:xfrm>
            <a:off x="8641080" y="4764024"/>
            <a:ext cx="1097280" cy="384048"/>
          </a:xfrm>
          <a:prstGeom prst="rect">
            <a:avLst/>
          </a:prstGeom>
          <a:solidFill>
            <a:srgbClr val="F4F7FA"/>
          </a:solidFill>
          <a:ln cap="flat" cmpd="sng" w="9525">
            <a:solidFill>
              <a:srgbClr val="CDD4D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91425" spcFirstLastPara="1" rIns="91425" wrap="square" tIns="0">
            <a:noAutofit/>
          </a:bodyPr>
          <a:lstStyle/>
          <a:p>
            <a:pPr indent="0" lvl="0" marL="0" marR="0" rtl="0" algn="l">
              <a:spcBef>
                <a:spcPts val="0"/>
              </a:spcBef>
              <a:spcAft>
                <a:spcPts val="0"/>
              </a:spcAft>
              <a:buNone/>
            </a:pPr>
            <a:r>
              <a:rPr b="0" i="0" lang="en-US" sz="1300" u="none" cap="none" strike="noStrike">
                <a:solidFill>
                  <a:srgbClr val="101010"/>
                </a:solidFill>
                <a:latin typeface="Calibri"/>
                <a:ea typeface="Calibri"/>
                <a:cs typeface="Calibri"/>
                <a:sym typeface="Calibri"/>
              </a:rPr>
              <a:t>0.775</a:t>
            </a:r>
            <a:endParaRPr/>
          </a:p>
        </p:txBody>
      </p:sp>
      <p:sp>
        <p:nvSpPr>
          <p:cNvPr id="485" name="Google Shape;485;p42"/>
          <p:cNvSpPr txBox="1"/>
          <p:nvPr/>
        </p:nvSpPr>
        <p:spPr>
          <a:xfrm>
            <a:off x="5852160" y="5275663"/>
            <a:ext cx="3886200" cy="3387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1" lang="en-US" sz="1100" u="none" cap="none" strike="noStrike">
                <a:solidFill>
                  <a:srgbClr val="555555"/>
                </a:solidFill>
                <a:latin typeface="Calibri"/>
                <a:ea typeface="Calibri"/>
                <a:cs typeface="Calibri"/>
                <a:sym typeface="Calibri"/>
              </a:rPr>
              <a:t>Table 8. Top three models within 0.005 AUC despite different architectures — trees match deep nets on tabular health data.</a:t>
            </a:r>
            <a:endParaRPr/>
          </a:p>
        </p:txBody>
      </p:sp>
      <p:sp>
        <p:nvSpPr>
          <p:cNvPr id="486" name="Google Shape;486;p42"/>
          <p:cNvSpPr txBox="1"/>
          <p:nvPr/>
        </p:nvSpPr>
        <p:spPr>
          <a:xfrm>
            <a:off x="411480" y="7479792"/>
            <a:ext cx="6400800" cy="256032"/>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00" u="none" cap="none" strike="noStrike">
                <a:solidFill>
                  <a:srgbClr val="555555"/>
                </a:solidFill>
                <a:latin typeface="Calibri"/>
                <a:ea typeface="Calibri"/>
                <a:cs typeface="Calibri"/>
                <a:sym typeface="Calibri"/>
              </a:rPr>
              <a:t>Team 3c  ·  CDS-492 Capstone  ·  Spring 2026</a:t>
            </a:r>
            <a:endParaRPr/>
          </a:p>
        </p:txBody>
      </p:sp>
      <p:sp>
        <p:nvSpPr>
          <p:cNvPr id="487" name="Google Shape;487;p42"/>
          <p:cNvSpPr txBox="1"/>
          <p:nvPr/>
        </p:nvSpPr>
        <p:spPr>
          <a:xfrm>
            <a:off x="8686800" y="7479792"/>
            <a:ext cx="1005840" cy="256032"/>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i="0" lang="en-US" sz="1000" u="none" cap="none" strike="noStrike">
                <a:solidFill>
                  <a:srgbClr val="555555"/>
                </a:solidFill>
                <a:latin typeface="Calibri"/>
                <a:ea typeface="Calibri"/>
                <a:cs typeface="Calibri"/>
                <a:sym typeface="Calibri"/>
              </a:rPr>
              <a:t>10 / 16</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1" name="Shape 491"/>
        <p:cNvGrpSpPr/>
        <p:nvPr/>
      </p:nvGrpSpPr>
      <p:grpSpPr>
        <a:xfrm>
          <a:off x="0" y="0"/>
          <a:ext cx="0" cy="0"/>
          <a:chOff x="0" y="0"/>
          <a:chExt cx="0" cy="0"/>
        </a:xfrm>
      </p:grpSpPr>
      <p:sp>
        <p:nvSpPr>
          <p:cNvPr id="492" name="Google Shape;492;p43"/>
          <p:cNvSpPr/>
          <p:nvPr/>
        </p:nvSpPr>
        <p:spPr>
          <a:xfrm>
            <a:off x="0" y="0"/>
            <a:ext cx="10058400" cy="1188720"/>
          </a:xfrm>
          <a:prstGeom prst="rect">
            <a:avLst/>
          </a:prstGeom>
          <a:solidFill>
            <a:srgbClr val="0E2841"/>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493" name="Google Shape;493;p43"/>
          <p:cNvSpPr txBox="1"/>
          <p:nvPr/>
        </p:nvSpPr>
        <p:spPr>
          <a:xfrm>
            <a:off x="502920" y="311668"/>
            <a:ext cx="9144000" cy="6156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4000">
                <a:solidFill>
                  <a:srgbClr val="FFFFFF"/>
                </a:solidFill>
                <a:latin typeface="Calibri"/>
                <a:ea typeface="Calibri"/>
                <a:cs typeface="Calibri"/>
                <a:sym typeface="Calibri"/>
              </a:rPr>
              <a:t>ROC Curve Comparison (Non-Lipid Subset)</a:t>
            </a:r>
            <a:endParaRPr b="1" sz="4000">
              <a:solidFill>
                <a:srgbClr val="FFFFFF"/>
              </a:solidFill>
              <a:latin typeface="Calibri"/>
              <a:ea typeface="Calibri"/>
              <a:cs typeface="Calibri"/>
              <a:sym typeface="Calibri"/>
            </a:endParaRPr>
          </a:p>
        </p:txBody>
      </p:sp>
      <p:sp>
        <p:nvSpPr>
          <p:cNvPr id="494" name="Google Shape;494;p43"/>
          <p:cNvSpPr/>
          <p:nvPr/>
        </p:nvSpPr>
        <p:spPr>
          <a:xfrm>
            <a:off x="0" y="1188720"/>
            <a:ext cx="10058400" cy="45720"/>
          </a:xfrm>
          <a:prstGeom prst="rect">
            <a:avLst/>
          </a:prstGeom>
          <a:solidFill>
            <a:srgbClr val="156082"/>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495" name="Google Shape;495;p43"/>
          <p:cNvSpPr txBox="1"/>
          <p:nvPr/>
        </p:nvSpPr>
        <p:spPr>
          <a:xfrm>
            <a:off x="126050" y="6355075"/>
            <a:ext cx="5349300" cy="1692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1" lang="en-US" sz="1100" u="none" cap="none" strike="noStrike">
                <a:solidFill>
                  <a:srgbClr val="555555"/>
                </a:solidFill>
                <a:latin typeface="Calibri"/>
                <a:ea typeface="Calibri"/>
                <a:cs typeface="Calibri"/>
                <a:sym typeface="Calibri"/>
              </a:rPr>
              <a:t>Figure 6. ROC curves for the three CatBoost feature-set tiers on the test set.</a:t>
            </a:r>
            <a:endParaRPr/>
          </a:p>
        </p:txBody>
      </p:sp>
      <p:sp>
        <p:nvSpPr>
          <p:cNvPr id="496" name="Google Shape;496;p43"/>
          <p:cNvSpPr/>
          <p:nvPr/>
        </p:nvSpPr>
        <p:spPr>
          <a:xfrm>
            <a:off x="5760720" y="1691640"/>
            <a:ext cx="1463040" cy="457200"/>
          </a:xfrm>
          <a:prstGeom prst="rect">
            <a:avLst/>
          </a:prstGeom>
          <a:solidFill>
            <a:srgbClr val="0E2841"/>
          </a:solidFill>
          <a:ln cap="flat" cmpd="sng" w="9525">
            <a:solidFill>
              <a:srgbClr val="0E2841"/>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91425" spcFirstLastPara="1" rIns="91425" wrap="square" tIns="0">
            <a:noAutofit/>
          </a:bodyPr>
          <a:lstStyle/>
          <a:p>
            <a:pPr indent="0" lvl="0" marL="0" marR="0" rtl="0" algn="l">
              <a:spcBef>
                <a:spcPts val="0"/>
              </a:spcBef>
              <a:spcAft>
                <a:spcPts val="0"/>
              </a:spcAft>
              <a:buNone/>
            </a:pPr>
            <a:r>
              <a:rPr b="1" i="0" lang="en-US" sz="1200" u="none" cap="none" strike="noStrike">
                <a:solidFill>
                  <a:srgbClr val="FFFFFF"/>
                </a:solidFill>
                <a:latin typeface="Calibri"/>
                <a:ea typeface="Calibri"/>
                <a:cs typeface="Calibri"/>
                <a:sym typeface="Calibri"/>
              </a:rPr>
              <a:t>Feature set</a:t>
            </a:r>
            <a:endParaRPr/>
          </a:p>
        </p:txBody>
      </p:sp>
      <p:sp>
        <p:nvSpPr>
          <p:cNvPr id="497" name="Google Shape;497;p43"/>
          <p:cNvSpPr/>
          <p:nvPr/>
        </p:nvSpPr>
        <p:spPr>
          <a:xfrm>
            <a:off x="7223760" y="1691640"/>
            <a:ext cx="868680" cy="457200"/>
          </a:xfrm>
          <a:prstGeom prst="rect">
            <a:avLst/>
          </a:prstGeom>
          <a:solidFill>
            <a:srgbClr val="0E2841"/>
          </a:solidFill>
          <a:ln cap="flat" cmpd="sng" w="9525">
            <a:solidFill>
              <a:srgbClr val="0E2841"/>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91425" spcFirstLastPara="1" rIns="91425" wrap="square" tIns="0">
            <a:noAutofit/>
          </a:bodyPr>
          <a:lstStyle/>
          <a:p>
            <a:pPr indent="0" lvl="0" marL="0" marR="0" rtl="0" algn="l">
              <a:spcBef>
                <a:spcPts val="0"/>
              </a:spcBef>
              <a:spcAft>
                <a:spcPts val="0"/>
              </a:spcAft>
              <a:buNone/>
            </a:pPr>
            <a:r>
              <a:rPr b="1" i="0" lang="en-US" sz="1200" u="none" cap="none" strike="noStrike">
                <a:solidFill>
                  <a:srgbClr val="FFFFFF"/>
                </a:solidFill>
                <a:latin typeface="Calibri"/>
                <a:ea typeface="Calibri"/>
                <a:cs typeface="Calibri"/>
                <a:sym typeface="Calibri"/>
              </a:rPr>
              <a:t># Feats</a:t>
            </a:r>
            <a:endParaRPr/>
          </a:p>
        </p:txBody>
      </p:sp>
      <p:sp>
        <p:nvSpPr>
          <p:cNvPr id="498" name="Google Shape;498;p43"/>
          <p:cNvSpPr/>
          <p:nvPr/>
        </p:nvSpPr>
        <p:spPr>
          <a:xfrm>
            <a:off x="8092440" y="1691640"/>
            <a:ext cx="868680" cy="457200"/>
          </a:xfrm>
          <a:prstGeom prst="rect">
            <a:avLst/>
          </a:prstGeom>
          <a:solidFill>
            <a:srgbClr val="0E2841"/>
          </a:solidFill>
          <a:ln cap="flat" cmpd="sng" w="9525">
            <a:solidFill>
              <a:srgbClr val="0E2841"/>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91425" spcFirstLastPara="1" rIns="91425" wrap="square" tIns="0">
            <a:noAutofit/>
          </a:bodyPr>
          <a:lstStyle/>
          <a:p>
            <a:pPr indent="0" lvl="0" marL="0" marR="0" rtl="0" algn="l">
              <a:spcBef>
                <a:spcPts val="0"/>
              </a:spcBef>
              <a:spcAft>
                <a:spcPts val="0"/>
              </a:spcAft>
              <a:buNone/>
            </a:pPr>
            <a:r>
              <a:rPr b="1" i="0" lang="en-US" sz="1200" u="none" cap="none" strike="noStrike">
                <a:solidFill>
                  <a:srgbClr val="FFFFFF"/>
                </a:solidFill>
                <a:latin typeface="Calibri"/>
                <a:ea typeface="Calibri"/>
                <a:cs typeface="Calibri"/>
                <a:sym typeface="Calibri"/>
              </a:rPr>
              <a:t>AUC</a:t>
            </a:r>
            <a:endParaRPr/>
          </a:p>
        </p:txBody>
      </p:sp>
      <p:sp>
        <p:nvSpPr>
          <p:cNvPr id="499" name="Google Shape;499;p43"/>
          <p:cNvSpPr/>
          <p:nvPr/>
        </p:nvSpPr>
        <p:spPr>
          <a:xfrm>
            <a:off x="8961120" y="1691640"/>
            <a:ext cx="1005840" cy="457200"/>
          </a:xfrm>
          <a:prstGeom prst="rect">
            <a:avLst/>
          </a:prstGeom>
          <a:solidFill>
            <a:srgbClr val="0E2841"/>
          </a:solidFill>
          <a:ln cap="flat" cmpd="sng" w="9525">
            <a:solidFill>
              <a:srgbClr val="0E2841"/>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91425" spcFirstLastPara="1" rIns="91425" wrap="square" tIns="0">
            <a:noAutofit/>
          </a:bodyPr>
          <a:lstStyle/>
          <a:p>
            <a:pPr indent="0" lvl="0" marL="0" marR="0" rtl="0" algn="l">
              <a:spcBef>
                <a:spcPts val="0"/>
              </a:spcBef>
              <a:spcAft>
                <a:spcPts val="0"/>
              </a:spcAft>
              <a:buNone/>
            </a:pPr>
            <a:r>
              <a:rPr b="1" i="0" lang="en-US" sz="1200" u="none" cap="none" strike="noStrike">
                <a:solidFill>
                  <a:srgbClr val="FFFFFF"/>
                </a:solidFill>
                <a:latin typeface="Calibri"/>
                <a:ea typeface="Calibri"/>
                <a:cs typeface="Calibri"/>
                <a:sym typeface="Calibri"/>
              </a:rPr>
              <a:t>Δ AUC</a:t>
            </a:r>
            <a:endParaRPr/>
          </a:p>
        </p:txBody>
      </p:sp>
      <p:sp>
        <p:nvSpPr>
          <p:cNvPr id="500" name="Google Shape;500;p43"/>
          <p:cNvSpPr/>
          <p:nvPr/>
        </p:nvSpPr>
        <p:spPr>
          <a:xfrm>
            <a:off x="5760720" y="2148840"/>
            <a:ext cx="1463040" cy="457200"/>
          </a:xfrm>
          <a:prstGeom prst="rect">
            <a:avLst/>
          </a:prstGeom>
          <a:solidFill>
            <a:srgbClr val="FFFFFF"/>
          </a:solidFill>
          <a:ln cap="flat" cmpd="sng" w="9525">
            <a:solidFill>
              <a:srgbClr val="CDD4D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91425" spcFirstLastPara="1" rIns="91425" wrap="square" tIns="0">
            <a:noAutofit/>
          </a:bodyPr>
          <a:lstStyle/>
          <a:p>
            <a:pPr indent="0" lvl="0" marL="0" marR="0" rtl="0" algn="l">
              <a:spcBef>
                <a:spcPts val="0"/>
              </a:spcBef>
              <a:spcAft>
                <a:spcPts val="0"/>
              </a:spcAft>
              <a:buNone/>
            </a:pPr>
            <a:r>
              <a:rPr b="1" i="0" lang="en-US" sz="1300" u="none" cap="none" strike="noStrike">
                <a:solidFill>
                  <a:srgbClr val="101010"/>
                </a:solidFill>
                <a:latin typeface="Calibri"/>
                <a:ea typeface="Calibri"/>
                <a:cs typeface="Calibri"/>
                <a:sym typeface="Calibri"/>
              </a:rPr>
              <a:t>Core</a:t>
            </a:r>
            <a:endParaRPr/>
          </a:p>
        </p:txBody>
      </p:sp>
      <p:sp>
        <p:nvSpPr>
          <p:cNvPr id="501" name="Google Shape;501;p43"/>
          <p:cNvSpPr/>
          <p:nvPr/>
        </p:nvSpPr>
        <p:spPr>
          <a:xfrm>
            <a:off x="7223760" y="2148840"/>
            <a:ext cx="868680" cy="457200"/>
          </a:xfrm>
          <a:prstGeom prst="rect">
            <a:avLst/>
          </a:prstGeom>
          <a:solidFill>
            <a:srgbClr val="FFFFFF"/>
          </a:solidFill>
          <a:ln cap="flat" cmpd="sng" w="9525">
            <a:solidFill>
              <a:srgbClr val="CDD4D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91425" spcFirstLastPara="1" rIns="91425" wrap="square" tIns="0">
            <a:noAutofit/>
          </a:bodyPr>
          <a:lstStyle/>
          <a:p>
            <a:pPr indent="0" lvl="0" marL="0" marR="0" rtl="0" algn="l">
              <a:spcBef>
                <a:spcPts val="0"/>
              </a:spcBef>
              <a:spcAft>
                <a:spcPts val="0"/>
              </a:spcAft>
              <a:buNone/>
            </a:pPr>
            <a:r>
              <a:rPr b="0" i="0" lang="en-US" sz="1300" u="none" cap="none" strike="noStrike">
                <a:solidFill>
                  <a:srgbClr val="101010"/>
                </a:solidFill>
                <a:latin typeface="Calibri"/>
                <a:ea typeface="Calibri"/>
                <a:cs typeface="Calibri"/>
                <a:sym typeface="Calibri"/>
              </a:rPr>
              <a:t>15</a:t>
            </a:r>
            <a:endParaRPr/>
          </a:p>
        </p:txBody>
      </p:sp>
      <p:sp>
        <p:nvSpPr>
          <p:cNvPr id="502" name="Google Shape;502;p43"/>
          <p:cNvSpPr/>
          <p:nvPr/>
        </p:nvSpPr>
        <p:spPr>
          <a:xfrm>
            <a:off x="8092440" y="2148840"/>
            <a:ext cx="868680" cy="457200"/>
          </a:xfrm>
          <a:prstGeom prst="rect">
            <a:avLst/>
          </a:prstGeom>
          <a:solidFill>
            <a:srgbClr val="FFFFFF"/>
          </a:solidFill>
          <a:ln cap="flat" cmpd="sng" w="9525">
            <a:solidFill>
              <a:srgbClr val="CDD4D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91425" spcFirstLastPara="1" rIns="91425" wrap="square" tIns="0">
            <a:noAutofit/>
          </a:bodyPr>
          <a:lstStyle/>
          <a:p>
            <a:pPr indent="0" lvl="0" marL="0" marR="0" rtl="0" algn="l">
              <a:spcBef>
                <a:spcPts val="0"/>
              </a:spcBef>
              <a:spcAft>
                <a:spcPts val="0"/>
              </a:spcAft>
              <a:buNone/>
            </a:pPr>
            <a:r>
              <a:rPr b="0" i="0" lang="en-US" sz="1300" u="none" cap="none" strike="noStrike">
                <a:solidFill>
                  <a:srgbClr val="101010"/>
                </a:solidFill>
                <a:latin typeface="Calibri"/>
                <a:ea typeface="Calibri"/>
                <a:cs typeface="Calibri"/>
                <a:sym typeface="Calibri"/>
              </a:rPr>
              <a:t>0.7</a:t>
            </a:r>
            <a:r>
              <a:rPr lang="en-US" sz="1300">
                <a:solidFill>
                  <a:srgbClr val="101010"/>
                </a:solidFill>
                <a:latin typeface="Calibri"/>
                <a:ea typeface="Calibri"/>
                <a:cs typeface="Calibri"/>
                <a:sym typeface="Calibri"/>
              </a:rPr>
              <a:t>89</a:t>
            </a:r>
            <a:endParaRPr/>
          </a:p>
        </p:txBody>
      </p:sp>
      <p:sp>
        <p:nvSpPr>
          <p:cNvPr id="503" name="Google Shape;503;p43"/>
          <p:cNvSpPr/>
          <p:nvPr/>
        </p:nvSpPr>
        <p:spPr>
          <a:xfrm>
            <a:off x="8961120" y="2148840"/>
            <a:ext cx="1005840" cy="457200"/>
          </a:xfrm>
          <a:prstGeom prst="rect">
            <a:avLst/>
          </a:prstGeom>
          <a:solidFill>
            <a:srgbClr val="FFFFFF"/>
          </a:solidFill>
          <a:ln cap="flat" cmpd="sng" w="9525">
            <a:solidFill>
              <a:srgbClr val="CDD4D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91425" spcFirstLastPara="1" rIns="91425" wrap="square" tIns="0">
            <a:noAutofit/>
          </a:bodyPr>
          <a:lstStyle/>
          <a:p>
            <a:pPr indent="0" lvl="0" marL="0" marR="0" rtl="0" algn="l">
              <a:spcBef>
                <a:spcPts val="0"/>
              </a:spcBef>
              <a:spcAft>
                <a:spcPts val="0"/>
              </a:spcAft>
              <a:buNone/>
            </a:pPr>
            <a:r>
              <a:rPr b="0" i="0" lang="en-US" sz="1300" u="none" cap="none" strike="noStrike">
                <a:solidFill>
                  <a:srgbClr val="101010"/>
                </a:solidFill>
                <a:latin typeface="Calibri"/>
                <a:ea typeface="Calibri"/>
                <a:cs typeface="Calibri"/>
                <a:sym typeface="Calibri"/>
              </a:rPr>
              <a:t>—</a:t>
            </a:r>
            <a:endParaRPr/>
          </a:p>
        </p:txBody>
      </p:sp>
      <p:sp>
        <p:nvSpPr>
          <p:cNvPr id="504" name="Google Shape;504;p43"/>
          <p:cNvSpPr/>
          <p:nvPr/>
        </p:nvSpPr>
        <p:spPr>
          <a:xfrm>
            <a:off x="5760720" y="2606040"/>
            <a:ext cx="1463040" cy="457200"/>
          </a:xfrm>
          <a:prstGeom prst="rect">
            <a:avLst/>
          </a:prstGeom>
          <a:solidFill>
            <a:srgbClr val="F4F7FA"/>
          </a:solidFill>
          <a:ln cap="flat" cmpd="sng" w="9525">
            <a:solidFill>
              <a:srgbClr val="CDD4D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91425" spcFirstLastPara="1" rIns="91425" wrap="square" tIns="0">
            <a:noAutofit/>
          </a:bodyPr>
          <a:lstStyle/>
          <a:p>
            <a:pPr indent="0" lvl="0" marL="0" marR="0" rtl="0" algn="l">
              <a:spcBef>
                <a:spcPts val="0"/>
              </a:spcBef>
              <a:spcAft>
                <a:spcPts val="0"/>
              </a:spcAft>
              <a:buNone/>
            </a:pPr>
            <a:r>
              <a:rPr b="1" i="0" lang="en-US" sz="1300" u="none" cap="none" strike="noStrike">
                <a:solidFill>
                  <a:srgbClr val="101010"/>
                </a:solidFill>
                <a:latin typeface="Calibri"/>
                <a:ea typeface="Calibri"/>
                <a:cs typeface="Calibri"/>
                <a:sym typeface="Calibri"/>
              </a:rPr>
              <a:t>+ Labs</a:t>
            </a:r>
            <a:endParaRPr/>
          </a:p>
        </p:txBody>
      </p:sp>
      <p:sp>
        <p:nvSpPr>
          <p:cNvPr id="505" name="Google Shape;505;p43"/>
          <p:cNvSpPr/>
          <p:nvPr/>
        </p:nvSpPr>
        <p:spPr>
          <a:xfrm>
            <a:off x="7223760" y="2606040"/>
            <a:ext cx="868680" cy="457200"/>
          </a:xfrm>
          <a:prstGeom prst="rect">
            <a:avLst/>
          </a:prstGeom>
          <a:solidFill>
            <a:srgbClr val="F4F7FA"/>
          </a:solidFill>
          <a:ln cap="flat" cmpd="sng" w="9525">
            <a:solidFill>
              <a:srgbClr val="CDD4D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91425" spcFirstLastPara="1" rIns="91425" wrap="square" tIns="0">
            <a:noAutofit/>
          </a:bodyPr>
          <a:lstStyle/>
          <a:p>
            <a:pPr indent="0" lvl="0" marL="0" marR="0" rtl="0" algn="l">
              <a:spcBef>
                <a:spcPts val="0"/>
              </a:spcBef>
              <a:spcAft>
                <a:spcPts val="0"/>
              </a:spcAft>
              <a:buNone/>
            </a:pPr>
            <a:r>
              <a:rPr b="0" i="0" lang="en-US" sz="1300" u="none" cap="none" strike="noStrike">
                <a:solidFill>
                  <a:srgbClr val="101010"/>
                </a:solidFill>
                <a:latin typeface="Calibri"/>
                <a:ea typeface="Calibri"/>
                <a:cs typeface="Calibri"/>
                <a:sym typeface="Calibri"/>
              </a:rPr>
              <a:t>26</a:t>
            </a:r>
            <a:endParaRPr/>
          </a:p>
        </p:txBody>
      </p:sp>
      <p:sp>
        <p:nvSpPr>
          <p:cNvPr id="506" name="Google Shape;506;p43"/>
          <p:cNvSpPr/>
          <p:nvPr/>
        </p:nvSpPr>
        <p:spPr>
          <a:xfrm>
            <a:off x="8092440" y="2606040"/>
            <a:ext cx="868680" cy="457200"/>
          </a:xfrm>
          <a:prstGeom prst="rect">
            <a:avLst/>
          </a:prstGeom>
          <a:solidFill>
            <a:srgbClr val="F4F7FA"/>
          </a:solidFill>
          <a:ln cap="flat" cmpd="sng" w="9525">
            <a:solidFill>
              <a:srgbClr val="CDD4D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91425" spcFirstLastPara="1" rIns="91425" wrap="square" tIns="0">
            <a:noAutofit/>
          </a:bodyPr>
          <a:lstStyle/>
          <a:p>
            <a:pPr indent="0" lvl="0" marL="0" marR="0" rtl="0" algn="l">
              <a:spcBef>
                <a:spcPts val="0"/>
              </a:spcBef>
              <a:spcAft>
                <a:spcPts val="0"/>
              </a:spcAft>
              <a:buNone/>
            </a:pPr>
            <a:r>
              <a:rPr b="0" i="0" lang="en-US" sz="1300" u="none" cap="none" strike="noStrike">
                <a:solidFill>
                  <a:srgbClr val="101010"/>
                </a:solidFill>
                <a:latin typeface="Calibri"/>
                <a:ea typeface="Calibri"/>
                <a:cs typeface="Calibri"/>
                <a:sym typeface="Calibri"/>
              </a:rPr>
              <a:t>0.8</a:t>
            </a:r>
            <a:r>
              <a:rPr lang="en-US" sz="1300">
                <a:solidFill>
                  <a:srgbClr val="101010"/>
                </a:solidFill>
                <a:latin typeface="Calibri"/>
                <a:ea typeface="Calibri"/>
                <a:cs typeface="Calibri"/>
                <a:sym typeface="Calibri"/>
              </a:rPr>
              <a:t>21</a:t>
            </a:r>
            <a:endParaRPr/>
          </a:p>
        </p:txBody>
      </p:sp>
      <p:sp>
        <p:nvSpPr>
          <p:cNvPr id="507" name="Google Shape;507;p43"/>
          <p:cNvSpPr/>
          <p:nvPr/>
        </p:nvSpPr>
        <p:spPr>
          <a:xfrm>
            <a:off x="8961120" y="2606040"/>
            <a:ext cx="1005840" cy="457200"/>
          </a:xfrm>
          <a:prstGeom prst="rect">
            <a:avLst/>
          </a:prstGeom>
          <a:solidFill>
            <a:srgbClr val="F4F7FA"/>
          </a:solidFill>
          <a:ln cap="flat" cmpd="sng" w="9525">
            <a:solidFill>
              <a:srgbClr val="CDD4D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91425" spcFirstLastPara="1" rIns="91425" wrap="square" tIns="0">
            <a:noAutofit/>
          </a:bodyPr>
          <a:lstStyle/>
          <a:p>
            <a:pPr indent="0" lvl="0" marL="0" marR="0" rtl="0" algn="l">
              <a:spcBef>
                <a:spcPts val="0"/>
              </a:spcBef>
              <a:spcAft>
                <a:spcPts val="0"/>
              </a:spcAft>
              <a:buNone/>
            </a:pPr>
            <a:r>
              <a:rPr b="0" i="0" lang="en-US" sz="1300" u="none" cap="none" strike="noStrike">
                <a:solidFill>
                  <a:srgbClr val="101010"/>
                </a:solidFill>
                <a:latin typeface="Calibri"/>
                <a:ea typeface="Calibri"/>
                <a:cs typeface="Calibri"/>
                <a:sym typeface="Calibri"/>
              </a:rPr>
              <a:t>+0.033</a:t>
            </a:r>
            <a:endParaRPr/>
          </a:p>
        </p:txBody>
      </p:sp>
      <p:sp>
        <p:nvSpPr>
          <p:cNvPr id="508" name="Google Shape;508;p43"/>
          <p:cNvSpPr/>
          <p:nvPr/>
        </p:nvSpPr>
        <p:spPr>
          <a:xfrm>
            <a:off x="5760720" y="3063240"/>
            <a:ext cx="1463040" cy="457200"/>
          </a:xfrm>
          <a:prstGeom prst="rect">
            <a:avLst/>
          </a:prstGeom>
          <a:solidFill>
            <a:srgbClr val="E6EFF6"/>
          </a:solidFill>
          <a:ln cap="flat" cmpd="sng" w="9525">
            <a:solidFill>
              <a:srgbClr val="CDD4D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91425" spcFirstLastPara="1" rIns="91425" wrap="square" tIns="0">
            <a:noAutofit/>
          </a:bodyPr>
          <a:lstStyle/>
          <a:p>
            <a:pPr indent="0" lvl="0" marL="0" marR="0" rtl="0" algn="l">
              <a:spcBef>
                <a:spcPts val="0"/>
              </a:spcBef>
              <a:spcAft>
                <a:spcPts val="0"/>
              </a:spcAft>
              <a:buNone/>
            </a:pPr>
            <a:r>
              <a:rPr b="1" i="0" lang="en-US" sz="1300" u="none" cap="none" strike="noStrike">
                <a:solidFill>
                  <a:srgbClr val="156082"/>
                </a:solidFill>
                <a:latin typeface="Calibri"/>
                <a:ea typeface="Calibri"/>
                <a:cs typeface="Calibri"/>
                <a:sym typeface="Calibri"/>
              </a:rPr>
              <a:t>+ Lipids</a:t>
            </a:r>
            <a:endParaRPr/>
          </a:p>
        </p:txBody>
      </p:sp>
      <p:sp>
        <p:nvSpPr>
          <p:cNvPr id="509" name="Google Shape;509;p43"/>
          <p:cNvSpPr/>
          <p:nvPr/>
        </p:nvSpPr>
        <p:spPr>
          <a:xfrm>
            <a:off x="7223760" y="3063240"/>
            <a:ext cx="868680" cy="457200"/>
          </a:xfrm>
          <a:prstGeom prst="rect">
            <a:avLst/>
          </a:prstGeom>
          <a:solidFill>
            <a:srgbClr val="E6EFF6"/>
          </a:solidFill>
          <a:ln cap="flat" cmpd="sng" w="9525">
            <a:solidFill>
              <a:srgbClr val="CDD4D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91425" spcFirstLastPara="1" rIns="91425" wrap="square" tIns="0">
            <a:noAutofit/>
          </a:bodyPr>
          <a:lstStyle/>
          <a:p>
            <a:pPr indent="0" lvl="0" marL="0" marR="0" rtl="0" algn="l">
              <a:spcBef>
                <a:spcPts val="0"/>
              </a:spcBef>
              <a:spcAft>
                <a:spcPts val="0"/>
              </a:spcAft>
              <a:buNone/>
            </a:pPr>
            <a:r>
              <a:rPr b="1" i="0" lang="en-US" sz="1300" u="none" cap="none" strike="noStrike">
                <a:solidFill>
                  <a:srgbClr val="156082"/>
                </a:solidFill>
                <a:latin typeface="Calibri"/>
                <a:ea typeface="Calibri"/>
                <a:cs typeface="Calibri"/>
                <a:sym typeface="Calibri"/>
              </a:rPr>
              <a:t>40</a:t>
            </a:r>
            <a:endParaRPr/>
          </a:p>
        </p:txBody>
      </p:sp>
      <p:sp>
        <p:nvSpPr>
          <p:cNvPr id="510" name="Google Shape;510;p43"/>
          <p:cNvSpPr/>
          <p:nvPr/>
        </p:nvSpPr>
        <p:spPr>
          <a:xfrm>
            <a:off x="8092440" y="3063240"/>
            <a:ext cx="868680" cy="457200"/>
          </a:xfrm>
          <a:prstGeom prst="rect">
            <a:avLst/>
          </a:prstGeom>
          <a:solidFill>
            <a:srgbClr val="E6EFF6"/>
          </a:solidFill>
          <a:ln cap="flat" cmpd="sng" w="9525">
            <a:solidFill>
              <a:srgbClr val="CDD4D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91425" spcFirstLastPara="1" rIns="91425" wrap="square" tIns="0">
            <a:noAutofit/>
          </a:bodyPr>
          <a:lstStyle/>
          <a:p>
            <a:pPr indent="0" lvl="0" marL="0" marR="0" rtl="0" algn="l">
              <a:spcBef>
                <a:spcPts val="0"/>
              </a:spcBef>
              <a:spcAft>
                <a:spcPts val="0"/>
              </a:spcAft>
              <a:buNone/>
            </a:pPr>
            <a:r>
              <a:rPr b="1" i="0" lang="en-US" sz="1300" u="none" cap="none" strike="noStrike">
                <a:solidFill>
                  <a:srgbClr val="156082"/>
                </a:solidFill>
                <a:latin typeface="Calibri"/>
                <a:ea typeface="Calibri"/>
                <a:cs typeface="Calibri"/>
                <a:sym typeface="Calibri"/>
              </a:rPr>
              <a:t>0.8</a:t>
            </a:r>
            <a:r>
              <a:rPr b="1" lang="en-US" sz="1300">
                <a:solidFill>
                  <a:srgbClr val="156082"/>
                </a:solidFill>
                <a:latin typeface="Calibri"/>
                <a:ea typeface="Calibri"/>
                <a:cs typeface="Calibri"/>
                <a:sym typeface="Calibri"/>
              </a:rPr>
              <a:t>21</a:t>
            </a:r>
            <a:endParaRPr/>
          </a:p>
        </p:txBody>
      </p:sp>
      <p:sp>
        <p:nvSpPr>
          <p:cNvPr id="511" name="Google Shape;511;p43"/>
          <p:cNvSpPr/>
          <p:nvPr/>
        </p:nvSpPr>
        <p:spPr>
          <a:xfrm>
            <a:off x="8961120" y="3063240"/>
            <a:ext cx="1005840" cy="457200"/>
          </a:xfrm>
          <a:prstGeom prst="rect">
            <a:avLst/>
          </a:prstGeom>
          <a:solidFill>
            <a:srgbClr val="E6EFF6"/>
          </a:solidFill>
          <a:ln cap="flat" cmpd="sng" w="9525">
            <a:solidFill>
              <a:srgbClr val="CDD4D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91425" spcFirstLastPara="1" rIns="91425" wrap="square" tIns="0">
            <a:noAutofit/>
          </a:bodyPr>
          <a:lstStyle/>
          <a:p>
            <a:pPr indent="0" lvl="0" marL="0" marR="0" rtl="0" algn="l">
              <a:spcBef>
                <a:spcPts val="0"/>
              </a:spcBef>
              <a:spcAft>
                <a:spcPts val="0"/>
              </a:spcAft>
              <a:buNone/>
            </a:pPr>
            <a:r>
              <a:rPr b="1" i="0" lang="en-US" sz="1300" u="none" cap="none" strike="noStrike">
                <a:solidFill>
                  <a:srgbClr val="156082"/>
                </a:solidFill>
                <a:latin typeface="Calibri"/>
                <a:ea typeface="Calibri"/>
                <a:cs typeface="Calibri"/>
                <a:sym typeface="Calibri"/>
              </a:rPr>
              <a:t>+0.00</a:t>
            </a:r>
            <a:r>
              <a:rPr b="1" lang="en-US" sz="1300">
                <a:solidFill>
                  <a:srgbClr val="156082"/>
                </a:solidFill>
                <a:latin typeface="Calibri"/>
                <a:ea typeface="Calibri"/>
                <a:cs typeface="Calibri"/>
                <a:sym typeface="Calibri"/>
              </a:rPr>
              <a:t>0</a:t>
            </a:r>
            <a:endParaRPr/>
          </a:p>
        </p:txBody>
      </p:sp>
      <p:sp>
        <p:nvSpPr>
          <p:cNvPr id="512" name="Google Shape;512;p43"/>
          <p:cNvSpPr txBox="1"/>
          <p:nvPr/>
        </p:nvSpPr>
        <p:spPr>
          <a:xfrm>
            <a:off x="5760720" y="3691075"/>
            <a:ext cx="4206300" cy="1692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1" lang="en-US" sz="1100" u="none" cap="none" strike="noStrike">
                <a:solidFill>
                  <a:srgbClr val="555555"/>
                </a:solidFill>
                <a:latin typeface="Calibri"/>
                <a:ea typeface="Calibri"/>
                <a:cs typeface="Calibri"/>
                <a:sym typeface="Calibri"/>
              </a:rPr>
              <a:t>Table 9. </a:t>
            </a:r>
            <a:r>
              <a:rPr i="1" lang="en-US" sz="1100">
                <a:solidFill>
                  <a:srgbClr val="555555"/>
                </a:solidFill>
                <a:latin typeface="Calibri"/>
                <a:ea typeface="Calibri"/>
                <a:cs typeface="Calibri"/>
                <a:sym typeface="Calibri"/>
              </a:rPr>
              <a:t>A</a:t>
            </a:r>
            <a:r>
              <a:rPr b="0" i="1" lang="en-US" sz="1100" u="none" cap="none" strike="noStrike">
                <a:solidFill>
                  <a:srgbClr val="555555"/>
                </a:solidFill>
                <a:latin typeface="Calibri"/>
                <a:ea typeface="Calibri"/>
                <a:cs typeface="Calibri"/>
                <a:sym typeface="Calibri"/>
              </a:rPr>
              <a:t>UC contribution of each tier; lab tests deliver the lion's share.</a:t>
            </a:r>
            <a:endParaRPr/>
          </a:p>
        </p:txBody>
      </p:sp>
      <p:sp>
        <p:nvSpPr>
          <p:cNvPr id="513" name="Google Shape;513;p43"/>
          <p:cNvSpPr/>
          <p:nvPr/>
        </p:nvSpPr>
        <p:spPr>
          <a:xfrm>
            <a:off x="5760725" y="4408703"/>
            <a:ext cx="4206300" cy="1880400"/>
          </a:xfrm>
          <a:prstGeom prst="roundRect">
            <a:avLst>
              <a:gd fmla="val 16667" name="adj"/>
            </a:avLst>
          </a:prstGeom>
          <a:solidFill>
            <a:srgbClr val="0E2841"/>
          </a:solidFill>
          <a:ln>
            <a:noFill/>
          </a:ln>
          <a:effectLst>
            <a:outerShdw blurRad="40000" rotWithShape="0" dir="5400000" dist="23000">
              <a:srgbClr val="000000">
                <a:alpha val="34901"/>
              </a:srgbClr>
            </a:outerShdw>
          </a:effectLst>
        </p:spPr>
        <p:txBody>
          <a:bodyPr anchorCtr="0" anchor="ctr" bIns="45700" lIns="228600" spcFirstLastPara="1" rIns="228600" wrap="square" tIns="182875">
            <a:noAutofit/>
          </a:bodyPr>
          <a:lstStyle/>
          <a:p>
            <a:pPr indent="0" lvl="0" marL="0" marR="0" rtl="0" algn="ctr">
              <a:spcBef>
                <a:spcPts val="0"/>
              </a:spcBef>
              <a:spcAft>
                <a:spcPts val="0"/>
              </a:spcAft>
              <a:buNone/>
            </a:pPr>
            <a:r>
              <a:rPr b="1" i="0" lang="en-US" sz="3400" u="none" cap="none" strike="noStrike">
                <a:solidFill>
                  <a:srgbClr val="FFFFFF"/>
                </a:solidFill>
                <a:latin typeface="Calibri"/>
                <a:ea typeface="Calibri"/>
                <a:cs typeface="Calibri"/>
                <a:sym typeface="Calibri"/>
              </a:rPr>
              <a:t>AUC 0.821</a:t>
            </a:r>
            <a:endParaRPr/>
          </a:p>
          <a:p>
            <a:pPr indent="0" lvl="0" marL="0" marR="0" rtl="0" algn="ctr">
              <a:spcBef>
                <a:spcPts val="0"/>
              </a:spcBef>
              <a:spcAft>
                <a:spcPts val="0"/>
              </a:spcAft>
              <a:buNone/>
            </a:pPr>
            <a:r>
              <a:rPr b="0" i="0" lang="en-US" sz="1300" u="none" cap="none" strike="noStrike">
                <a:solidFill>
                  <a:srgbClr val="4E9CC4"/>
                </a:solidFill>
                <a:latin typeface="Calibri"/>
                <a:ea typeface="Calibri"/>
                <a:cs typeface="Calibri"/>
                <a:sym typeface="Calibri"/>
              </a:rPr>
              <a:t>on the 130 k test patients lacking lipids</a:t>
            </a:r>
            <a:endParaRPr/>
          </a:p>
        </p:txBody>
      </p:sp>
      <p:sp>
        <p:nvSpPr>
          <p:cNvPr id="514" name="Google Shape;514;p43"/>
          <p:cNvSpPr txBox="1"/>
          <p:nvPr/>
        </p:nvSpPr>
        <p:spPr>
          <a:xfrm>
            <a:off x="411480" y="7479792"/>
            <a:ext cx="6400800" cy="256032"/>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00" u="none" cap="none" strike="noStrike">
                <a:solidFill>
                  <a:srgbClr val="555555"/>
                </a:solidFill>
                <a:latin typeface="Calibri"/>
                <a:ea typeface="Calibri"/>
                <a:cs typeface="Calibri"/>
                <a:sym typeface="Calibri"/>
              </a:rPr>
              <a:t>Team 3c  ·  CDS-492 Capstone  ·  Spring 2026</a:t>
            </a:r>
            <a:endParaRPr/>
          </a:p>
        </p:txBody>
      </p:sp>
      <p:sp>
        <p:nvSpPr>
          <p:cNvPr id="515" name="Google Shape;515;p43"/>
          <p:cNvSpPr txBox="1"/>
          <p:nvPr/>
        </p:nvSpPr>
        <p:spPr>
          <a:xfrm>
            <a:off x="8686800" y="7479792"/>
            <a:ext cx="1005840" cy="256032"/>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i="0" lang="en-US" sz="1000" u="none" cap="none" strike="noStrike">
                <a:solidFill>
                  <a:srgbClr val="555555"/>
                </a:solidFill>
                <a:latin typeface="Calibri"/>
                <a:ea typeface="Calibri"/>
                <a:cs typeface="Calibri"/>
                <a:sym typeface="Calibri"/>
              </a:rPr>
              <a:t>11 / 16</a:t>
            </a:r>
            <a:endParaRPr/>
          </a:p>
        </p:txBody>
      </p:sp>
      <p:pic>
        <p:nvPicPr>
          <p:cNvPr id="516" name="Google Shape;516;p43" title="roc_no_lipid_subgroup.png"/>
          <p:cNvPicPr preferRelativeResize="0"/>
          <p:nvPr/>
        </p:nvPicPr>
        <p:blipFill>
          <a:blip r:embed="rId3">
            <a:alphaModFix/>
          </a:blip>
          <a:stretch>
            <a:fillRect/>
          </a:stretch>
        </p:blipFill>
        <p:spPr>
          <a:xfrm>
            <a:off x="126050" y="1691650"/>
            <a:ext cx="5349227" cy="4572213"/>
          </a:xfrm>
          <a:prstGeom prst="rect">
            <a:avLst/>
          </a:prstGeom>
          <a:noFill/>
          <a:ln cap="flat" cmpd="sng" w="9525">
            <a:solidFill>
              <a:schemeClr val="dk1"/>
            </a:solidFill>
            <a:prstDash val="solid"/>
            <a:round/>
            <a:headEnd len="sm" w="sm" type="none"/>
            <a:tailEnd len="sm" w="sm" type="none"/>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0" name="Shape 520"/>
        <p:cNvGrpSpPr/>
        <p:nvPr/>
      </p:nvGrpSpPr>
      <p:grpSpPr>
        <a:xfrm>
          <a:off x="0" y="0"/>
          <a:ext cx="0" cy="0"/>
          <a:chOff x="0" y="0"/>
          <a:chExt cx="0" cy="0"/>
        </a:xfrm>
      </p:grpSpPr>
      <p:sp>
        <p:nvSpPr>
          <p:cNvPr id="521" name="Google Shape;521;p44"/>
          <p:cNvSpPr/>
          <p:nvPr/>
        </p:nvSpPr>
        <p:spPr>
          <a:xfrm>
            <a:off x="0" y="0"/>
            <a:ext cx="10058400" cy="1188720"/>
          </a:xfrm>
          <a:prstGeom prst="rect">
            <a:avLst/>
          </a:prstGeom>
          <a:solidFill>
            <a:srgbClr val="0E2841"/>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522" name="Google Shape;522;p44"/>
          <p:cNvSpPr txBox="1"/>
          <p:nvPr/>
        </p:nvSpPr>
        <p:spPr>
          <a:xfrm>
            <a:off x="502920" y="356922"/>
            <a:ext cx="9144000" cy="6156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4000">
                <a:solidFill>
                  <a:srgbClr val="FFFFFF"/>
                </a:solidFill>
                <a:latin typeface="Calibri"/>
                <a:ea typeface="Calibri"/>
                <a:cs typeface="Calibri"/>
                <a:sym typeface="Calibri"/>
              </a:rPr>
              <a:t>CatBoost: Confusion Matrix</a:t>
            </a:r>
            <a:endParaRPr sz="4000"/>
          </a:p>
        </p:txBody>
      </p:sp>
      <p:sp>
        <p:nvSpPr>
          <p:cNvPr id="523" name="Google Shape;523;p44"/>
          <p:cNvSpPr/>
          <p:nvPr/>
        </p:nvSpPr>
        <p:spPr>
          <a:xfrm>
            <a:off x="0" y="1188720"/>
            <a:ext cx="10058400" cy="45720"/>
          </a:xfrm>
          <a:prstGeom prst="rect">
            <a:avLst/>
          </a:prstGeom>
          <a:solidFill>
            <a:srgbClr val="156082"/>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524" name="Google Shape;524;p44"/>
          <p:cNvSpPr txBox="1"/>
          <p:nvPr/>
        </p:nvSpPr>
        <p:spPr>
          <a:xfrm>
            <a:off x="143265" y="6889198"/>
            <a:ext cx="5074800" cy="3387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1" lang="en-US" sz="1100" u="none" cap="none" strike="noStrike">
                <a:solidFill>
                  <a:srgbClr val="555555"/>
                </a:solidFill>
                <a:latin typeface="Calibri"/>
                <a:ea typeface="Calibri"/>
                <a:cs typeface="Calibri"/>
                <a:sym typeface="Calibri"/>
              </a:rPr>
              <a:t>Figure 7. Confusion matrix on the held-out test set (n = 198,830) at the operating threshold of 0.0659.</a:t>
            </a:r>
            <a:endParaRPr/>
          </a:p>
        </p:txBody>
      </p:sp>
      <p:sp>
        <p:nvSpPr>
          <p:cNvPr id="525" name="Google Shape;525;p44"/>
          <p:cNvSpPr/>
          <p:nvPr/>
        </p:nvSpPr>
        <p:spPr>
          <a:xfrm>
            <a:off x="5577840" y="1691640"/>
            <a:ext cx="1554480" cy="502920"/>
          </a:xfrm>
          <a:prstGeom prst="rect">
            <a:avLst/>
          </a:prstGeom>
          <a:solidFill>
            <a:srgbClr val="0E2841"/>
          </a:solidFill>
          <a:ln cap="flat" cmpd="sng" w="9525">
            <a:solidFill>
              <a:srgbClr val="0E2841"/>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91425" spcFirstLastPara="1" rIns="91425" wrap="square" tIns="0">
            <a:noAutofit/>
          </a:bodyPr>
          <a:lstStyle/>
          <a:p>
            <a:pPr indent="0" lvl="0" marL="0" marR="0" rtl="0" algn="l">
              <a:spcBef>
                <a:spcPts val="0"/>
              </a:spcBef>
              <a:spcAft>
                <a:spcPts val="0"/>
              </a:spcAft>
              <a:buNone/>
            </a:pPr>
            <a:r>
              <a:rPr b="1" i="0" lang="en-US" sz="1200" u="none" cap="none" strike="noStrike">
                <a:solidFill>
                  <a:srgbClr val="FFFFFF"/>
                </a:solidFill>
                <a:latin typeface="Calibri"/>
                <a:ea typeface="Calibri"/>
                <a:cs typeface="Calibri"/>
                <a:sym typeface="Calibri"/>
              </a:rPr>
              <a:t>Metric</a:t>
            </a:r>
            <a:endParaRPr/>
          </a:p>
        </p:txBody>
      </p:sp>
      <p:sp>
        <p:nvSpPr>
          <p:cNvPr id="526" name="Google Shape;526;p44"/>
          <p:cNvSpPr/>
          <p:nvPr/>
        </p:nvSpPr>
        <p:spPr>
          <a:xfrm>
            <a:off x="7132320" y="1691640"/>
            <a:ext cx="914400" cy="502920"/>
          </a:xfrm>
          <a:prstGeom prst="rect">
            <a:avLst/>
          </a:prstGeom>
          <a:solidFill>
            <a:srgbClr val="0E2841"/>
          </a:solidFill>
          <a:ln cap="flat" cmpd="sng" w="9525">
            <a:solidFill>
              <a:srgbClr val="0E2841"/>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91425" spcFirstLastPara="1" rIns="91425" wrap="square" tIns="0">
            <a:noAutofit/>
          </a:bodyPr>
          <a:lstStyle/>
          <a:p>
            <a:pPr indent="0" lvl="0" marL="0" marR="0" rtl="0" algn="l">
              <a:spcBef>
                <a:spcPts val="0"/>
              </a:spcBef>
              <a:spcAft>
                <a:spcPts val="0"/>
              </a:spcAft>
              <a:buNone/>
            </a:pPr>
            <a:r>
              <a:rPr b="1" i="0" lang="en-US" sz="1200" u="none" cap="none" strike="noStrike">
                <a:solidFill>
                  <a:srgbClr val="FFFFFF"/>
                </a:solidFill>
                <a:latin typeface="Calibri"/>
                <a:ea typeface="Calibri"/>
                <a:cs typeface="Calibri"/>
                <a:sym typeface="Calibri"/>
              </a:rPr>
              <a:t>Value</a:t>
            </a:r>
            <a:endParaRPr/>
          </a:p>
        </p:txBody>
      </p:sp>
      <p:sp>
        <p:nvSpPr>
          <p:cNvPr id="527" name="Google Shape;527;p44"/>
          <p:cNvSpPr/>
          <p:nvPr/>
        </p:nvSpPr>
        <p:spPr>
          <a:xfrm>
            <a:off x="8046720" y="1691640"/>
            <a:ext cx="1828800" cy="502920"/>
          </a:xfrm>
          <a:prstGeom prst="rect">
            <a:avLst/>
          </a:prstGeom>
          <a:solidFill>
            <a:srgbClr val="0E2841"/>
          </a:solidFill>
          <a:ln cap="flat" cmpd="sng" w="9525">
            <a:solidFill>
              <a:srgbClr val="0E2841"/>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91425" spcFirstLastPara="1" rIns="91425" wrap="square" tIns="0">
            <a:noAutofit/>
          </a:bodyPr>
          <a:lstStyle/>
          <a:p>
            <a:pPr indent="0" lvl="0" marL="0" marR="0" rtl="0" algn="l">
              <a:spcBef>
                <a:spcPts val="0"/>
              </a:spcBef>
              <a:spcAft>
                <a:spcPts val="0"/>
              </a:spcAft>
              <a:buNone/>
            </a:pPr>
            <a:r>
              <a:rPr b="1" i="0" lang="en-US" sz="1200" u="none" cap="none" strike="noStrike">
                <a:solidFill>
                  <a:srgbClr val="FFFFFF"/>
                </a:solidFill>
                <a:latin typeface="Calibri"/>
                <a:ea typeface="Calibri"/>
                <a:cs typeface="Calibri"/>
                <a:sym typeface="Calibri"/>
              </a:rPr>
              <a:t>Interpretation</a:t>
            </a:r>
            <a:endParaRPr/>
          </a:p>
        </p:txBody>
      </p:sp>
      <p:sp>
        <p:nvSpPr>
          <p:cNvPr id="528" name="Google Shape;528;p44"/>
          <p:cNvSpPr/>
          <p:nvPr/>
        </p:nvSpPr>
        <p:spPr>
          <a:xfrm>
            <a:off x="5577840" y="2194560"/>
            <a:ext cx="1554480" cy="502920"/>
          </a:xfrm>
          <a:prstGeom prst="rect">
            <a:avLst/>
          </a:prstGeom>
          <a:solidFill>
            <a:srgbClr val="FFFFFF"/>
          </a:solidFill>
          <a:ln cap="flat" cmpd="sng" w="9525">
            <a:solidFill>
              <a:srgbClr val="CDD4D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91425" spcFirstLastPara="1" rIns="91425" wrap="square" tIns="0">
            <a:noAutofit/>
          </a:bodyPr>
          <a:lstStyle/>
          <a:p>
            <a:pPr indent="0" lvl="0" marL="0" marR="0" rtl="0" algn="l">
              <a:spcBef>
                <a:spcPts val="0"/>
              </a:spcBef>
              <a:spcAft>
                <a:spcPts val="0"/>
              </a:spcAft>
              <a:buNone/>
            </a:pPr>
            <a:r>
              <a:rPr b="1" i="0" lang="en-US" sz="1300" u="none" cap="none" strike="noStrike">
                <a:solidFill>
                  <a:srgbClr val="101010"/>
                </a:solidFill>
                <a:latin typeface="Calibri"/>
                <a:ea typeface="Calibri"/>
                <a:cs typeface="Calibri"/>
                <a:sym typeface="Calibri"/>
              </a:rPr>
              <a:t>Sensitivity</a:t>
            </a:r>
            <a:endParaRPr/>
          </a:p>
        </p:txBody>
      </p:sp>
      <p:sp>
        <p:nvSpPr>
          <p:cNvPr id="529" name="Google Shape;529;p44"/>
          <p:cNvSpPr/>
          <p:nvPr/>
        </p:nvSpPr>
        <p:spPr>
          <a:xfrm>
            <a:off x="7132320" y="2194560"/>
            <a:ext cx="914400" cy="502920"/>
          </a:xfrm>
          <a:prstGeom prst="rect">
            <a:avLst/>
          </a:prstGeom>
          <a:solidFill>
            <a:srgbClr val="FFFFFF"/>
          </a:solidFill>
          <a:ln cap="flat" cmpd="sng" w="9525">
            <a:solidFill>
              <a:srgbClr val="CDD4D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91425" spcFirstLastPara="1" rIns="91425" wrap="square" tIns="0">
            <a:noAutofit/>
          </a:bodyPr>
          <a:lstStyle/>
          <a:p>
            <a:pPr indent="0" lvl="0" marL="0" marR="0" rtl="0" algn="l">
              <a:spcBef>
                <a:spcPts val="0"/>
              </a:spcBef>
              <a:spcAft>
                <a:spcPts val="0"/>
              </a:spcAft>
              <a:buNone/>
            </a:pPr>
            <a:r>
              <a:rPr b="0" i="0" lang="en-US" sz="1300" u="none" cap="none" strike="noStrike">
                <a:solidFill>
                  <a:srgbClr val="101010"/>
                </a:solidFill>
                <a:latin typeface="Calibri"/>
                <a:ea typeface="Calibri"/>
                <a:cs typeface="Calibri"/>
                <a:sym typeface="Calibri"/>
              </a:rPr>
              <a:t>85.2 %</a:t>
            </a:r>
            <a:endParaRPr/>
          </a:p>
        </p:txBody>
      </p:sp>
      <p:sp>
        <p:nvSpPr>
          <p:cNvPr id="530" name="Google Shape;530;p44"/>
          <p:cNvSpPr/>
          <p:nvPr/>
        </p:nvSpPr>
        <p:spPr>
          <a:xfrm>
            <a:off x="8046720" y="2194560"/>
            <a:ext cx="1828800" cy="502920"/>
          </a:xfrm>
          <a:prstGeom prst="rect">
            <a:avLst/>
          </a:prstGeom>
          <a:solidFill>
            <a:srgbClr val="FFFFFF"/>
          </a:solidFill>
          <a:ln cap="flat" cmpd="sng" w="9525">
            <a:solidFill>
              <a:srgbClr val="CDD4D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91425" spcFirstLastPara="1" rIns="91425" wrap="square" tIns="0">
            <a:noAutofit/>
          </a:bodyPr>
          <a:lstStyle/>
          <a:p>
            <a:pPr indent="0" lvl="0" marL="0" marR="0" rtl="0" algn="l">
              <a:spcBef>
                <a:spcPts val="0"/>
              </a:spcBef>
              <a:spcAft>
                <a:spcPts val="0"/>
              </a:spcAft>
              <a:buNone/>
            </a:pPr>
            <a:r>
              <a:rPr b="0" i="0" lang="en-US" sz="1300" u="none" cap="none" strike="noStrike">
                <a:solidFill>
                  <a:srgbClr val="101010"/>
                </a:solidFill>
                <a:latin typeface="Calibri"/>
                <a:ea typeface="Calibri"/>
                <a:cs typeface="Calibri"/>
                <a:sym typeface="Calibri"/>
              </a:rPr>
              <a:t>Catches diabetic patients</a:t>
            </a:r>
            <a:endParaRPr/>
          </a:p>
        </p:txBody>
      </p:sp>
      <p:sp>
        <p:nvSpPr>
          <p:cNvPr id="531" name="Google Shape;531;p44"/>
          <p:cNvSpPr/>
          <p:nvPr/>
        </p:nvSpPr>
        <p:spPr>
          <a:xfrm>
            <a:off x="5577840" y="2697480"/>
            <a:ext cx="1554480" cy="502920"/>
          </a:xfrm>
          <a:prstGeom prst="rect">
            <a:avLst/>
          </a:prstGeom>
          <a:solidFill>
            <a:srgbClr val="F4F7FA"/>
          </a:solidFill>
          <a:ln cap="flat" cmpd="sng" w="9525">
            <a:solidFill>
              <a:srgbClr val="CDD4D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91425" spcFirstLastPara="1" rIns="91425" wrap="square" tIns="0">
            <a:noAutofit/>
          </a:bodyPr>
          <a:lstStyle/>
          <a:p>
            <a:pPr indent="0" lvl="0" marL="0" marR="0" rtl="0" algn="l">
              <a:spcBef>
                <a:spcPts val="0"/>
              </a:spcBef>
              <a:spcAft>
                <a:spcPts val="0"/>
              </a:spcAft>
              <a:buNone/>
            </a:pPr>
            <a:r>
              <a:rPr b="1" i="0" lang="en-US" sz="1300" u="none" cap="none" strike="noStrike">
                <a:solidFill>
                  <a:srgbClr val="101010"/>
                </a:solidFill>
                <a:latin typeface="Calibri"/>
                <a:ea typeface="Calibri"/>
                <a:cs typeface="Calibri"/>
                <a:sym typeface="Calibri"/>
              </a:rPr>
              <a:t>NPV</a:t>
            </a:r>
            <a:endParaRPr/>
          </a:p>
        </p:txBody>
      </p:sp>
      <p:sp>
        <p:nvSpPr>
          <p:cNvPr id="532" name="Google Shape;532;p44"/>
          <p:cNvSpPr/>
          <p:nvPr/>
        </p:nvSpPr>
        <p:spPr>
          <a:xfrm>
            <a:off x="7132320" y="2697480"/>
            <a:ext cx="914400" cy="502920"/>
          </a:xfrm>
          <a:prstGeom prst="rect">
            <a:avLst/>
          </a:prstGeom>
          <a:solidFill>
            <a:srgbClr val="F4F7FA"/>
          </a:solidFill>
          <a:ln cap="flat" cmpd="sng" w="9525">
            <a:solidFill>
              <a:srgbClr val="CDD4D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91425" spcFirstLastPara="1" rIns="91425" wrap="square" tIns="0">
            <a:noAutofit/>
          </a:bodyPr>
          <a:lstStyle/>
          <a:p>
            <a:pPr indent="0" lvl="0" marL="0" marR="0" rtl="0" algn="l">
              <a:spcBef>
                <a:spcPts val="0"/>
              </a:spcBef>
              <a:spcAft>
                <a:spcPts val="0"/>
              </a:spcAft>
              <a:buNone/>
            </a:pPr>
            <a:r>
              <a:rPr b="0" i="0" lang="en-US" sz="1300" u="none" cap="none" strike="noStrike">
                <a:solidFill>
                  <a:srgbClr val="101010"/>
                </a:solidFill>
                <a:latin typeface="Calibri"/>
                <a:ea typeface="Calibri"/>
                <a:cs typeface="Calibri"/>
                <a:sym typeface="Calibri"/>
              </a:rPr>
              <a:t>98.0 %</a:t>
            </a:r>
            <a:endParaRPr/>
          </a:p>
        </p:txBody>
      </p:sp>
      <p:sp>
        <p:nvSpPr>
          <p:cNvPr id="533" name="Google Shape;533;p44"/>
          <p:cNvSpPr/>
          <p:nvPr/>
        </p:nvSpPr>
        <p:spPr>
          <a:xfrm>
            <a:off x="8046720" y="2697480"/>
            <a:ext cx="1828800" cy="502920"/>
          </a:xfrm>
          <a:prstGeom prst="rect">
            <a:avLst/>
          </a:prstGeom>
          <a:solidFill>
            <a:srgbClr val="F4F7FA"/>
          </a:solidFill>
          <a:ln cap="flat" cmpd="sng" w="9525">
            <a:solidFill>
              <a:srgbClr val="CDD4D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91425" spcFirstLastPara="1" rIns="91425" wrap="square" tIns="0">
            <a:noAutofit/>
          </a:bodyPr>
          <a:lstStyle/>
          <a:p>
            <a:pPr indent="0" lvl="0" marL="0" marR="0" rtl="0" algn="l">
              <a:spcBef>
                <a:spcPts val="0"/>
              </a:spcBef>
              <a:spcAft>
                <a:spcPts val="0"/>
              </a:spcAft>
              <a:buNone/>
            </a:pPr>
            <a:r>
              <a:rPr b="0" i="0" lang="en-US" sz="1300" u="none" cap="none" strike="noStrike">
                <a:solidFill>
                  <a:srgbClr val="101010"/>
                </a:solidFill>
                <a:latin typeface="Calibri"/>
                <a:ea typeface="Calibri"/>
                <a:cs typeface="Calibri"/>
                <a:sym typeface="Calibri"/>
              </a:rPr>
              <a:t>Negative ⇒ rules out T2D</a:t>
            </a:r>
            <a:endParaRPr/>
          </a:p>
        </p:txBody>
      </p:sp>
      <p:sp>
        <p:nvSpPr>
          <p:cNvPr id="534" name="Google Shape;534;p44"/>
          <p:cNvSpPr/>
          <p:nvPr/>
        </p:nvSpPr>
        <p:spPr>
          <a:xfrm>
            <a:off x="5577840" y="3200400"/>
            <a:ext cx="1554480" cy="502920"/>
          </a:xfrm>
          <a:prstGeom prst="rect">
            <a:avLst/>
          </a:prstGeom>
          <a:solidFill>
            <a:srgbClr val="FFFFFF"/>
          </a:solidFill>
          <a:ln cap="flat" cmpd="sng" w="9525">
            <a:solidFill>
              <a:srgbClr val="CDD4D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91425" spcFirstLastPara="1" rIns="91425" wrap="square" tIns="0">
            <a:noAutofit/>
          </a:bodyPr>
          <a:lstStyle/>
          <a:p>
            <a:pPr indent="0" lvl="0" marL="0" marR="0" rtl="0" algn="l">
              <a:spcBef>
                <a:spcPts val="0"/>
              </a:spcBef>
              <a:spcAft>
                <a:spcPts val="0"/>
              </a:spcAft>
              <a:buNone/>
            </a:pPr>
            <a:r>
              <a:rPr b="1" i="0" lang="en-US" sz="1300" u="none" cap="none" strike="noStrike">
                <a:solidFill>
                  <a:srgbClr val="101010"/>
                </a:solidFill>
                <a:latin typeface="Calibri"/>
                <a:ea typeface="Calibri"/>
                <a:cs typeface="Calibri"/>
                <a:sym typeface="Calibri"/>
              </a:rPr>
              <a:t>Specificity</a:t>
            </a:r>
            <a:endParaRPr/>
          </a:p>
        </p:txBody>
      </p:sp>
      <p:sp>
        <p:nvSpPr>
          <p:cNvPr id="535" name="Google Shape;535;p44"/>
          <p:cNvSpPr/>
          <p:nvPr/>
        </p:nvSpPr>
        <p:spPr>
          <a:xfrm>
            <a:off x="7132320" y="3200400"/>
            <a:ext cx="914400" cy="502920"/>
          </a:xfrm>
          <a:prstGeom prst="rect">
            <a:avLst/>
          </a:prstGeom>
          <a:solidFill>
            <a:srgbClr val="FFFFFF"/>
          </a:solidFill>
          <a:ln cap="flat" cmpd="sng" w="9525">
            <a:solidFill>
              <a:srgbClr val="CDD4D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91425" spcFirstLastPara="1" rIns="91425" wrap="square" tIns="0">
            <a:noAutofit/>
          </a:bodyPr>
          <a:lstStyle/>
          <a:p>
            <a:pPr indent="0" lvl="0" marL="0" marR="0" rtl="0" algn="l">
              <a:spcBef>
                <a:spcPts val="0"/>
              </a:spcBef>
              <a:spcAft>
                <a:spcPts val="0"/>
              </a:spcAft>
              <a:buNone/>
            </a:pPr>
            <a:r>
              <a:rPr b="0" i="0" lang="en-US" sz="1300" u="none" cap="none" strike="noStrike">
                <a:solidFill>
                  <a:srgbClr val="101010"/>
                </a:solidFill>
                <a:latin typeface="Calibri"/>
                <a:ea typeface="Calibri"/>
                <a:cs typeface="Calibri"/>
                <a:sym typeface="Calibri"/>
              </a:rPr>
              <a:t>62.5 %</a:t>
            </a:r>
            <a:endParaRPr/>
          </a:p>
        </p:txBody>
      </p:sp>
      <p:sp>
        <p:nvSpPr>
          <p:cNvPr id="536" name="Google Shape;536;p44"/>
          <p:cNvSpPr/>
          <p:nvPr/>
        </p:nvSpPr>
        <p:spPr>
          <a:xfrm>
            <a:off x="8046720" y="3200400"/>
            <a:ext cx="1828800" cy="502920"/>
          </a:xfrm>
          <a:prstGeom prst="rect">
            <a:avLst/>
          </a:prstGeom>
          <a:solidFill>
            <a:srgbClr val="FFFFFF"/>
          </a:solidFill>
          <a:ln cap="flat" cmpd="sng" w="9525">
            <a:solidFill>
              <a:srgbClr val="CDD4D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91425" spcFirstLastPara="1" rIns="91425" wrap="square" tIns="0">
            <a:noAutofit/>
          </a:bodyPr>
          <a:lstStyle/>
          <a:p>
            <a:pPr indent="0" lvl="0" marL="0" marR="0" rtl="0" algn="l">
              <a:spcBef>
                <a:spcPts val="0"/>
              </a:spcBef>
              <a:spcAft>
                <a:spcPts val="0"/>
              </a:spcAft>
              <a:buNone/>
            </a:pPr>
            <a:r>
              <a:rPr b="0" i="0" lang="en-US" sz="1300" u="none" cap="none" strike="noStrike">
                <a:solidFill>
                  <a:srgbClr val="101010"/>
                </a:solidFill>
                <a:latin typeface="Calibri"/>
                <a:ea typeface="Calibri"/>
                <a:cs typeface="Calibri"/>
                <a:sym typeface="Calibri"/>
              </a:rPr>
              <a:t>Cleared truly-negative cases</a:t>
            </a:r>
            <a:endParaRPr/>
          </a:p>
        </p:txBody>
      </p:sp>
      <p:sp>
        <p:nvSpPr>
          <p:cNvPr id="537" name="Google Shape;537;p44"/>
          <p:cNvSpPr/>
          <p:nvPr/>
        </p:nvSpPr>
        <p:spPr>
          <a:xfrm>
            <a:off x="5577840" y="3703320"/>
            <a:ext cx="1554480" cy="502920"/>
          </a:xfrm>
          <a:prstGeom prst="rect">
            <a:avLst/>
          </a:prstGeom>
          <a:solidFill>
            <a:srgbClr val="F4F7FA"/>
          </a:solidFill>
          <a:ln cap="flat" cmpd="sng" w="9525">
            <a:solidFill>
              <a:srgbClr val="CDD4D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91425" spcFirstLastPara="1" rIns="91425" wrap="square" tIns="0">
            <a:noAutofit/>
          </a:bodyPr>
          <a:lstStyle/>
          <a:p>
            <a:pPr indent="0" lvl="0" marL="0" marR="0" rtl="0" algn="l">
              <a:spcBef>
                <a:spcPts val="0"/>
              </a:spcBef>
              <a:spcAft>
                <a:spcPts val="0"/>
              </a:spcAft>
              <a:buNone/>
            </a:pPr>
            <a:r>
              <a:rPr b="1" i="0" lang="en-US" sz="1300" u="none" cap="none" strike="noStrike">
                <a:solidFill>
                  <a:srgbClr val="101010"/>
                </a:solidFill>
                <a:latin typeface="Calibri"/>
                <a:ea typeface="Calibri"/>
                <a:cs typeface="Calibri"/>
                <a:sym typeface="Calibri"/>
              </a:rPr>
              <a:t>PPV</a:t>
            </a:r>
            <a:endParaRPr/>
          </a:p>
        </p:txBody>
      </p:sp>
      <p:sp>
        <p:nvSpPr>
          <p:cNvPr id="538" name="Google Shape;538;p44"/>
          <p:cNvSpPr/>
          <p:nvPr/>
        </p:nvSpPr>
        <p:spPr>
          <a:xfrm>
            <a:off x="7132320" y="3703320"/>
            <a:ext cx="914400" cy="502920"/>
          </a:xfrm>
          <a:prstGeom prst="rect">
            <a:avLst/>
          </a:prstGeom>
          <a:solidFill>
            <a:srgbClr val="F4F7FA"/>
          </a:solidFill>
          <a:ln cap="flat" cmpd="sng" w="9525">
            <a:solidFill>
              <a:srgbClr val="CDD4D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91425" spcFirstLastPara="1" rIns="91425" wrap="square" tIns="0">
            <a:noAutofit/>
          </a:bodyPr>
          <a:lstStyle/>
          <a:p>
            <a:pPr indent="0" lvl="0" marL="0" marR="0" rtl="0" algn="l">
              <a:spcBef>
                <a:spcPts val="0"/>
              </a:spcBef>
              <a:spcAft>
                <a:spcPts val="0"/>
              </a:spcAft>
              <a:buNone/>
            </a:pPr>
            <a:r>
              <a:rPr b="0" i="0" lang="en-US" sz="1300" u="none" cap="none" strike="noStrike">
                <a:solidFill>
                  <a:srgbClr val="101010"/>
                </a:solidFill>
                <a:latin typeface="Calibri"/>
                <a:ea typeface="Calibri"/>
                <a:cs typeface="Calibri"/>
                <a:sym typeface="Calibri"/>
              </a:rPr>
              <a:t>16.3 %</a:t>
            </a:r>
            <a:endParaRPr/>
          </a:p>
        </p:txBody>
      </p:sp>
      <p:sp>
        <p:nvSpPr>
          <p:cNvPr id="539" name="Google Shape;539;p44"/>
          <p:cNvSpPr/>
          <p:nvPr/>
        </p:nvSpPr>
        <p:spPr>
          <a:xfrm>
            <a:off x="8046720" y="3703320"/>
            <a:ext cx="1828800" cy="502920"/>
          </a:xfrm>
          <a:prstGeom prst="rect">
            <a:avLst/>
          </a:prstGeom>
          <a:solidFill>
            <a:srgbClr val="F4F7FA"/>
          </a:solidFill>
          <a:ln cap="flat" cmpd="sng" w="9525">
            <a:solidFill>
              <a:srgbClr val="CDD4D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91425" spcFirstLastPara="1" rIns="91425" wrap="square" tIns="0">
            <a:noAutofit/>
          </a:bodyPr>
          <a:lstStyle/>
          <a:p>
            <a:pPr indent="0" lvl="0" marL="0" marR="0" rtl="0" algn="l">
              <a:spcBef>
                <a:spcPts val="0"/>
              </a:spcBef>
              <a:spcAft>
                <a:spcPts val="0"/>
              </a:spcAft>
              <a:buNone/>
            </a:pPr>
            <a:r>
              <a:rPr b="0" i="0" lang="en-US" sz="1300" u="none" cap="none" strike="noStrike">
                <a:solidFill>
                  <a:srgbClr val="101010"/>
                </a:solidFill>
                <a:latin typeface="Calibri"/>
                <a:ea typeface="Calibri"/>
                <a:cs typeface="Calibri"/>
                <a:sym typeface="Calibri"/>
              </a:rPr>
              <a:t>Flagged ⇒ confirmatory test</a:t>
            </a:r>
            <a:endParaRPr/>
          </a:p>
        </p:txBody>
      </p:sp>
      <p:sp>
        <p:nvSpPr>
          <p:cNvPr id="540" name="Google Shape;540;p44"/>
          <p:cNvSpPr txBox="1"/>
          <p:nvPr/>
        </p:nvSpPr>
        <p:spPr>
          <a:xfrm>
            <a:off x="5577840" y="4372381"/>
            <a:ext cx="4297800" cy="3387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1" lang="en-US" sz="1100" u="none" cap="none" strike="noStrike">
                <a:solidFill>
                  <a:srgbClr val="555555"/>
                </a:solidFill>
                <a:latin typeface="Calibri"/>
                <a:ea typeface="Calibri"/>
                <a:cs typeface="Calibri"/>
                <a:sym typeface="Calibri"/>
              </a:rPr>
              <a:t>Table 10. Recall-targeted operating point: a negative screen is trustworthy; a positive screen prompts a follow-up FPG test.</a:t>
            </a:r>
            <a:endParaRPr/>
          </a:p>
        </p:txBody>
      </p:sp>
      <p:sp>
        <p:nvSpPr>
          <p:cNvPr id="541" name="Google Shape;541;p44"/>
          <p:cNvSpPr txBox="1"/>
          <p:nvPr/>
        </p:nvSpPr>
        <p:spPr>
          <a:xfrm>
            <a:off x="411480" y="7479792"/>
            <a:ext cx="6400800" cy="256032"/>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00" u="none" cap="none" strike="noStrike">
                <a:solidFill>
                  <a:srgbClr val="555555"/>
                </a:solidFill>
                <a:latin typeface="Calibri"/>
                <a:ea typeface="Calibri"/>
                <a:cs typeface="Calibri"/>
                <a:sym typeface="Calibri"/>
              </a:rPr>
              <a:t>Team 3c  ·  CDS-492 Capstone  ·  Spring 2026</a:t>
            </a:r>
            <a:endParaRPr/>
          </a:p>
        </p:txBody>
      </p:sp>
      <p:sp>
        <p:nvSpPr>
          <p:cNvPr id="542" name="Google Shape;542;p44"/>
          <p:cNvSpPr txBox="1"/>
          <p:nvPr/>
        </p:nvSpPr>
        <p:spPr>
          <a:xfrm>
            <a:off x="8686800" y="7479792"/>
            <a:ext cx="1005840" cy="256032"/>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i="0" lang="en-US" sz="1000" u="none" cap="none" strike="noStrike">
                <a:solidFill>
                  <a:srgbClr val="555555"/>
                </a:solidFill>
                <a:latin typeface="Calibri"/>
                <a:ea typeface="Calibri"/>
                <a:cs typeface="Calibri"/>
                <a:sym typeface="Calibri"/>
              </a:rPr>
              <a:t>12 / 16</a:t>
            </a:r>
            <a:endParaRPr/>
          </a:p>
        </p:txBody>
      </p:sp>
      <p:pic>
        <p:nvPicPr>
          <p:cNvPr id="543" name="Google Shape;543;p44" title="catboost_confusion_matrix.png"/>
          <p:cNvPicPr preferRelativeResize="0"/>
          <p:nvPr/>
        </p:nvPicPr>
        <p:blipFill rotWithShape="1">
          <a:blip r:embed="rId3">
            <a:alphaModFix/>
          </a:blip>
          <a:srcRect b="3763" l="0" r="3800" t="0"/>
          <a:stretch/>
        </p:blipFill>
        <p:spPr>
          <a:xfrm>
            <a:off x="239700" y="1687725"/>
            <a:ext cx="4881951" cy="5093924"/>
          </a:xfrm>
          <a:prstGeom prst="rect">
            <a:avLst/>
          </a:prstGeom>
          <a:noFill/>
          <a:ln>
            <a:noFill/>
          </a:ln>
        </p:spPr>
      </p:pic>
      <p:sp>
        <p:nvSpPr>
          <p:cNvPr id="544" name="Google Shape;544;p44"/>
          <p:cNvSpPr/>
          <p:nvPr/>
        </p:nvSpPr>
        <p:spPr>
          <a:xfrm>
            <a:off x="5577840" y="5044417"/>
            <a:ext cx="4297800" cy="1371600"/>
          </a:xfrm>
          <a:prstGeom prst="roundRect">
            <a:avLst>
              <a:gd fmla="val 16667" name="adj"/>
            </a:avLst>
          </a:prstGeom>
          <a:solidFill>
            <a:srgbClr val="0E2841"/>
          </a:solidFill>
          <a:ln>
            <a:noFill/>
          </a:ln>
          <a:effectLst>
            <a:outerShdw blurRad="40000" rotWithShape="0" dir="5400000" dist="23000">
              <a:srgbClr val="000000">
                <a:alpha val="34901"/>
              </a:srgbClr>
            </a:outerShdw>
          </a:effectLst>
        </p:spPr>
        <p:txBody>
          <a:bodyPr anchorCtr="0" anchor="ctr" bIns="137150" lIns="228600" spcFirstLastPara="1" rIns="228600" wrap="square" tIns="137150">
            <a:noAutofit/>
          </a:bodyPr>
          <a:lstStyle/>
          <a:p>
            <a:pPr indent="0" lvl="0" marL="0" marR="0" rtl="0" algn="ctr">
              <a:spcBef>
                <a:spcPts val="0"/>
              </a:spcBef>
              <a:spcAft>
                <a:spcPts val="0"/>
              </a:spcAft>
              <a:buNone/>
            </a:pPr>
            <a:r>
              <a:rPr b="1" lang="en-US" sz="2200">
                <a:solidFill>
                  <a:srgbClr val="FFFFFF"/>
                </a:solidFill>
                <a:latin typeface="Calibri"/>
                <a:ea typeface="Calibri"/>
                <a:cs typeface="Calibri"/>
                <a:sym typeface="Calibri"/>
              </a:rPr>
              <a:t>Cost of a mistake:</a:t>
            </a:r>
            <a:endParaRPr b="1" sz="2200">
              <a:solidFill>
                <a:srgbClr val="FFFFFF"/>
              </a:solidFill>
              <a:latin typeface="Calibri"/>
              <a:ea typeface="Calibri"/>
              <a:cs typeface="Calibri"/>
              <a:sym typeface="Calibri"/>
            </a:endParaRPr>
          </a:p>
          <a:p>
            <a:pPr indent="0" lvl="0" marL="0" marR="0" rtl="0" algn="ctr">
              <a:spcBef>
                <a:spcPts val="0"/>
              </a:spcBef>
              <a:spcAft>
                <a:spcPts val="0"/>
              </a:spcAft>
              <a:buNone/>
            </a:pPr>
            <a:r>
              <a:t/>
            </a:r>
            <a:endParaRPr b="1" sz="500">
              <a:solidFill>
                <a:srgbClr val="FFFFFF"/>
              </a:solidFill>
              <a:latin typeface="Calibri"/>
              <a:ea typeface="Calibri"/>
              <a:cs typeface="Calibri"/>
              <a:sym typeface="Calibri"/>
            </a:endParaRPr>
          </a:p>
          <a:p>
            <a:pPr indent="-330200" lvl="0" marL="777240" marR="0" rtl="0" algn="l">
              <a:spcBef>
                <a:spcPts val="0"/>
              </a:spcBef>
              <a:spcAft>
                <a:spcPts val="0"/>
              </a:spcAft>
              <a:buClr>
                <a:srgbClr val="FFFFFF"/>
              </a:buClr>
              <a:buSzPts val="1600"/>
              <a:buFont typeface="Calibri"/>
              <a:buChar char="●"/>
            </a:pPr>
            <a:r>
              <a:rPr b="1" i="0" lang="en-US" sz="1600" u="none" cap="none" strike="noStrike">
                <a:solidFill>
                  <a:srgbClr val="FFFFFF"/>
                </a:solidFill>
                <a:latin typeface="Calibri"/>
                <a:ea typeface="Calibri"/>
                <a:cs typeface="Calibri"/>
                <a:sym typeface="Calibri"/>
              </a:rPr>
              <a:t>FP → one </a:t>
            </a:r>
            <a:r>
              <a:rPr b="1" lang="en-US" sz="1600">
                <a:solidFill>
                  <a:srgbClr val="FFFFFF"/>
                </a:solidFill>
                <a:latin typeface="Calibri"/>
                <a:ea typeface="Calibri"/>
                <a:cs typeface="Calibri"/>
                <a:sym typeface="Calibri"/>
              </a:rPr>
              <a:t>routine</a:t>
            </a:r>
            <a:r>
              <a:rPr b="1" i="0" lang="en-US" sz="1600" u="none" cap="none" strike="noStrike">
                <a:solidFill>
                  <a:srgbClr val="FFFFFF"/>
                </a:solidFill>
                <a:latin typeface="Calibri"/>
                <a:ea typeface="Calibri"/>
                <a:cs typeface="Calibri"/>
                <a:sym typeface="Calibri"/>
              </a:rPr>
              <a:t> blood test</a:t>
            </a:r>
            <a:endParaRPr b="1" sz="1600">
              <a:solidFill>
                <a:srgbClr val="FFFFFF"/>
              </a:solidFill>
              <a:latin typeface="Calibri"/>
              <a:ea typeface="Calibri"/>
              <a:cs typeface="Calibri"/>
              <a:sym typeface="Calibri"/>
            </a:endParaRPr>
          </a:p>
          <a:p>
            <a:pPr indent="-330200" lvl="0" marL="777240" marR="0" rtl="0" algn="l">
              <a:spcBef>
                <a:spcPts val="0"/>
              </a:spcBef>
              <a:spcAft>
                <a:spcPts val="0"/>
              </a:spcAft>
              <a:buClr>
                <a:srgbClr val="FFFFFF"/>
              </a:buClr>
              <a:buSzPts val="1600"/>
              <a:buFont typeface="Calibri"/>
              <a:buChar char="●"/>
            </a:pPr>
            <a:r>
              <a:rPr b="1" i="0" lang="en-US" sz="1600" u="none" cap="none" strike="noStrike">
                <a:solidFill>
                  <a:srgbClr val="FFFFFF"/>
                </a:solidFill>
                <a:latin typeface="Calibri"/>
                <a:ea typeface="Calibri"/>
                <a:cs typeface="Calibri"/>
                <a:sym typeface="Calibri"/>
              </a:rPr>
              <a:t>FN →</a:t>
            </a:r>
            <a:r>
              <a:rPr b="1" lang="en-US" sz="1600">
                <a:solidFill>
                  <a:srgbClr val="FFFFFF"/>
                </a:solidFill>
                <a:latin typeface="Calibri"/>
                <a:ea typeface="Calibri"/>
                <a:cs typeface="Calibri"/>
                <a:sym typeface="Calibri"/>
              </a:rPr>
              <a:t> </a:t>
            </a:r>
            <a:r>
              <a:rPr b="1" i="0" lang="en-US" sz="1600" u="none" cap="none" strike="noStrike">
                <a:solidFill>
                  <a:srgbClr val="FFFFFF"/>
                </a:solidFill>
                <a:latin typeface="Calibri"/>
                <a:ea typeface="Calibri"/>
                <a:cs typeface="Calibri"/>
                <a:sym typeface="Calibri"/>
              </a:rPr>
              <a:t>disease goes </a:t>
            </a:r>
            <a:r>
              <a:rPr b="1" lang="en-US" sz="1600">
                <a:solidFill>
                  <a:srgbClr val="FFFFFF"/>
                </a:solidFill>
                <a:latin typeface="Calibri"/>
                <a:ea typeface="Calibri"/>
                <a:cs typeface="Calibri"/>
                <a:sym typeface="Calibri"/>
              </a:rPr>
              <a:t>untreated</a:t>
            </a:r>
            <a:endParaRPr sz="16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8" name="Shape 548"/>
        <p:cNvGrpSpPr/>
        <p:nvPr/>
      </p:nvGrpSpPr>
      <p:grpSpPr>
        <a:xfrm>
          <a:off x="0" y="0"/>
          <a:ext cx="0" cy="0"/>
          <a:chOff x="0" y="0"/>
          <a:chExt cx="0" cy="0"/>
        </a:xfrm>
      </p:grpSpPr>
      <p:sp>
        <p:nvSpPr>
          <p:cNvPr id="549" name="Google Shape;549;p45"/>
          <p:cNvSpPr/>
          <p:nvPr/>
        </p:nvSpPr>
        <p:spPr>
          <a:xfrm>
            <a:off x="0" y="0"/>
            <a:ext cx="10058400" cy="1188720"/>
          </a:xfrm>
          <a:prstGeom prst="rect">
            <a:avLst/>
          </a:prstGeom>
          <a:solidFill>
            <a:srgbClr val="0E2841"/>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550" name="Google Shape;550;p45"/>
          <p:cNvSpPr txBox="1"/>
          <p:nvPr/>
        </p:nvSpPr>
        <p:spPr>
          <a:xfrm>
            <a:off x="411470" y="286555"/>
            <a:ext cx="9144000" cy="6156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4000">
                <a:solidFill>
                  <a:srgbClr val="FFFFFF"/>
                </a:solidFill>
                <a:latin typeface="Calibri"/>
                <a:ea typeface="Calibri"/>
                <a:cs typeface="Calibri"/>
                <a:sym typeface="Calibri"/>
              </a:rPr>
              <a:t>Shapley Value</a:t>
            </a:r>
            <a:endParaRPr sz="4000"/>
          </a:p>
        </p:txBody>
      </p:sp>
      <p:sp>
        <p:nvSpPr>
          <p:cNvPr id="551" name="Google Shape;551;p45"/>
          <p:cNvSpPr/>
          <p:nvPr/>
        </p:nvSpPr>
        <p:spPr>
          <a:xfrm>
            <a:off x="0" y="1188720"/>
            <a:ext cx="10058400" cy="45720"/>
          </a:xfrm>
          <a:prstGeom prst="rect">
            <a:avLst/>
          </a:prstGeom>
          <a:solidFill>
            <a:srgbClr val="156082"/>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descr="shap_importance.png" id="552" name="Google Shape;552;p45"/>
          <p:cNvPicPr preferRelativeResize="0"/>
          <p:nvPr/>
        </p:nvPicPr>
        <p:blipFill rotWithShape="1">
          <a:blip r:embed="rId3">
            <a:alphaModFix/>
          </a:blip>
          <a:srcRect b="0" l="0" r="0" t="0"/>
          <a:stretch/>
        </p:blipFill>
        <p:spPr>
          <a:xfrm>
            <a:off x="274320" y="1691640"/>
            <a:ext cx="5532120" cy="4402321"/>
          </a:xfrm>
          <a:prstGeom prst="rect">
            <a:avLst/>
          </a:prstGeom>
          <a:noFill/>
          <a:ln cap="flat" cmpd="sng" w="9525">
            <a:solidFill>
              <a:schemeClr val="dk1"/>
            </a:solidFill>
            <a:prstDash val="solid"/>
            <a:round/>
            <a:headEnd len="sm" w="sm" type="none"/>
            <a:tailEnd len="sm" w="sm" type="none"/>
          </a:ln>
        </p:spPr>
      </p:pic>
      <p:sp>
        <p:nvSpPr>
          <p:cNvPr id="553" name="Google Shape;553;p45"/>
          <p:cNvSpPr txBox="1"/>
          <p:nvPr/>
        </p:nvSpPr>
        <p:spPr>
          <a:xfrm>
            <a:off x="274320" y="6261777"/>
            <a:ext cx="5532000" cy="1692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1" lang="en-US" sz="1100" u="none" cap="none" strike="noStrike">
                <a:solidFill>
                  <a:srgbClr val="555555"/>
                </a:solidFill>
                <a:latin typeface="Calibri"/>
                <a:ea typeface="Calibri"/>
                <a:cs typeface="Calibri"/>
                <a:sym typeface="Calibri"/>
              </a:rPr>
              <a:t>Figure 8. Mean |SHAP| of top features, exact</a:t>
            </a:r>
            <a:r>
              <a:rPr b="0" i="1" lang="en-US" sz="1100" u="none" cap="none" strike="noStrike">
                <a:solidFill>
                  <a:srgbClr val="555555"/>
                </a:solidFill>
                <a:latin typeface="Calibri"/>
                <a:ea typeface="Calibri"/>
                <a:cs typeface="Calibri"/>
                <a:sym typeface="Calibri"/>
              </a:rPr>
              <a:t> </a:t>
            </a:r>
            <a:r>
              <a:rPr b="0" i="1" lang="en-US" sz="1100" u="none" cap="none" strike="noStrike">
                <a:solidFill>
                  <a:srgbClr val="555555"/>
                </a:solidFill>
                <a:latin typeface="Calibri"/>
                <a:ea typeface="Calibri"/>
                <a:cs typeface="Calibri"/>
                <a:sym typeface="Calibri"/>
              </a:rPr>
              <a:t>SHAP on a 5,000-patient test-set sample.</a:t>
            </a:r>
            <a:endParaRPr/>
          </a:p>
        </p:txBody>
      </p:sp>
      <p:sp>
        <p:nvSpPr>
          <p:cNvPr id="554" name="Google Shape;554;p45"/>
          <p:cNvSpPr/>
          <p:nvPr/>
        </p:nvSpPr>
        <p:spPr>
          <a:xfrm>
            <a:off x="5989320" y="1691640"/>
            <a:ext cx="502920" cy="329184"/>
          </a:xfrm>
          <a:prstGeom prst="rect">
            <a:avLst/>
          </a:prstGeom>
          <a:solidFill>
            <a:srgbClr val="0E2841"/>
          </a:solidFill>
          <a:ln cap="flat" cmpd="sng" w="9525">
            <a:solidFill>
              <a:srgbClr val="0E2841"/>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91425" spcFirstLastPara="1" rIns="91425" wrap="square" tIns="0">
            <a:noAutofit/>
          </a:bodyPr>
          <a:lstStyle/>
          <a:p>
            <a:pPr indent="0" lvl="0" marL="0" marR="0" rtl="0" algn="l">
              <a:spcBef>
                <a:spcPts val="0"/>
              </a:spcBef>
              <a:spcAft>
                <a:spcPts val="0"/>
              </a:spcAft>
              <a:buNone/>
            </a:pPr>
            <a:r>
              <a:rPr b="1" i="0" lang="en-US" sz="1200" u="none" cap="none" strike="noStrike">
                <a:solidFill>
                  <a:srgbClr val="FFFFFF"/>
                </a:solidFill>
                <a:latin typeface="Calibri"/>
                <a:ea typeface="Calibri"/>
                <a:cs typeface="Calibri"/>
                <a:sym typeface="Calibri"/>
              </a:rPr>
              <a:t>#</a:t>
            </a:r>
            <a:endParaRPr/>
          </a:p>
        </p:txBody>
      </p:sp>
      <p:sp>
        <p:nvSpPr>
          <p:cNvPr id="555" name="Google Shape;555;p45"/>
          <p:cNvSpPr/>
          <p:nvPr/>
        </p:nvSpPr>
        <p:spPr>
          <a:xfrm>
            <a:off x="6492240" y="1691640"/>
            <a:ext cx="2331720" cy="329184"/>
          </a:xfrm>
          <a:prstGeom prst="rect">
            <a:avLst/>
          </a:prstGeom>
          <a:solidFill>
            <a:srgbClr val="0E2841"/>
          </a:solidFill>
          <a:ln cap="flat" cmpd="sng" w="9525">
            <a:solidFill>
              <a:srgbClr val="0E2841"/>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91425" spcFirstLastPara="1" rIns="91425" wrap="square" tIns="0">
            <a:noAutofit/>
          </a:bodyPr>
          <a:lstStyle/>
          <a:p>
            <a:pPr indent="0" lvl="0" marL="0" marR="0" rtl="0" algn="l">
              <a:spcBef>
                <a:spcPts val="0"/>
              </a:spcBef>
              <a:spcAft>
                <a:spcPts val="0"/>
              </a:spcAft>
              <a:buNone/>
            </a:pPr>
            <a:r>
              <a:rPr b="1" i="0" lang="en-US" sz="1200" u="none" cap="none" strike="noStrike">
                <a:solidFill>
                  <a:srgbClr val="FFFFFF"/>
                </a:solidFill>
                <a:latin typeface="Calibri"/>
                <a:ea typeface="Calibri"/>
                <a:cs typeface="Calibri"/>
                <a:sym typeface="Calibri"/>
              </a:rPr>
              <a:t>Feature</a:t>
            </a:r>
            <a:endParaRPr/>
          </a:p>
        </p:txBody>
      </p:sp>
      <p:sp>
        <p:nvSpPr>
          <p:cNvPr id="556" name="Google Shape;556;p45"/>
          <p:cNvSpPr/>
          <p:nvPr/>
        </p:nvSpPr>
        <p:spPr>
          <a:xfrm>
            <a:off x="8823960" y="1691640"/>
            <a:ext cx="1188720" cy="329184"/>
          </a:xfrm>
          <a:prstGeom prst="rect">
            <a:avLst/>
          </a:prstGeom>
          <a:solidFill>
            <a:srgbClr val="0E2841"/>
          </a:solidFill>
          <a:ln cap="flat" cmpd="sng" w="9525">
            <a:solidFill>
              <a:srgbClr val="0E2841"/>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91425" spcFirstLastPara="1" rIns="91425" wrap="square" tIns="0">
            <a:noAutofit/>
          </a:bodyPr>
          <a:lstStyle/>
          <a:p>
            <a:pPr indent="0" lvl="0" marL="0" marR="0" rtl="0" algn="l">
              <a:spcBef>
                <a:spcPts val="0"/>
              </a:spcBef>
              <a:spcAft>
                <a:spcPts val="0"/>
              </a:spcAft>
              <a:buNone/>
            </a:pPr>
            <a:r>
              <a:rPr b="1" i="0" lang="en-US" sz="1200" u="none" cap="none" strike="noStrike">
                <a:solidFill>
                  <a:srgbClr val="FFFFFF"/>
                </a:solidFill>
                <a:latin typeface="Calibri"/>
                <a:ea typeface="Calibri"/>
                <a:cs typeface="Calibri"/>
                <a:sym typeface="Calibri"/>
              </a:rPr>
              <a:t>Mean |SHAP|</a:t>
            </a:r>
            <a:endParaRPr/>
          </a:p>
        </p:txBody>
      </p:sp>
      <p:sp>
        <p:nvSpPr>
          <p:cNvPr id="557" name="Google Shape;557;p45"/>
          <p:cNvSpPr/>
          <p:nvPr/>
        </p:nvSpPr>
        <p:spPr>
          <a:xfrm>
            <a:off x="5989320" y="2020824"/>
            <a:ext cx="502920" cy="329184"/>
          </a:xfrm>
          <a:prstGeom prst="rect">
            <a:avLst/>
          </a:prstGeom>
          <a:solidFill>
            <a:srgbClr val="E6EFF6"/>
          </a:solidFill>
          <a:ln cap="flat" cmpd="sng" w="9525">
            <a:solidFill>
              <a:srgbClr val="CDD4D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91425" spcFirstLastPara="1" rIns="91425" wrap="square" tIns="0">
            <a:noAutofit/>
          </a:bodyPr>
          <a:lstStyle/>
          <a:p>
            <a:pPr indent="0" lvl="0" marL="0" marR="0" rtl="0" algn="l">
              <a:spcBef>
                <a:spcPts val="0"/>
              </a:spcBef>
              <a:spcAft>
                <a:spcPts val="0"/>
              </a:spcAft>
              <a:buNone/>
            </a:pPr>
            <a:r>
              <a:rPr b="1" i="0" lang="en-US" sz="1100" u="none" cap="none" strike="noStrike">
                <a:solidFill>
                  <a:srgbClr val="156082"/>
                </a:solidFill>
                <a:latin typeface="Calibri"/>
                <a:ea typeface="Calibri"/>
                <a:cs typeface="Calibri"/>
                <a:sym typeface="Calibri"/>
              </a:rPr>
              <a:t>1</a:t>
            </a:r>
            <a:endParaRPr/>
          </a:p>
        </p:txBody>
      </p:sp>
      <p:sp>
        <p:nvSpPr>
          <p:cNvPr id="558" name="Google Shape;558;p45"/>
          <p:cNvSpPr/>
          <p:nvPr/>
        </p:nvSpPr>
        <p:spPr>
          <a:xfrm>
            <a:off x="6492240" y="2020824"/>
            <a:ext cx="2331720" cy="329184"/>
          </a:xfrm>
          <a:prstGeom prst="rect">
            <a:avLst/>
          </a:prstGeom>
          <a:solidFill>
            <a:srgbClr val="E6EFF6"/>
          </a:solidFill>
          <a:ln cap="flat" cmpd="sng" w="9525">
            <a:solidFill>
              <a:srgbClr val="CDD4D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91425" spcFirstLastPara="1" rIns="91425" wrap="square" tIns="0">
            <a:noAutofit/>
          </a:bodyPr>
          <a:lstStyle/>
          <a:p>
            <a:pPr indent="0" lvl="0" marL="0" marR="0" rtl="0" algn="l">
              <a:spcBef>
                <a:spcPts val="0"/>
              </a:spcBef>
              <a:spcAft>
                <a:spcPts val="0"/>
              </a:spcAft>
              <a:buNone/>
            </a:pPr>
            <a:r>
              <a:rPr b="1" i="0" lang="en-US" sz="1100" u="none" cap="none" strike="noStrike">
                <a:solidFill>
                  <a:srgbClr val="156082"/>
                </a:solidFill>
                <a:latin typeface="Calibri"/>
                <a:ea typeface="Calibri"/>
                <a:cs typeface="Calibri"/>
                <a:sym typeface="Calibri"/>
              </a:rPr>
              <a:t>Age</a:t>
            </a:r>
            <a:endParaRPr/>
          </a:p>
        </p:txBody>
      </p:sp>
      <p:sp>
        <p:nvSpPr>
          <p:cNvPr id="559" name="Google Shape;559;p45"/>
          <p:cNvSpPr/>
          <p:nvPr/>
        </p:nvSpPr>
        <p:spPr>
          <a:xfrm>
            <a:off x="8823960" y="2020824"/>
            <a:ext cx="1188720" cy="329184"/>
          </a:xfrm>
          <a:prstGeom prst="rect">
            <a:avLst/>
          </a:prstGeom>
          <a:solidFill>
            <a:srgbClr val="E6EFF6"/>
          </a:solidFill>
          <a:ln cap="flat" cmpd="sng" w="9525">
            <a:solidFill>
              <a:srgbClr val="CDD4D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91425" spcFirstLastPara="1" rIns="91425" wrap="square" tIns="0">
            <a:noAutofit/>
          </a:bodyPr>
          <a:lstStyle/>
          <a:p>
            <a:pPr indent="0" lvl="0" marL="0" marR="0" rtl="0" algn="l">
              <a:spcBef>
                <a:spcPts val="0"/>
              </a:spcBef>
              <a:spcAft>
                <a:spcPts val="0"/>
              </a:spcAft>
              <a:buNone/>
            </a:pPr>
            <a:r>
              <a:rPr b="1" i="0" lang="en-US" sz="1100" u="none" cap="none" strike="noStrike">
                <a:solidFill>
                  <a:srgbClr val="156082"/>
                </a:solidFill>
                <a:latin typeface="Calibri"/>
                <a:ea typeface="Calibri"/>
                <a:cs typeface="Calibri"/>
                <a:sym typeface="Calibri"/>
              </a:rPr>
              <a:t>0.936</a:t>
            </a:r>
            <a:endParaRPr/>
          </a:p>
        </p:txBody>
      </p:sp>
      <p:sp>
        <p:nvSpPr>
          <p:cNvPr id="560" name="Google Shape;560;p45"/>
          <p:cNvSpPr/>
          <p:nvPr/>
        </p:nvSpPr>
        <p:spPr>
          <a:xfrm>
            <a:off x="5989320" y="2350008"/>
            <a:ext cx="502920" cy="329184"/>
          </a:xfrm>
          <a:prstGeom prst="rect">
            <a:avLst/>
          </a:prstGeom>
          <a:solidFill>
            <a:srgbClr val="F4F7FA"/>
          </a:solidFill>
          <a:ln cap="flat" cmpd="sng" w="9525">
            <a:solidFill>
              <a:srgbClr val="CDD4D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91425" spcFirstLastPara="1" rIns="91425" wrap="square" tIns="0">
            <a:noAutofit/>
          </a:bodyPr>
          <a:lstStyle/>
          <a:p>
            <a:pPr indent="0" lvl="0" marL="0" marR="0" rtl="0" algn="l">
              <a:spcBef>
                <a:spcPts val="0"/>
              </a:spcBef>
              <a:spcAft>
                <a:spcPts val="0"/>
              </a:spcAft>
              <a:buNone/>
            </a:pPr>
            <a:r>
              <a:rPr b="0" i="0" lang="en-US" sz="1100" u="none" cap="none" strike="noStrike">
                <a:solidFill>
                  <a:srgbClr val="101010"/>
                </a:solidFill>
                <a:latin typeface="Calibri"/>
                <a:ea typeface="Calibri"/>
                <a:cs typeface="Calibri"/>
                <a:sym typeface="Calibri"/>
              </a:rPr>
              <a:t>2</a:t>
            </a:r>
            <a:endParaRPr/>
          </a:p>
        </p:txBody>
      </p:sp>
      <p:sp>
        <p:nvSpPr>
          <p:cNvPr id="561" name="Google Shape;561;p45"/>
          <p:cNvSpPr/>
          <p:nvPr/>
        </p:nvSpPr>
        <p:spPr>
          <a:xfrm>
            <a:off x="6492240" y="2350008"/>
            <a:ext cx="2331720" cy="329184"/>
          </a:xfrm>
          <a:prstGeom prst="rect">
            <a:avLst/>
          </a:prstGeom>
          <a:solidFill>
            <a:srgbClr val="F4F7FA"/>
          </a:solidFill>
          <a:ln cap="flat" cmpd="sng" w="9525">
            <a:solidFill>
              <a:srgbClr val="CDD4D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91425" spcFirstLastPara="1" rIns="91425" wrap="square" tIns="0">
            <a:noAutofit/>
          </a:bodyPr>
          <a:lstStyle/>
          <a:p>
            <a:pPr indent="0" lvl="0" marL="0" marR="0" rtl="0" algn="l">
              <a:spcBef>
                <a:spcPts val="0"/>
              </a:spcBef>
              <a:spcAft>
                <a:spcPts val="0"/>
              </a:spcAft>
              <a:buNone/>
            </a:pPr>
            <a:r>
              <a:rPr b="0" i="0" lang="en-US" sz="1100" u="none" cap="none" strike="noStrike">
                <a:solidFill>
                  <a:srgbClr val="101010"/>
                </a:solidFill>
                <a:latin typeface="Calibri"/>
                <a:ea typeface="Calibri"/>
                <a:cs typeface="Calibri"/>
                <a:sym typeface="Calibri"/>
              </a:rPr>
              <a:t>AST/ALT ratio</a:t>
            </a:r>
            <a:endParaRPr/>
          </a:p>
        </p:txBody>
      </p:sp>
      <p:sp>
        <p:nvSpPr>
          <p:cNvPr id="562" name="Google Shape;562;p45"/>
          <p:cNvSpPr/>
          <p:nvPr/>
        </p:nvSpPr>
        <p:spPr>
          <a:xfrm>
            <a:off x="8823960" y="2350008"/>
            <a:ext cx="1188720" cy="329184"/>
          </a:xfrm>
          <a:prstGeom prst="rect">
            <a:avLst/>
          </a:prstGeom>
          <a:solidFill>
            <a:srgbClr val="F4F7FA"/>
          </a:solidFill>
          <a:ln cap="flat" cmpd="sng" w="9525">
            <a:solidFill>
              <a:srgbClr val="CDD4D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91425" spcFirstLastPara="1" rIns="91425" wrap="square" tIns="0">
            <a:noAutofit/>
          </a:bodyPr>
          <a:lstStyle/>
          <a:p>
            <a:pPr indent="0" lvl="0" marL="0" marR="0" rtl="0" algn="l">
              <a:spcBef>
                <a:spcPts val="0"/>
              </a:spcBef>
              <a:spcAft>
                <a:spcPts val="0"/>
              </a:spcAft>
              <a:buNone/>
            </a:pPr>
            <a:r>
              <a:rPr b="0" i="0" lang="en-US" sz="1100" u="none" cap="none" strike="noStrike">
                <a:solidFill>
                  <a:srgbClr val="101010"/>
                </a:solidFill>
                <a:latin typeface="Calibri"/>
                <a:ea typeface="Calibri"/>
                <a:cs typeface="Calibri"/>
                <a:sym typeface="Calibri"/>
              </a:rPr>
              <a:t>0.297</a:t>
            </a:r>
            <a:endParaRPr/>
          </a:p>
        </p:txBody>
      </p:sp>
      <p:sp>
        <p:nvSpPr>
          <p:cNvPr id="563" name="Google Shape;563;p45"/>
          <p:cNvSpPr/>
          <p:nvPr/>
        </p:nvSpPr>
        <p:spPr>
          <a:xfrm>
            <a:off x="5989320" y="2679192"/>
            <a:ext cx="502920" cy="329184"/>
          </a:xfrm>
          <a:prstGeom prst="rect">
            <a:avLst/>
          </a:prstGeom>
          <a:solidFill>
            <a:srgbClr val="FFFFFF"/>
          </a:solidFill>
          <a:ln cap="flat" cmpd="sng" w="9525">
            <a:solidFill>
              <a:srgbClr val="CDD4D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91425" spcFirstLastPara="1" rIns="91425" wrap="square" tIns="0">
            <a:noAutofit/>
          </a:bodyPr>
          <a:lstStyle/>
          <a:p>
            <a:pPr indent="0" lvl="0" marL="0" marR="0" rtl="0" algn="l">
              <a:spcBef>
                <a:spcPts val="0"/>
              </a:spcBef>
              <a:spcAft>
                <a:spcPts val="0"/>
              </a:spcAft>
              <a:buNone/>
            </a:pPr>
            <a:r>
              <a:rPr b="0" i="0" lang="en-US" sz="1100" u="none" cap="none" strike="noStrike">
                <a:solidFill>
                  <a:srgbClr val="101010"/>
                </a:solidFill>
                <a:latin typeface="Calibri"/>
                <a:ea typeface="Calibri"/>
                <a:cs typeface="Calibri"/>
                <a:sym typeface="Calibri"/>
              </a:rPr>
              <a:t>3</a:t>
            </a:r>
            <a:endParaRPr/>
          </a:p>
        </p:txBody>
      </p:sp>
      <p:sp>
        <p:nvSpPr>
          <p:cNvPr id="564" name="Google Shape;564;p45"/>
          <p:cNvSpPr/>
          <p:nvPr/>
        </p:nvSpPr>
        <p:spPr>
          <a:xfrm>
            <a:off x="6492240" y="2679192"/>
            <a:ext cx="2331720" cy="329184"/>
          </a:xfrm>
          <a:prstGeom prst="rect">
            <a:avLst/>
          </a:prstGeom>
          <a:solidFill>
            <a:srgbClr val="FFFFFF"/>
          </a:solidFill>
          <a:ln cap="flat" cmpd="sng" w="9525">
            <a:solidFill>
              <a:srgbClr val="CDD4D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91425" spcFirstLastPara="1" rIns="91425" wrap="square" tIns="0">
            <a:noAutofit/>
          </a:bodyPr>
          <a:lstStyle/>
          <a:p>
            <a:pPr indent="0" lvl="0" marL="0" marR="0" rtl="0" algn="l">
              <a:spcBef>
                <a:spcPts val="0"/>
              </a:spcBef>
              <a:spcAft>
                <a:spcPts val="0"/>
              </a:spcAft>
              <a:buNone/>
            </a:pPr>
            <a:r>
              <a:rPr b="0" i="0" lang="en-US" sz="1100" u="none" cap="none" strike="noStrike">
                <a:solidFill>
                  <a:srgbClr val="101010"/>
                </a:solidFill>
                <a:latin typeface="Calibri"/>
                <a:ea typeface="Calibri"/>
                <a:cs typeface="Calibri"/>
                <a:sym typeface="Calibri"/>
              </a:rPr>
              <a:t>log GGT</a:t>
            </a:r>
            <a:endParaRPr/>
          </a:p>
        </p:txBody>
      </p:sp>
      <p:sp>
        <p:nvSpPr>
          <p:cNvPr id="565" name="Google Shape;565;p45"/>
          <p:cNvSpPr/>
          <p:nvPr/>
        </p:nvSpPr>
        <p:spPr>
          <a:xfrm>
            <a:off x="8823960" y="2679192"/>
            <a:ext cx="1188720" cy="329184"/>
          </a:xfrm>
          <a:prstGeom prst="rect">
            <a:avLst/>
          </a:prstGeom>
          <a:solidFill>
            <a:srgbClr val="FFFFFF"/>
          </a:solidFill>
          <a:ln cap="flat" cmpd="sng" w="9525">
            <a:solidFill>
              <a:srgbClr val="CDD4D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91425" spcFirstLastPara="1" rIns="91425" wrap="square" tIns="0">
            <a:noAutofit/>
          </a:bodyPr>
          <a:lstStyle/>
          <a:p>
            <a:pPr indent="0" lvl="0" marL="0" marR="0" rtl="0" algn="l">
              <a:spcBef>
                <a:spcPts val="0"/>
              </a:spcBef>
              <a:spcAft>
                <a:spcPts val="0"/>
              </a:spcAft>
              <a:buNone/>
            </a:pPr>
            <a:r>
              <a:rPr b="0" i="0" lang="en-US" sz="1100" u="none" cap="none" strike="noStrike">
                <a:solidFill>
                  <a:srgbClr val="101010"/>
                </a:solidFill>
                <a:latin typeface="Calibri"/>
                <a:ea typeface="Calibri"/>
                <a:cs typeface="Calibri"/>
                <a:sym typeface="Calibri"/>
              </a:rPr>
              <a:t>0.268</a:t>
            </a:r>
            <a:endParaRPr/>
          </a:p>
        </p:txBody>
      </p:sp>
      <p:sp>
        <p:nvSpPr>
          <p:cNvPr id="566" name="Google Shape;566;p45"/>
          <p:cNvSpPr/>
          <p:nvPr/>
        </p:nvSpPr>
        <p:spPr>
          <a:xfrm>
            <a:off x="5989320" y="3008376"/>
            <a:ext cx="502920" cy="329184"/>
          </a:xfrm>
          <a:prstGeom prst="rect">
            <a:avLst/>
          </a:prstGeom>
          <a:solidFill>
            <a:srgbClr val="F4F7FA"/>
          </a:solidFill>
          <a:ln cap="flat" cmpd="sng" w="9525">
            <a:solidFill>
              <a:srgbClr val="CDD4D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91425" spcFirstLastPara="1" rIns="91425" wrap="square" tIns="0">
            <a:noAutofit/>
          </a:bodyPr>
          <a:lstStyle/>
          <a:p>
            <a:pPr indent="0" lvl="0" marL="0" marR="0" rtl="0" algn="l">
              <a:spcBef>
                <a:spcPts val="0"/>
              </a:spcBef>
              <a:spcAft>
                <a:spcPts val="0"/>
              </a:spcAft>
              <a:buNone/>
            </a:pPr>
            <a:r>
              <a:rPr b="0" i="0" lang="en-US" sz="1100" u="none" cap="none" strike="noStrike">
                <a:solidFill>
                  <a:srgbClr val="101010"/>
                </a:solidFill>
                <a:latin typeface="Calibri"/>
                <a:ea typeface="Calibri"/>
                <a:cs typeface="Calibri"/>
                <a:sym typeface="Calibri"/>
              </a:rPr>
              <a:t>4</a:t>
            </a:r>
            <a:endParaRPr/>
          </a:p>
        </p:txBody>
      </p:sp>
      <p:sp>
        <p:nvSpPr>
          <p:cNvPr id="567" name="Google Shape;567;p45"/>
          <p:cNvSpPr/>
          <p:nvPr/>
        </p:nvSpPr>
        <p:spPr>
          <a:xfrm>
            <a:off x="6492240" y="3008376"/>
            <a:ext cx="2331720" cy="329184"/>
          </a:xfrm>
          <a:prstGeom prst="rect">
            <a:avLst/>
          </a:prstGeom>
          <a:solidFill>
            <a:srgbClr val="F4F7FA"/>
          </a:solidFill>
          <a:ln cap="flat" cmpd="sng" w="9525">
            <a:solidFill>
              <a:srgbClr val="CDD4D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91425" spcFirstLastPara="1" rIns="91425" wrap="square" tIns="0">
            <a:noAutofit/>
          </a:bodyPr>
          <a:lstStyle/>
          <a:p>
            <a:pPr indent="0" lvl="0" marL="0" marR="0" rtl="0" algn="l">
              <a:spcBef>
                <a:spcPts val="0"/>
              </a:spcBef>
              <a:spcAft>
                <a:spcPts val="0"/>
              </a:spcAft>
              <a:buNone/>
            </a:pPr>
            <a:r>
              <a:rPr b="0" i="0" lang="en-US" sz="1100" u="none" cap="none" strike="noStrike">
                <a:solidFill>
                  <a:srgbClr val="101010"/>
                </a:solidFill>
                <a:latin typeface="Calibri"/>
                <a:ea typeface="Calibri"/>
                <a:cs typeface="Calibri"/>
                <a:sym typeface="Calibri"/>
              </a:rPr>
              <a:t>LDL cholesterol</a:t>
            </a:r>
            <a:endParaRPr/>
          </a:p>
        </p:txBody>
      </p:sp>
      <p:sp>
        <p:nvSpPr>
          <p:cNvPr id="568" name="Google Shape;568;p45"/>
          <p:cNvSpPr/>
          <p:nvPr/>
        </p:nvSpPr>
        <p:spPr>
          <a:xfrm>
            <a:off x="8823960" y="3008376"/>
            <a:ext cx="1188720" cy="329184"/>
          </a:xfrm>
          <a:prstGeom prst="rect">
            <a:avLst/>
          </a:prstGeom>
          <a:solidFill>
            <a:srgbClr val="F4F7FA"/>
          </a:solidFill>
          <a:ln cap="flat" cmpd="sng" w="9525">
            <a:solidFill>
              <a:srgbClr val="CDD4D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91425" spcFirstLastPara="1" rIns="91425" wrap="square" tIns="0">
            <a:noAutofit/>
          </a:bodyPr>
          <a:lstStyle/>
          <a:p>
            <a:pPr indent="0" lvl="0" marL="0" marR="0" rtl="0" algn="l">
              <a:spcBef>
                <a:spcPts val="0"/>
              </a:spcBef>
              <a:spcAft>
                <a:spcPts val="0"/>
              </a:spcAft>
              <a:buNone/>
            </a:pPr>
            <a:r>
              <a:rPr b="0" i="0" lang="en-US" sz="1100" u="none" cap="none" strike="noStrike">
                <a:solidFill>
                  <a:srgbClr val="101010"/>
                </a:solidFill>
                <a:latin typeface="Calibri"/>
                <a:ea typeface="Calibri"/>
                <a:cs typeface="Calibri"/>
                <a:sym typeface="Calibri"/>
              </a:rPr>
              <a:t>0.215</a:t>
            </a:r>
            <a:endParaRPr/>
          </a:p>
        </p:txBody>
      </p:sp>
      <p:sp>
        <p:nvSpPr>
          <p:cNvPr id="569" name="Google Shape;569;p45"/>
          <p:cNvSpPr/>
          <p:nvPr/>
        </p:nvSpPr>
        <p:spPr>
          <a:xfrm>
            <a:off x="5989320" y="3337559"/>
            <a:ext cx="502920" cy="329184"/>
          </a:xfrm>
          <a:prstGeom prst="rect">
            <a:avLst/>
          </a:prstGeom>
          <a:solidFill>
            <a:srgbClr val="FFFFFF"/>
          </a:solidFill>
          <a:ln cap="flat" cmpd="sng" w="9525">
            <a:solidFill>
              <a:srgbClr val="CDD4D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91425" spcFirstLastPara="1" rIns="91425" wrap="square" tIns="0">
            <a:noAutofit/>
          </a:bodyPr>
          <a:lstStyle/>
          <a:p>
            <a:pPr indent="0" lvl="0" marL="0" marR="0" rtl="0" algn="l">
              <a:spcBef>
                <a:spcPts val="0"/>
              </a:spcBef>
              <a:spcAft>
                <a:spcPts val="0"/>
              </a:spcAft>
              <a:buNone/>
            </a:pPr>
            <a:r>
              <a:rPr b="0" i="0" lang="en-US" sz="1100" u="none" cap="none" strike="noStrike">
                <a:solidFill>
                  <a:srgbClr val="101010"/>
                </a:solidFill>
                <a:latin typeface="Calibri"/>
                <a:ea typeface="Calibri"/>
                <a:cs typeface="Calibri"/>
                <a:sym typeface="Calibri"/>
              </a:rPr>
              <a:t>5</a:t>
            </a:r>
            <a:endParaRPr/>
          </a:p>
        </p:txBody>
      </p:sp>
      <p:sp>
        <p:nvSpPr>
          <p:cNvPr id="570" name="Google Shape;570;p45"/>
          <p:cNvSpPr/>
          <p:nvPr/>
        </p:nvSpPr>
        <p:spPr>
          <a:xfrm>
            <a:off x="6492240" y="3337559"/>
            <a:ext cx="2331720" cy="329184"/>
          </a:xfrm>
          <a:prstGeom prst="rect">
            <a:avLst/>
          </a:prstGeom>
          <a:solidFill>
            <a:srgbClr val="FFFFFF"/>
          </a:solidFill>
          <a:ln cap="flat" cmpd="sng" w="9525">
            <a:solidFill>
              <a:srgbClr val="CDD4D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91425" spcFirstLastPara="1" rIns="91425" wrap="square" tIns="0">
            <a:noAutofit/>
          </a:bodyPr>
          <a:lstStyle/>
          <a:p>
            <a:pPr indent="0" lvl="0" marL="0" marR="0" rtl="0" algn="l">
              <a:spcBef>
                <a:spcPts val="0"/>
              </a:spcBef>
              <a:spcAft>
                <a:spcPts val="0"/>
              </a:spcAft>
              <a:buNone/>
            </a:pPr>
            <a:r>
              <a:rPr b="0" i="0" lang="en-US" sz="1100" u="none" cap="none" strike="noStrike">
                <a:solidFill>
                  <a:srgbClr val="101010"/>
                </a:solidFill>
                <a:latin typeface="Calibri"/>
                <a:ea typeface="Calibri"/>
                <a:cs typeface="Calibri"/>
                <a:sym typeface="Calibri"/>
              </a:rPr>
              <a:t>Hemoglobin</a:t>
            </a:r>
            <a:endParaRPr/>
          </a:p>
        </p:txBody>
      </p:sp>
      <p:sp>
        <p:nvSpPr>
          <p:cNvPr id="571" name="Google Shape;571;p45"/>
          <p:cNvSpPr/>
          <p:nvPr/>
        </p:nvSpPr>
        <p:spPr>
          <a:xfrm>
            <a:off x="8823960" y="3337559"/>
            <a:ext cx="1188720" cy="329184"/>
          </a:xfrm>
          <a:prstGeom prst="rect">
            <a:avLst/>
          </a:prstGeom>
          <a:solidFill>
            <a:srgbClr val="FFFFFF"/>
          </a:solidFill>
          <a:ln cap="flat" cmpd="sng" w="9525">
            <a:solidFill>
              <a:srgbClr val="CDD4D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91425" spcFirstLastPara="1" rIns="91425" wrap="square" tIns="0">
            <a:noAutofit/>
          </a:bodyPr>
          <a:lstStyle/>
          <a:p>
            <a:pPr indent="0" lvl="0" marL="0" marR="0" rtl="0" algn="l">
              <a:spcBef>
                <a:spcPts val="0"/>
              </a:spcBef>
              <a:spcAft>
                <a:spcPts val="0"/>
              </a:spcAft>
              <a:buNone/>
            </a:pPr>
            <a:r>
              <a:rPr b="0" i="0" lang="en-US" sz="1100" u="none" cap="none" strike="noStrike">
                <a:solidFill>
                  <a:srgbClr val="101010"/>
                </a:solidFill>
                <a:latin typeface="Calibri"/>
                <a:ea typeface="Calibri"/>
                <a:cs typeface="Calibri"/>
                <a:sym typeface="Calibri"/>
              </a:rPr>
              <a:t>0.182</a:t>
            </a:r>
            <a:endParaRPr/>
          </a:p>
        </p:txBody>
      </p:sp>
      <p:sp>
        <p:nvSpPr>
          <p:cNvPr id="572" name="Google Shape;572;p45"/>
          <p:cNvSpPr/>
          <p:nvPr/>
        </p:nvSpPr>
        <p:spPr>
          <a:xfrm>
            <a:off x="5989320" y="3666744"/>
            <a:ext cx="502920" cy="329184"/>
          </a:xfrm>
          <a:prstGeom prst="rect">
            <a:avLst/>
          </a:prstGeom>
          <a:solidFill>
            <a:srgbClr val="F4F7FA"/>
          </a:solidFill>
          <a:ln cap="flat" cmpd="sng" w="9525">
            <a:solidFill>
              <a:srgbClr val="CDD4D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91425" spcFirstLastPara="1" rIns="91425" wrap="square" tIns="0">
            <a:noAutofit/>
          </a:bodyPr>
          <a:lstStyle/>
          <a:p>
            <a:pPr indent="0" lvl="0" marL="0" marR="0" rtl="0" algn="l">
              <a:spcBef>
                <a:spcPts val="0"/>
              </a:spcBef>
              <a:spcAft>
                <a:spcPts val="0"/>
              </a:spcAft>
              <a:buNone/>
            </a:pPr>
            <a:r>
              <a:rPr b="0" i="0" lang="en-US" sz="1100" u="none" cap="none" strike="noStrike">
                <a:solidFill>
                  <a:srgbClr val="101010"/>
                </a:solidFill>
                <a:latin typeface="Calibri"/>
                <a:ea typeface="Calibri"/>
                <a:cs typeface="Calibri"/>
                <a:sym typeface="Calibri"/>
              </a:rPr>
              <a:t>6</a:t>
            </a:r>
            <a:endParaRPr/>
          </a:p>
        </p:txBody>
      </p:sp>
      <p:sp>
        <p:nvSpPr>
          <p:cNvPr id="573" name="Google Shape;573;p45"/>
          <p:cNvSpPr/>
          <p:nvPr/>
        </p:nvSpPr>
        <p:spPr>
          <a:xfrm>
            <a:off x="6492240" y="3666744"/>
            <a:ext cx="2331720" cy="329184"/>
          </a:xfrm>
          <a:prstGeom prst="rect">
            <a:avLst/>
          </a:prstGeom>
          <a:solidFill>
            <a:srgbClr val="F4F7FA"/>
          </a:solidFill>
          <a:ln cap="flat" cmpd="sng" w="9525">
            <a:solidFill>
              <a:srgbClr val="CDD4D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91425" spcFirstLastPara="1" rIns="91425" wrap="square" tIns="0">
            <a:noAutofit/>
          </a:bodyPr>
          <a:lstStyle/>
          <a:p>
            <a:pPr indent="0" lvl="0" marL="0" marR="0" rtl="0" algn="l">
              <a:spcBef>
                <a:spcPts val="0"/>
              </a:spcBef>
              <a:spcAft>
                <a:spcPts val="0"/>
              </a:spcAft>
              <a:buNone/>
            </a:pPr>
            <a:r>
              <a:rPr b="0" i="0" lang="en-US" sz="1100" u="none" cap="none" strike="noStrike">
                <a:solidFill>
                  <a:srgbClr val="101010"/>
                </a:solidFill>
                <a:latin typeface="Calibri"/>
                <a:ea typeface="Calibri"/>
                <a:cs typeface="Calibri"/>
                <a:sym typeface="Calibri"/>
              </a:rPr>
              <a:t>Waist-to-height</a:t>
            </a:r>
            <a:endParaRPr/>
          </a:p>
        </p:txBody>
      </p:sp>
      <p:sp>
        <p:nvSpPr>
          <p:cNvPr id="574" name="Google Shape;574;p45"/>
          <p:cNvSpPr/>
          <p:nvPr/>
        </p:nvSpPr>
        <p:spPr>
          <a:xfrm>
            <a:off x="8823960" y="3666744"/>
            <a:ext cx="1188720" cy="329184"/>
          </a:xfrm>
          <a:prstGeom prst="rect">
            <a:avLst/>
          </a:prstGeom>
          <a:solidFill>
            <a:srgbClr val="F4F7FA"/>
          </a:solidFill>
          <a:ln cap="flat" cmpd="sng" w="9525">
            <a:solidFill>
              <a:srgbClr val="CDD4D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91425" spcFirstLastPara="1" rIns="91425" wrap="square" tIns="0">
            <a:noAutofit/>
          </a:bodyPr>
          <a:lstStyle/>
          <a:p>
            <a:pPr indent="0" lvl="0" marL="0" marR="0" rtl="0" algn="l">
              <a:spcBef>
                <a:spcPts val="0"/>
              </a:spcBef>
              <a:spcAft>
                <a:spcPts val="0"/>
              </a:spcAft>
              <a:buNone/>
            </a:pPr>
            <a:r>
              <a:rPr b="0" i="0" lang="en-US" sz="1100" u="none" cap="none" strike="noStrike">
                <a:solidFill>
                  <a:srgbClr val="101010"/>
                </a:solidFill>
                <a:latin typeface="Calibri"/>
                <a:ea typeface="Calibri"/>
                <a:cs typeface="Calibri"/>
                <a:sym typeface="Calibri"/>
              </a:rPr>
              <a:t>0.153</a:t>
            </a:r>
            <a:endParaRPr/>
          </a:p>
        </p:txBody>
      </p:sp>
      <p:sp>
        <p:nvSpPr>
          <p:cNvPr id="575" name="Google Shape;575;p45"/>
          <p:cNvSpPr/>
          <p:nvPr/>
        </p:nvSpPr>
        <p:spPr>
          <a:xfrm>
            <a:off x="5989320" y="3995928"/>
            <a:ext cx="502920" cy="329184"/>
          </a:xfrm>
          <a:prstGeom prst="rect">
            <a:avLst/>
          </a:prstGeom>
          <a:solidFill>
            <a:srgbClr val="FFFFFF"/>
          </a:solidFill>
          <a:ln cap="flat" cmpd="sng" w="9525">
            <a:solidFill>
              <a:srgbClr val="CDD4D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91425" spcFirstLastPara="1" rIns="91425" wrap="square" tIns="0">
            <a:noAutofit/>
          </a:bodyPr>
          <a:lstStyle/>
          <a:p>
            <a:pPr indent="0" lvl="0" marL="0" marR="0" rtl="0" algn="l">
              <a:spcBef>
                <a:spcPts val="0"/>
              </a:spcBef>
              <a:spcAft>
                <a:spcPts val="0"/>
              </a:spcAft>
              <a:buNone/>
            </a:pPr>
            <a:r>
              <a:rPr b="0" i="0" lang="en-US" sz="1100" u="none" cap="none" strike="noStrike">
                <a:solidFill>
                  <a:srgbClr val="101010"/>
                </a:solidFill>
                <a:latin typeface="Calibri"/>
                <a:ea typeface="Calibri"/>
                <a:cs typeface="Calibri"/>
                <a:sym typeface="Calibri"/>
              </a:rPr>
              <a:t>7</a:t>
            </a:r>
            <a:endParaRPr/>
          </a:p>
        </p:txBody>
      </p:sp>
      <p:sp>
        <p:nvSpPr>
          <p:cNvPr id="576" name="Google Shape;576;p45"/>
          <p:cNvSpPr/>
          <p:nvPr/>
        </p:nvSpPr>
        <p:spPr>
          <a:xfrm>
            <a:off x="6492240" y="3995928"/>
            <a:ext cx="2331720" cy="329184"/>
          </a:xfrm>
          <a:prstGeom prst="rect">
            <a:avLst/>
          </a:prstGeom>
          <a:solidFill>
            <a:srgbClr val="FFFFFF"/>
          </a:solidFill>
          <a:ln cap="flat" cmpd="sng" w="9525">
            <a:solidFill>
              <a:srgbClr val="CDD4D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91425" spcFirstLastPara="1" rIns="91425" wrap="square" tIns="0">
            <a:noAutofit/>
          </a:bodyPr>
          <a:lstStyle/>
          <a:p>
            <a:pPr indent="0" lvl="0" marL="0" marR="0" rtl="0" algn="l">
              <a:spcBef>
                <a:spcPts val="0"/>
              </a:spcBef>
              <a:spcAft>
                <a:spcPts val="0"/>
              </a:spcAft>
              <a:buNone/>
            </a:pPr>
            <a:r>
              <a:rPr b="0" i="0" lang="en-US" sz="1100" u="none" cap="none" strike="noStrike">
                <a:solidFill>
                  <a:srgbClr val="101010"/>
                </a:solidFill>
                <a:latin typeface="Calibri"/>
                <a:ea typeface="Calibri"/>
                <a:cs typeface="Calibri"/>
                <a:sym typeface="Calibri"/>
              </a:rPr>
              <a:t>log AST</a:t>
            </a:r>
            <a:endParaRPr/>
          </a:p>
        </p:txBody>
      </p:sp>
      <p:sp>
        <p:nvSpPr>
          <p:cNvPr id="577" name="Google Shape;577;p45"/>
          <p:cNvSpPr/>
          <p:nvPr/>
        </p:nvSpPr>
        <p:spPr>
          <a:xfrm>
            <a:off x="8823960" y="3995928"/>
            <a:ext cx="1188720" cy="329184"/>
          </a:xfrm>
          <a:prstGeom prst="rect">
            <a:avLst/>
          </a:prstGeom>
          <a:solidFill>
            <a:srgbClr val="FFFFFF"/>
          </a:solidFill>
          <a:ln cap="flat" cmpd="sng" w="9525">
            <a:solidFill>
              <a:srgbClr val="CDD4D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91425" spcFirstLastPara="1" rIns="91425" wrap="square" tIns="0">
            <a:noAutofit/>
          </a:bodyPr>
          <a:lstStyle/>
          <a:p>
            <a:pPr indent="0" lvl="0" marL="0" marR="0" rtl="0" algn="l">
              <a:spcBef>
                <a:spcPts val="0"/>
              </a:spcBef>
              <a:spcAft>
                <a:spcPts val="0"/>
              </a:spcAft>
              <a:buNone/>
            </a:pPr>
            <a:r>
              <a:rPr b="0" i="0" lang="en-US" sz="1100" u="none" cap="none" strike="noStrike">
                <a:solidFill>
                  <a:srgbClr val="101010"/>
                </a:solidFill>
                <a:latin typeface="Calibri"/>
                <a:ea typeface="Calibri"/>
                <a:cs typeface="Calibri"/>
                <a:sym typeface="Calibri"/>
              </a:rPr>
              <a:t>0.130</a:t>
            </a:r>
            <a:endParaRPr/>
          </a:p>
        </p:txBody>
      </p:sp>
      <p:sp>
        <p:nvSpPr>
          <p:cNvPr id="578" name="Google Shape;578;p45"/>
          <p:cNvSpPr/>
          <p:nvPr/>
        </p:nvSpPr>
        <p:spPr>
          <a:xfrm>
            <a:off x="5989320" y="4325112"/>
            <a:ext cx="502920" cy="329184"/>
          </a:xfrm>
          <a:prstGeom prst="rect">
            <a:avLst/>
          </a:prstGeom>
          <a:solidFill>
            <a:srgbClr val="F4F7FA"/>
          </a:solidFill>
          <a:ln cap="flat" cmpd="sng" w="9525">
            <a:solidFill>
              <a:srgbClr val="CDD4D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91425" spcFirstLastPara="1" rIns="91425" wrap="square" tIns="0">
            <a:noAutofit/>
          </a:bodyPr>
          <a:lstStyle/>
          <a:p>
            <a:pPr indent="0" lvl="0" marL="0" marR="0" rtl="0" algn="l">
              <a:spcBef>
                <a:spcPts val="0"/>
              </a:spcBef>
              <a:spcAft>
                <a:spcPts val="0"/>
              </a:spcAft>
              <a:buNone/>
            </a:pPr>
            <a:r>
              <a:rPr b="0" i="0" lang="en-US" sz="1100" u="none" cap="none" strike="noStrike">
                <a:solidFill>
                  <a:srgbClr val="101010"/>
                </a:solidFill>
                <a:latin typeface="Calibri"/>
                <a:ea typeface="Calibri"/>
                <a:cs typeface="Calibri"/>
                <a:sym typeface="Calibri"/>
              </a:rPr>
              <a:t>8</a:t>
            </a:r>
            <a:endParaRPr/>
          </a:p>
        </p:txBody>
      </p:sp>
      <p:sp>
        <p:nvSpPr>
          <p:cNvPr id="579" name="Google Shape;579;p45"/>
          <p:cNvSpPr/>
          <p:nvPr/>
        </p:nvSpPr>
        <p:spPr>
          <a:xfrm>
            <a:off x="6492240" y="4325112"/>
            <a:ext cx="2331720" cy="329184"/>
          </a:xfrm>
          <a:prstGeom prst="rect">
            <a:avLst/>
          </a:prstGeom>
          <a:solidFill>
            <a:srgbClr val="F4F7FA"/>
          </a:solidFill>
          <a:ln cap="flat" cmpd="sng" w="9525">
            <a:solidFill>
              <a:srgbClr val="CDD4D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91425" spcFirstLastPara="1" rIns="91425" wrap="square" tIns="0">
            <a:noAutofit/>
          </a:bodyPr>
          <a:lstStyle/>
          <a:p>
            <a:pPr indent="0" lvl="0" marL="0" marR="0" rtl="0" algn="l">
              <a:spcBef>
                <a:spcPts val="0"/>
              </a:spcBef>
              <a:spcAft>
                <a:spcPts val="0"/>
              </a:spcAft>
              <a:buNone/>
            </a:pPr>
            <a:r>
              <a:rPr b="0" i="0" lang="en-US" sz="1100" u="none" cap="none" strike="noStrike">
                <a:solidFill>
                  <a:srgbClr val="101010"/>
                </a:solidFill>
                <a:latin typeface="Calibri"/>
                <a:ea typeface="Calibri"/>
                <a:cs typeface="Calibri"/>
                <a:sym typeface="Calibri"/>
              </a:rPr>
              <a:t>Waist circumference</a:t>
            </a:r>
            <a:endParaRPr/>
          </a:p>
        </p:txBody>
      </p:sp>
      <p:sp>
        <p:nvSpPr>
          <p:cNvPr id="580" name="Google Shape;580;p45"/>
          <p:cNvSpPr/>
          <p:nvPr/>
        </p:nvSpPr>
        <p:spPr>
          <a:xfrm>
            <a:off x="8823960" y="4325112"/>
            <a:ext cx="1188720" cy="329184"/>
          </a:xfrm>
          <a:prstGeom prst="rect">
            <a:avLst/>
          </a:prstGeom>
          <a:solidFill>
            <a:srgbClr val="F4F7FA"/>
          </a:solidFill>
          <a:ln cap="flat" cmpd="sng" w="9525">
            <a:solidFill>
              <a:srgbClr val="CDD4D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91425" spcFirstLastPara="1" rIns="91425" wrap="square" tIns="0">
            <a:noAutofit/>
          </a:bodyPr>
          <a:lstStyle/>
          <a:p>
            <a:pPr indent="0" lvl="0" marL="0" marR="0" rtl="0" algn="l">
              <a:spcBef>
                <a:spcPts val="0"/>
              </a:spcBef>
              <a:spcAft>
                <a:spcPts val="0"/>
              </a:spcAft>
              <a:buNone/>
            </a:pPr>
            <a:r>
              <a:rPr b="0" i="0" lang="en-US" sz="1100" u="none" cap="none" strike="noStrike">
                <a:solidFill>
                  <a:srgbClr val="101010"/>
                </a:solidFill>
                <a:latin typeface="Calibri"/>
                <a:ea typeface="Calibri"/>
                <a:cs typeface="Calibri"/>
                <a:sym typeface="Calibri"/>
              </a:rPr>
              <a:t>0.117</a:t>
            </a:r>
            <a:endParaRPr/>
          </a:p>
        </p:txBody>
      </p:sp>
      <p:sp>
        <p:nvSpPr>
          <p:cNvPr id="581" name="Google Shape;581;p45"/>
          <p:cNvSpPr/>
          <p:nvPr/>
        </p:nvSpPr>
        <p:spPr>
          <a:xfrm>
            <a:off x="5989320" y="4654296"/>
            <a:ext cx="502920" cy="329184"/>
          </a:xfrm>
          <a:prstGeom prst="rect">
            <a:avLst/>
          </a:prstGeom>
          <a:solidFill>
            <a:srgbClr val="FFFFFF"/>
          </a:solidFill>
          <a:ln cap="flat" cmpd="sng" w="9525">
            <a:solidFill>
              <a:srgbClr val="CDD4D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91425" spcFirstLastPara="1" rIns="91425" wrap="square" tIns="0">
            <a:noAutofit/>
          </a:bodyPr>
          <a:lstStyle/>
          <a:p>
            <a:pPr indent="0" lvl="0" marL="0" marR="0" rtl="0" algn="l">
              <a:spcBef>
                <a:spcPts val="0"/>
              </a:spcBef>
              <a:spcAft>
                <a:spcPts val="0"/>
              </a:spcAft>
              <a:buNone/>
            </a:pPr>
            <a:r>
              <a:rPr b="0" i="0" lang="en-US" sz="1100" u="none" cap="none" strike="noStrike">
                <a:solidFill>
                  <a:srgbClr val="101010"/>
                </a:solidFill>
                <a:latin typeface="Calibri"/>
                <a:ea typeface="Calibri"/>
                <a:cs typeface="Calibri"/>
                <a:sym typeface="Calibri"/>
              </a:rPr>
              <a:t>9</a:t>
            </a:r>
            <a:endParaRPr/>
          </a:p>
        </p:txBody>
      </p:sp>
      <p:sp>
        <p:nvSpPr>
          <p:cNvPr id="582" name="Google Shape;582;p45"/>
          <p:cNvSpPr/>
          <p:nvPr/>
        </p:nvSpPr>
        <p:spPr>
          <a:xfrm>
            <a:off x="6492240" y="4654296"/>
            <a:ext cx="2331720" cy="329184"/>
          </a:xfrm>
          <a:prstGeom prst="rect">
            <a:avLst/>
          </a:prstGeom>
          <a:solidFill>
            <a:srgbClr val="FFFFFF"/>
          </a:solidFill>
          <a:ln cap="flat" cmpd="sng" w="9525">
            <a:solidFill>
              <a:srgbClr val="CDD4D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91425" spcFirstLastPara="1" rIns="91425" wrap="square" tIns="0">
            <a:noAutofit/>
          </a:bodyPr>
          <a:lstStyle/>
          <a:p>
            <a:pPr indent="0" lvl="0" marL="0" marR="0" rtl="0" algn="l">
              <a:spcBef>
                <a:spcPts val="0"/>
              </a:spcBef>
              <a:spcAft>
                <a:spcPts val="0"/>
              </a:spcAft>
              <a:buNone/>
            </a:pPr>
            <a:r>
              <a:rPr b="0" i="0" lang="en-US" sz="1100" u="none" cap="none" strike="noStrike">
                <a:solidFill>
                  <a:srgbClr val="101010"/>
                </a:solidFill>
                <a:latin typeface="Calibri"/>
                <a:ea typeface="Calibri"/>
                <a:cs typeface="Calibri"/>
                <a:sym typeface="Calibri"/>
              </a:rPr>
              <a:t>TG/HDL ratio</a:t>
            </a:r>
            <a:endParaRPr/>
          </a:p>
        </p:txBody>
      </p:sp>
      <p:sp>
        <p:nvSpPr>
          <p:cNvPr id="583" name="Google Shape;583;p45"/>
          <p:cNvSpPr/>
          <p:nvPr/>
        </p:nvSpPr>
        <p:spPr>
          <a:xfrm>
            <a:off x="8823960" y="4654296"/>
            <a:ext cx="1188720" cy="329184"/>
          </a:xfrm>
          <a:prstGeom prst="rect">
            <a:avLst/>
          </a:prstGeom>
          <a:solidFill>
            <a:srgbClr val="FFFFFF"/>
          </a:solidFill>
          <a:ln cap="flat" cmpd="sng" w="9525">
            <a:solidFill>
              <a:srgbClr val="CDD4D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91425" spcFirstLastPara="1" rIns="91425" wrap="square" tIns="0">
            <a:noAutofit/>
          </a:bodyPr>
          <a:lstStyle/>
          <a:p>
            <a:pPr indent="0" lvl="0" marL="0" marR="0" rtl="0" algn="l">
              <a:spcBef>
                <a:spcPts val="0"/>
              </a:spcBef>
              <a:spcAft>
                <a:spcPts val="0"/>
              </a:spcAft>
              <a:buNone/>
            </a:pPr>
            <a:r>
              <a:rPr b="0" i="0" lang="en-US" sz="1100" u="none" cap="none" strike="noStrike">
                <a:solidFill>
                  <a:srgbClr val="101010"/>
                </a:solidFill>
                <a:latin typeface="Calibri"/>
                <a:ea typeface="Calibri"/>
                <a:cs typeface="Calibri"/>
                <a:sym typeface="Calibri"/>
              </a:rPr>
              <a:t>0.114</a:t>
            </a:r>
            <a:endParaRPr/>
          </a:p>
        </p:txBody>
      </p:sp>
      <p:sp>
        <p:nvSpPr>
          <p:cNvPr id="584" name="Google Shape;584;p45"/>
          <p:cNvSpPr/>
          <p:nvPr/>
        </p:nvSpPr>
        <p:spPr>
          <a:xfrm>
            <a:off x="5989320" y="4983479"/>
            <a:ext cx="502920" cy="329184"/>
          </a:xfrm>
          <a:prstGeom prst="rect">
            <a:avLst/>
          </a:prstGeom>
          <a:solidFill>
            <a:srgbClr val="F4F7FA"/>
          </a:solidFill>
          <a:ln cap="flat" cmpd="sng" w="9525">
            <a:solidFill>
              <a:srgbClr val="CDD4D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91425" spcFirstLastPara="1" rIns="91425" wrap="square" tIns="0">
            <a:noAutofit/>
          </a:bodyPr>
          <a:lstStyle/>
          <a:p>
            <a:pPr indent="0" lvl="0" marL="0" marR="0" rtl="0" algn="l">
              <a:spcBef>
                <a:spcPts val="0"/>
              </a:spcBef>
              <a:spcAft>
                <a:spcPts val="0"/>
              </a:spcAft>
              <a:buNone/>
            </a:pPr>
            <a:r>
              <a:rPr b="0" i="0" lang="en-US" sz="1100" u="none" cap="none" strike="noStrike">
                <a:solidFill>
                  <a:srgbClr val="101010"/>
                </a:solidFill>
                <a:latin typeface="Calibri"/>
                <a:ea typeface="Calibri"/>
                <a:cs typeface="Calibri"/>
                <a:sym typeface="Calibri"/>
              </a:rPr>
              <a:t>10</a:t>
            </a:r>
            <a:endParaRPr/>
          </a:p>
        </p:txBody>
      </p:sp>
      <p:sp>
        <p:nvSpPr>
          <p:cNvPr id="585" name="Google Shape;585;p45"/>
          <p:cNvSpPr/>
          <p:nvPr/>
        </p:nvSpPr>
        <p:spPr>
          <a:xfrm>
            <a:off x="6492240" y="4983479"/>
            <a:ext cx="2331720" cy="329184"/>
          </a:xfrm>
          <a:prstGeom prst="rect">
            <a:avLst/>
          </a:prstGeom>
          <a:solidFill>
            <a:srgbClr val="F4F7FA"/>
          </a:solidFill>
          <a:ln cap="flat" cmpd="sng" w="9525">
            <a:solidFill>
              <a:srgbClr val="CDD4D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91425" spcFirstLastPara="1" rIns="91425" wrap="square" tIns="0">
            <a:noAutofit/>
          </a:bodyPr>
          <a:lstStyle/>
          <a:p>
            <a:pPr indent="0" lvl="0" marL="0" marR="0" rtl="0" algn="l">
              <a:spcBef>
                <a:spcPts val="0"/>
              </a:spcBef>
              <a:spcAft>
                <a:spcPts val="0"/>
              </a:spcAft>
              <a:buNone/>
            </a:pPr>
            <a:r>
              <a:rPr b="0" i="0" lang="en-US" sz="1100" u="none" cap="none" strike="noStrike">
                <a:solidFill>
                  <a:srgbClr val="101010"/>
                </a:solidFill>
                <a:latin typeface="Calibri"/>
                <a:ea typeface="Calibri"/>
                <a:cs typeface="Calibri"/>
                <a:sym typeface="Calibri"/>
              </a:rPr>
              <a:t>Pulse pressure</a:t>
            </a:r>
            <a:endParaRPr/>
          </a:p>
        </p:txBody>
      </p:sp>
      <p:sp>
        <p:nvSpPr>
          <p:cNvPr id="586" name="Google Shape;586;p45"/>
          <p:cNvSpPr/>
          <p:nvPr/>
        </p:nvSpPr>
        <p:spPr>
          <a:xfrm>
            <a:off x="8823960" y="4983479"/>
            <a:ext cx="1188720" cy="329184"/>
          </a:xfrm>
          <a:prstGeom prst="rect">
            <a:avLst/>
          </a:prstGeom>
          <a:solidFill>
            <a:srgbClr val="F4F7FA"/>
          </a:solidFill>
          <a:ln cap="flat" cmpd="sng" w="9525">
            <a:solidFill>
              <a:srgbClr val="CDD4D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91425" spcFirstLastPara="1" rIns="91425" wrap="square" tIns="0">
            <a:noAutofit/>
          </a:bodyPr>
          <a:lstStyle/>
          <a:p>
            <a:pPr indent="0" lvl="0" marL="0" marR="0" rtl="0" algn="l">
              <a:spcBef>
                <a:spcPts val="0"/>
              </a:spcBef>
              <a:spcAft>
                <a:spcPts val="0"/>
              </a:spcAft>
              <a:buNone/>
            </a:pPr>
            <a:r>
              <a:rPr b="0" i="0" lang="en-US" sz="1100" u="none" cap="none" strike="noStrike">
                <a:solidFill>
                  <a:srgbClr val="101010"/>
                </a:solidFill>
                <a:latin typeface="Calibri"/>
                <a:ea typeface="Calibri"/>
                <a:cs typeface="Calibri"/>
                <a:sym typeface="Calibri"/>
              </a:rPr>
              <a:t>0.092</a:t>
            </a:r>
            <a:endParaRPr/>
          </a:p>
        </p:txBody>
      </p:sp>
      <p:sp>
        <p:nvSpPr>
          <p:cNvPr id="587" name="Google Shape;587;p45"/>
          <p:cNvSpPr txBox="1"/>
          <p:nvPr/>
        </p:nvSpPr>
        <p:spPr>
          <a:xfrm>
            <a:off x="5989320" y="5508561"/>
            <a:ext cx="3840600" cy="1692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1" lang="en-US" sz="1100" u="none" cap="none" strike="noStrike">
                <a:solidFill>
                  <a:srgbClr val="555555"/>
                </a:solidFill>
                <a:latin typeface="Calibri"/>
                <a:ea typeface="Calibri"/>
                <a:cs typeface="Calibri"/>
                <a:sym typeface="Calibri"/>
              </a:rPr>
              <a:t>Table 11. All top features are established T2D risk factors</a:t>
            </a:r>
            <a:r>
              <a:rPr i="1" lang="en-US" sz="1100">
                <a:solidFill>
                  <a:srgbClr val="555555"/>
                </a:solidFill>
                <a:latin typeface="Calibri"/>
                <a:ea typeface="Calibri"/>
                <a:cs typeface="Calibri"/>
                <a:sym typeface="Calibri"/>
              </a:rPr>
              <a:t>.</a:t>
            </a:r>
            <a:endParaRPr/>
          </a:p>
        </p:txBody>
      </p:sp>
      <p:sp>
        <p:nvSpPr>
          <p:cNvPr id="588" name="Google Shape;588;p45"/>
          <p:cNvSpPr txBox="1"/>
          <p:nvPr/>
        </p:nvSpPr>
        <p:spPr>
          <a:xfrm>
            <a:off x="411480" y="7479792"/>
            <a:ext cx="6400800" cy="256032"/>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00" u="none" cap="none" strike="noStrike">
                <a:solidFill>
                  <a:srgbClr val="555555"/>
                </a:solidFill>
                <a:latin typeface="Calibri"/>
                <a:ea typeface="Calibri"/>
                <a:cs typeface="Calibri"/>
                <a:sym typeface="Calibri"/>
              </a:rPr>
              <a:t>Team 3c  ·  CDS-492 Capstone  ·  Spring 2026</a:t>
            </a:r>
            <a:endParaRPr/>
          </a:p>
        </p:txBody>
      </p:sp>
      <p:sp>
        <p:nvSpPr>
          <p:cNvPr id="589" name="Google Shape;589;p45"/>
          <p:cNvSpPr txBox="1"/>
          <p:nvPr/>
        </p:nvSpPr>
        <p:spPr>
          <a:xfrm>
            <a:off x="8686800" y="7479792"/>
            <a:ext cx="1005840" cy="256032"/>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i="0" lang="en-US" sz="1000" u="none" cap="none" strike="noStrike">
                <a:solidFill>
                  <a:srgbClr val="555555"/>
                </a:solidFill>
                <a:latin typeface="Calibri"/>
                <a:ea typeface="Calibri"/>
                <a:cs typeface="Calibri"/>
                <a:sym typeface="Calibri"/>
              </a:rPr>
              <a:t>13 / 16</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3" name="Shape 593"/>
        <p:cNvGrpSpPr/>
        <p:nvPr/>
      </p:nvGrpSpPr>
      <p:grpSpPr>
        <a:xfrm>
          <a:off x="0" y="0"/>
          <a:ext cx="0" cy="0"/>
          <a:chOff x="0" y="0"/>
          <a:chExt cx="0" cy="0"/>
        </a:xfrm>
      </p:grpSpPr>
      <p:sp>
        <p:nvSpPr>
          <p:cNvPr id="594" name="Google Shape;594;p46"/>
          <p:cNvSpPr/>
          <p:nvPr/>
        </p:nvSpPr>
        <p:spPr>
          <a:xfrm>
            <a:off x="0" y="0"/>
            <a:ext cx="10058400" cy="1188720"/>
          </a:xfrm>
          <a:prstGeom prst="rect">
            <a:avLst/>
          </a:prstGeom>
          <a:solidFill>
            <a:srgbClr val="0E2841"/>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595" name="Google Shape;595;p46"/>
          <p:cNvSpPr txBox="1"/>
          <p:nvPr/>
        </p:nvSpPr>
        <p:spPr>
          <a:xfrm>
            <a:off x="502920" y="300354"/>
            <a:ext cx="9144000" cy="6156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4000">
                <a:solidFill>
                  <a:srgbClr val="FFFFFF"/>
                </a:solidFill>
                <a:latin typeface="Calibri"/>
                <a:ea typeface="Calibri"/>
                <a:cs typeface="Calibri"/>
                <a:sym typeface="Calibri"/>
              </a:rPr>
              <a:t>Screening Tool Deployment</a:t>
            </a:r>
            <a:endParaRPr sz="4000"/>
          </a:p>
        </p:txBody>
      </p:sp>
      <p:sp>
        <p:nvSpPr>
          <p:cNvPr id="596" name="Google Shape;596;p46"/>
          <p:cNvSpPr/>
          <p:nvPr/>
        </p:nvSpPr>
        <p:spPr>
          <a:xfrm>
            <a:off x="0" y="1188720"/>
            <a:ext cx="10058400" cy="45720"/>
          </a:xfrm>
          <a:prstGeom prst="rect">
            <a:avLst/>
          </a:prstGeom>
          <a:solidFill>
            <a:srgbClr val="156082"/>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597" name="Google Shape;597;p46"/>
          <p:cNvSpPr/>
          <p:nvPr/>
        </p:nvSpPr>
        <p:spPr>
          <a:xfrm>
            <a:off x="502920" y="1691640"/>
            <a:ext cx="1371600" cy="420624"/>
          </a:xfrm>
          <a:prstGeom prst="rect">
            <a:avLst/>
          </a:prstGeom>
          <a:solidFill>
            <a:srgbClr val="0E2841"/>
          </a:solidFill>
          <a:ln cap="flat" cmpd="sng" w="9525">
            <a:solidFill>
              <a:srgbClr val="0E2841"/>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91425" spcFirstLastPara="1" rIns="91425" wrap="square" tIns="0">
            <a:noAutofit/>
          </a:bodyPr>
          <a:lstStyle/>
          <a:p>
            <a:pPr indent="0" lvl="0" marL="0" marR="0" rtl="0" algn="l">
              <a:spcBef>
                <a:spcPts val="0"/>
              </a:spcBef>
              <a:spcAft>
                <a:spcPts val="0"/>
              </a:spcAft>
              <a:buNone/>
            </a:pPr>
            <a:r>
              <a:rPr b="1" i="0" lang="en-US" sz="1200" u="none" cap="none" strike="noStrike">
                <a:solidFill>
                  <a:srgbClr val="FFFFFF"/>
                </a:solidFill>
                <a:latin typeface="Calibri"/>
                <a:ea typeface="Calibri"/>
                <a:cs typeface="Calibri"/>
                <a:sym typeface="Calibri"/>
              </a:rPr>
              <a:t>Layer</a:t>
            </a:r>
            <a:endParaRPr/>
          </a:p>
        </p:txBody>
      </p:sp>
      <p:sp>
        <p:nvSpPr>
          <p:cNvPr id="598" name="Google Shape;598;p46"/>
          <p:cNvSpPr/>
          <p:nvPr/>
        </p:nvSpPr>
        <p:spPr>
          <a:xfrm>
            <a:off x="1874520" y="1691640"/>
            <a:ext cx="4297680" cy="420624"/>
          </a:xfrm>
          <a:prstGeom prst="rect">
            <a:avLst/>
          </a:prstGeom>
          <a:solidFill>
            <a:srgbClr val="0E2841"/>
          </a:solidFill>
          <a:ln cap="flat" cmpd="sng" w="9525">
            <a:solidFill>
              <a:srgbClr val="0E2841"/>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91425" spcFirstLastPara="1" rIns="91425" wrap="square" tIns="0">
            <a:noAutofit/>
          </a:bodyPr>
          <a:lstStyle/>
          <a:p>
            <a:pPr indent="0" lvl="0" marL="0" marR="0" rtl="0" algn="l">
              <a:spcBef>
                <a:spcPts val="0"/>
              </a:spcBef>
              <a:spcAft>
                <a:spcPts val="0"/>
              </a:spcAft>
              <a:buNone/>
            </a:pPr>
            <a:r>
              <a:rPr b="1" i="0" lang="en-US" sz="1200" u="none" cap="none" strike="noStrike">
                <a:solidFill>
                  <a:srgbClr val="FFFFFF"/>
                </a:solidFill>
                <a:latin typeface="Calibri"/>
                <a:ea typeface="Calibri"/>
                <a:cs typeface="Calibri"/>
                <a:sym typeface="Calibri"/>
              </a:rPr>
              <a:t>Implementation</a:t>
            </a:r>
            <a:endParaRPr/>
          </a:p>
        </p:txBody>
      </p:sp>
      <p:sp>
        <p:nvSpPr>
          <p:cNvPr id="599" name="Google Shape;599;p46"/>
          <p:cNvSpPr/>
          <p:nvPr/>
        </p:nvSpPr>
        <p:spPr>
          <a:xfrm>
            <a:off x="502920" y="2112264"/>
            <a:ext cx="1371600" cy="420624"/>
          </a:xfrm>
          <a:prstGeom prst="rect">
            <a:avLst/>
          </a:prstGeom>
          <a:solidFill>
            <a:srgbClr val="FFFFFF"/>
          </a:solidFill>
          <a:ln cap="flat" cmpd="sng" w="9525">
            <a:solidFill>
              <a:srgbClr val="CDD4D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91425" spcFirstLastPara="1" rIns="91425" wrap="square" tIns="0">
            <a:noAutofit/>
          </a:bodyPr>
          <a:lstStyle/>
          <a:p>
            <a:pPr indent="0" lvl="0" marL="0" marR="0" rtl="0" algn="l">
              <a:spcBef>
                <a:spcPts val="0"/>
              </a:spcBef>
              <a:spcAft>
                <a:spcPts val="0"/>
              </a:spcAft>
              <a:buNone/>
            </a:pPr>
            <a:r>
              <a:rPr b="1" i="0" lang="en-US" sz="1200" u="none" cap="none" strike="noStrike">
                <a:solidFill>
                  <a:srgbClr val="101010"/>
                </a:solidFill>
                <a:latin typeface="Calibri"/>
                <a:ea typeface="Calibri"/>
                <a:cs typeface="Calibri"/>
                <a:sym typeface="Calibri"/>
              </a:rPr>
              <a:t>Backend</a:t>
            </a:r>
            <a:endParaRPr/>
          </a:p>
        </p:txBody>
      </p:sp>
      <p:sp>
        <p:nvSpPr>
          <p:cNvPr id="600" name="Google Shape;600;p46"/>
          <p:cNvSpPr/>
          <p:nvPr/>
        </p:nvSpPr>
        <p:spPr>
          <a:xfrm>
            <a:off x="1874520" y="2112264"/>
            <a:ext cx="4297680" cy="420624"/>
          </a:xfrm>
          <a:prstGeom prst="rect">
            <a:avLst/>
          </a:prstGeom>
          <a:solidFill>
            <a:srgbClr val="FFFFFF"/>
          </a:solidFill>
          <a:ln cap="flat" cmpd="sng" w="9525">
            <a:solidFill>
              <a:srgbClr val="CDD4D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91425" spcFirstLastPara="1" rIns="91425" wrap="square" tIns="0">
            <a:noAutofit/>
          </a:bodyPr>
          <a:lstStyle/>
          <a:p>
            <a:pPr indent="0" lvl="0" marL="0" marR="0" rtl="0" algn="l">
              <a:spcBef>
                <a:spcPts val="0"/>
              </a:spcBef>
              <a:spcAft>
                <a:spcPts val="0"/>
              </a:spcAft>
              <a:buNone/>
            </a:pPr>
            <a:r>
              <a:rPr b="0" i="0" lang="en-US" sz="1200" u="none" cap="none" strike="noStrike">
                <a:solidFill>
                  <a:srgbClr val="101010"/>
                </a:solidFill>
                <a:latin typeface="Calibri"/>
                <a:ea typeface="Calibri"/>
                <a:cs typeface="Calibri"/>
                <a:sym typeface="Calibri"/>
              </a:rPr>
              <a:t>FastAPI service, calibrated CatBoost + Platt</a:t>
            </a:r>
            <a:endParaRPr/>
          </a:p>
        </p:txBody>
      </p:sp>
      <p:sp>
        <p:nvSpPr>
          <p:cNvPr id="601" name="Google Shape;601;p46"/>
          <p:cNvSpPr/>
          <p:nvPr/>
        </p:nvSpPr>
        <p:spPr>
          <a:xfrm>
            <a:off x="502920" y="2532888"/>
            <a:ext cx="1371600" cy="420624"/>
          </a:xfrm>
          <a:prstGeom prst="rect">
            <a:avLst/>
          </a:prstGeom>
          <a:solidFill>
            <a:srgbClr val="F4F7FA"/>
          </a:solidFill>
          <a:ln cap="flat" cmpd="sng" w="9525">
            <a:solidFill>
              <a:srgbClr val="CDD4D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91425" spcFirstLastPara="1" rIns="91425" wrap="square" tIns="0">
            <a:noAutofit/>
          </a:bodyPr>
          <a:lstStyle/>
          <a:p>
            <a:pPr indent="0" lvl="0" marL="0" marR="0" rtl="0" algn="l">
              <a:spcBef>
                <a:spcPts val="0"/>
              </a:spcBef>
              <a:spcAft>
                <a:spcPts val="0"/>
              </a:spcAft>
              <a:buNone/>
            </a:pPr>
            <a:r>
              <a:rPr b="1" i="0" lang="en-US" sz="1200" u="none" cap="none" strike="noStrike">
                <a:solidFill>
                  <a:srgbClr val="101010"/>
                </a:solidFill>
                <a:latin typeface="Calibri"/>
                <a:ea typeface="Calibri"/>
                <a:cs typeface="Calibri"/>
                <a:sym typeface="Calibri"/>
              </a:rPr>
              <a:t>Frontend</a:t>
            </a:r>
            <a:endParaRPr/>
          </a:p>
        </p:txBody>
      </p:sp>
      <p:sp>
        <p:nvSpPr>
          <p:cNvPr id="602" name="Google Shape;602;p46"/>
          <p:cNvSpPr/>
          <p:nvPr/>
        </p:nvSpPr>
        <p:spPr>
          <a:xfrm>
            <a:off x="1874520" y="2532888"/>
            <a:ext cx="4297680" cy="420624"/>
          </a:xfrm>
          <a:prstGeom prst="rect">
            <a:avLst/>
          </a:prstGeom>
          <a:solidFill>
            <a:srgbClr val="F4F7FA"/>
          </a:solidFill>
          <a:ln cap="flat" cmpd="sng" w="9525">
            <a:solidFill>
              <a:srgbClr val="CDD4D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91425" spcFirstLastPara="1" rIns="91425" wrap="square" tIns="0">
            <a:noAutofit/>
          </a:bodyPr>
          <a:lstStyle/>
          <a:p>
            <a:pPr indent="0" lvl="0" marL="0" marR="0" rtl="0" algn="l">
              <a:spcBef>
                <a:spcPts val="0"/>
              </a:spcBef>
              <a:spcAft>
                <a:spcPts val="0"/>
              </a:spcAft>
              <a:buNone/>
            </a:pPr>
            <a:r>
              <a:rPr b="0" i="0" lang="en-US" sz="1200" u="none" cap="none" strike="noStrike">
                <a:solidFill>
                  <a:srgbClr val="101010"/>
                </a:solidFill>
                <a:latin typeface="Calibri"/>
                <a:ea typeface="Calibri"/>
                <a:cs typeface="Calibri"/>
                <a:sym typeface="Calibri"/>
              </a:rPr>
              <a:t>Vanilla-JS, lightweight clinic-friendly form</a:t>
            </a:r>
            <a:endParaRPr/>
          </a:p>
        </p:txBody>
      </p:sp>
      <p:sp>
        <p:nvSpPr>
          <p:cNvPr id="603" name="Google Shape;603;p46"/>
          <p:cNvSpPr/>
          <p:nvPr/>
        </p:nvSpPr>
        <p:spPr>
          <a:xfrm>
            <a:off x="502920" y="2953512"/>
            <a:ext cx="1371600" cy="420624"/>
          </a:xfrm>
          <a:prstGeom prst="rect">
            <a:avLst/>
          </a:prstGeom>
          <a:solidFill>
            <a:srgbClr val="FFFFFF"/>
          </a:solidFill>
          <a:ln cap="flat" cmpd="sng" w="9525">
            <a:solidFill>
              <a:srgbClr val="CDD4D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91425" spcFirstLastPara="1" rIns="91425" wrap="square" tIns="0">
            <a:noAutofit/>
          </a:bodyPr>
          <a:lstStyle/>
          <a:p>
            <a:pPr indent="0" lvl="0" marL="0" marR="0" rtl="0" algn="l">
              <a:spcBef>
                <a:spcPts val="0"/>
              </a:spcBef>
              <a:spcAft>
                <a:spcPts val="0"/>
              </a:spcAft>
              <a:buNone/>
            </a:pPr>
            <a:r>
              <a:rPr b="1" i="0" lang="en-US" sz="1200" u="none" cap="none" strike="noStrike">
                <a:solidFill>
                  <a:srgbClr val="101010"/>
                </a:solidFill>
                <a:latin typeface="Calibri"/>
                <a:ea typeface="Calibri"/>
                <a:cs typeface="Calibri"/>
                <a:sym typeface="Calibri"/>
              </a:rPr>
              <a:t>Inputs</a:t>
            </a:r>
            <a:endParaRPr/>
          </a:p>
        </p:txBody>
      </p:sp>
      <p:sp>
        <p:nvSpPr>
          <p:cNvPr id="604" name="Google Shape;604;p46"/>
          <p:cNvSpPr/>
          <p:nvPr/>
        </p:nvSpPr>
        <p:spPr>
          <a:xfrm>
            <a:off x="1874520" y="2953512"/>
            <a:ext cx="4297680" cy="420624"/>
          </a:xfrm>
          <a:prstGeom prst="rect">
            <a:avLst/>
          </a:prstGeom>
          <a:solidFill>
            <a:srgbClr val="FFFFFF"/>
          </a:solidFill>
          <a:ln cap="flat" cmpd="sng" w="9525">
            <a:solidFill>
              <a:srgbClr val="CDD4D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91425" spcFirstLastPara="1" rIns="91425" wrap="square" tIns="0">
            <a:noAutofit/>
          </a:bodyPr>
          <a:lstStyle/>
          <a:p>
            <a:pPr indent="0" lvl="0" marL="0" marR="0" rtl="0" algn="l">
              <a:spcBef>
                <a:spcPts val="0"/>
              </a:spcBef>
              <a:spcAft>
                <a:spcPts val="0"/>
              </a:spcAft>
              <a:buNone/>
            </a:pPr>
            <a:r>
              <a:rPr b="0" i="0" lang="en-US" sz="1200" u="none" cap="none" strike="noStrike">
                <a:solidFill>
                  <a:srgbClr val="101010"/>
                </a:solidFill>
                <a:latin typeface="Calibri"/>
                <a:ea typeface="Calibri"/>
                <a:cs typeface="Calibri"/>
                <a:sym typeface="Calibri"/>
              </a:rPr>
              <a:t>Partial fields accepted (native missingness)</a:t>
            </a:r>
            <a:endParaRPr/>
          </a:p>
        </p:txBody>
      </p:sp>
      <p:sp>
        <p:nvSpPr>
          <p:cNvPr id="605" name="Google Shape;605;p46"/>
          <p:cNvSpPr/>
          <p:nvPr/>
        </p:nvSpPr>
        <p:spPr>
          <a:xfrm>
            <a:off x="502920" y="3374136"/>
            <a:ext cx="1371600" cy="420624"/>
          </a:xfrm>
          <a:prstGeom prst="rect">
            <a:avLst/>
          </a:prstGeom>
          <a:solidFill>
            <a:srgbClr val="F4F7FA"/>
          </a:solidFill>
          <a:ln cap="flat" cmpd="sng" w="9525">
            <a:solidFill>
              <a:srgbClr val="CDD4D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91425" spcFirstLastPara="1" rIns="91425" wrap="square" tIns="0">
            <a:noAutofit/>
          </a:bodyPr>
          <a:lstStyle/>
          <a:p>
            <a:pPr indent="0" lvl="0" marL="0" marR="0" rtl="0" algn="l">
              <a:spcBef>
                <a:spcPts val="0"/>
              </a:spcBef>
              <a:spcAft>
                <a:spcPts val="0"/>
              </a:spcAft>
              <a:buNone/>
            </a:pPr>
            <a:r>
              <a:rPr b="1" i="0" lang="en-US" sz="1200" u="none" cap="none" strike="noStrike">
                <a:solidFill>
                  <a:srgbClr val="101010"/>
                </a:solidFill>
                <a:latin typeface="Calibri"/>
                <a:ea typeface="Calibri"/>
                <a:cs typeface="Calibri"/>
                <a:sym typeface="Calibri"/>
              </a:rPr>
              <a:t>Output</a:t>
            </a:r>
            <a:endParaRPr/>
          </a:p>
        </p:txBody>
      </p:sp>
      <p:sp>
        <p:nvSpPr>
          <p:cNvPr id="606" name="Google Shape;606;p46"/>
          <p:cNvSpPr/>
          <p:nvPr/>
        </p:nvSpPr>
        <p:spPr>
          <a:xfrm>
            <a:off x="1874520" y="3374136"/>
            <a:ext cx="4297680" cy="420624"/>
          </a:xfrm>
          <a:prstGeom prst="rect">
            <a:avLst/>
          </a:prstGeom>
          <a:solidFill>
            <a:srgbClr val="F4F7FA"/>
          </a:solidFill>
          <a:ln cap="flat" cmpd="sng" w="9525">
            <a:solidFill>
              <a:srgbClr val="CDD4D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91425" spcFirstLastPara="1" rIns="91425" wrap="square" tIns="0">
            <a:noAutofit/>
          </a:bodyPr>
          <a:lstStyle/>
          <a:p>
            <a:pPr indent="0" lvl="0" marL="0" marR="0" rtl="0" algn="l">
              <a:spcBef>
                <a:spcPts val="0"/>
              </a:spcBef>
              <a:spcAft>
                <a:spcPts val="0"/>
              </a:spcAft>
              <a:buNone/>
            </a:pPr>
            <a:r>
              <a:rPr b="0" i="0" lang="en-US" sz="1200" u="none" cap="none" strike="noStrike">
                <a:solidFill>
                  <a:srgbClr val="101010"/>
                </a:solidFill>
                <a:latin typeface="Calibri"/>
                <a:ea typeface="Calibri"/>
                <a:cs typeface="Calibri"/>
                <a:sym typeface="Calibri"/>
              </a:rPr>
              <a:t>Calibrated probability + risk tier + caveat note</a:t>
            </a:r>
            <a:endParaRPr/>
          </a:p>
        </p:txBody>
      </p:sp>
      <p:sp>
        <p:nvSpPr>
          <p:cNvPr id="607" name="Google Shape;607;p46"/>
          <p:cNvSpPr/>
          <p:nvPr/>
        </p:nvSpPr>
        <p:spPr>
          <a:xfrm>
            <a:off x="502920" y="3794760"/>
            <a:ext cx="1371600" cy="420624"/>
          </a:xfrm>
          <a:prstGeom prst="rect">
            <a:avLst/>
          </a:prstGeom>
          <a:solidFill>
            <a:srgbClr val="FFFFFF"/>
          </a:solidFill>
          <a:ln cap="flat" cmpd="sng" w="9525">
            <a:solidFill>
              <a:srgbClr val="CDD4D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91425" spcFirstLastPara="1" rIns="91425" wrap="square" tIns="0">
            <a:noAutofit/>
          </a:bodyPr>
          <a:lstStyle/>
          <a:p>
            <a:pPr indent="0" lvl="0" marL="0" marR="0" rtl="0" algn="l">
              <a:spcBef>
                <a:spcPts val="0"/>
              </a:spcBef>
              <a:spcAft>
                <a:spcPts val="0"/>
              </a:spcAft>
              <a:buNone/>
            </a:pPr>
            <a:r>
              <a:rPr b="1" i="0" lang="en-US" sz="1200" u="none" cap="none" strike="noStrike">
                <a:solidFill>
                  <a:srgbClr val="101010"/>
                </a:solidFill>
                <a:latin typeface="Calibri"/>
                <a:ea typeface="Calibri"/>
                <a:cs typeface="Calibri"/>
                <a:sym typeface="Calibri"/>
              </a:rPr>
              <a:t>Audience</a:t>
            </a:r>
            <a:endParaRPr/>
          </a:p>
        </p:txBody>
      </p:sp>
      <p:sp>
        <p:nvSpPr>
          <p:cNvPr id="608" name="Google Shape;608;p46"/>
          <p:cNvSpPr/>
          <p:nvPr/>
        </p:nvSpPr>
        <p:spPr>
          <a:xfrm>
            <a:off x="1874520" y="3794760"/>
            <a:ext cx="4297680" cy="420624"/>
          </a:xfrm>
          <a:prstGeom prst="rect">
            <a:avLst/>
          </a:prstGeom>
          <a:solidFill>
            <a:srgbClr val="FFFFFF"/>
          </a:solidFill>
          <a:ln cap="flat" cmpd="sng" w="9525">
            <a:solidFill>
              <a:srgbClr val="CDD4D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91425" spcFirstLastPara="1" rIns="91425" wrap="square" tIns="0">
            <a:noAutofit/>
          </a:bodyPr>
          <a:lstStyle/>
          <a:p>
            <a:pPr indent="0" lvl="0" marL="0" marR="0" rtl="0" algn="l">
              <a:spcBef>
                <a:spcPts val="0"/>
              </a:spcBef>
              <a:spcAft>
                <a:spcPts val="0"/>
              </a:spcAft>
              <a:buNone/>
            </a:pPr>
            <a:r>
              <a:rPr b="0" i="0" lang="en-US" sz="1200" u="none" cap="none" strike="noStrike">
                <a:solidFill>
                  <a:srgbClr val="101010"/>
                </a:solidFill>
                <a:latin typeface="Calibri"/>
                <a:ea typeface="Calibri"/>
                <a:cs typeface="Calibri"/>
                <a:sym typeface="Calibri"/>
              </a:rPr>
              <a:t>Physicians and community health workers</a:t>
            </a:r>
            <a:endParaRPr/>
          </a:p>
        </p:txBody>
      </p:sp>
      <p:sp>
        <p:nvSpPr>
          <p:cNvPr id="609" name="Google Shape;609;p46"/>
          <p:cNvSpPr txBox="1"/>
          <p:nvPr/>
        </p:nvSpPr>
        <p:spPr>
          <a:xfrm>
            <a:off x="502920" y="4342934"/>
            <a:ext cx="5577900" cy="1692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1" lang="en-US" sz="1100" u="none" cap="none" strike="noStrike">
                <a:solidFill>
                  <a:srgbClr val="555555"/>
                </a:solidFill>
                <a:latin typeface="Calibri"/>
                <a:ea typeface="Calibri"/>
                <a:cs typeface="Calibri"/>
                <a:sym typeface="Calibri"/>
              </a:rPr>
              <a:t>Table 12. End-to-end </a:t>
            </a:r>
            <a:r>
              <a:rPr i="1" lang="en-US" sz="1100">
                <a:solidFill>
                  <a:srgbClr val="555555"/>
                </a:solidFill>
                <a:latin typeface="Calibri"/>
                <a:ea typeface="Calibri"/>
                <a:cs typeface="Calibri"/>
                <a:sym typeface="Calibri"/>
              </a:rPr>
              <a:t>deployment stack.</a:t>
            </a:r>
            <a:endParaRPr/>
          </a:p>
        </p:txBody>
      </p:sp>
      <p:sp>
        <p:nvSpPr>
          <p:cNvPr id="610" name="Google Shape;610;p46"/>
          <p:cNvSpPr/>
          <p:nvPr/>
        </p:nvSpPr>
        <p:spPr>
          <a:xfrm>
            <a:off x="6400800" y="1691640"/>
            <a:ext cx="3429000" cy="868680"/>
          </a:xfrm>
          <a:prstGeom prst="roundRect">
            <a:avLst>
              <a:gd fmla="val 16667" name="adj"/>
            </a:avLst>
          </a:prstGeom>
          <a:solidFill>
            <a:srgbClr val="B01F1F"/>
          </a:solidFill>
          <a:ln>
            <a:noFill/>
          </a:ln>
          <a:effectLst>
            <a:outerShdw blurRad="40000" rotWithShape="0" dir="5400000" dist="23000">
              <a:srgbClr val="000000">
                <a:alpha val="34901"/>
              </a:srgbClr>
            </a:outerShdw>
          </a:effectLst>
        </p:spPr>
        <p:txBody>
          <a:bodyPr anchorCtr="0" anchor="ctr" bIns="91425" lIns="182875" spcFirstLastPara="1" rIns="91425" wrap="square" tIns="91425">
            <a:noAutofit/>
          </a:bodyPr>
          <a:lstStyle/>
          <a:p>
            <a:pPr indent="0" lvl="0" marL="0" marR="0" rtl="0" algn="ctr">
              <a:spcBef>
                <a:spcPts val="0"/>
              </a:spcBef>
              <a:spcAft>
                <a:spcPts val="0"/>
              </a:spcAft>
              <a:buNone/>
            </a:pPr>
            <a:r>
              <a:rPr b="1" i="0" lang="en-US" sz="1600" u="none" cap="none" strike="noStrike">
                <a:solidFill>
                  <a:srgbClr val="FFFFFF"/>
                </a:solidFill>
                <a:latin typeface="Calibri"/>
                <a:ea typeface="Calibri"/>
                <a:cs typeface="Calibri"/>
                <a:sym typeface="Calibri"/>
              </a:rPr>
              <a:t>Very High</a:t>
            </a:r>
            <a:endParaRPr/>
          </a:p>
          <a:p>
            <a:pPr indent="0" lvl="0" marL="0" marR="0" rtl="0" algn="ctr">
              <a:spcBef>
                <a:spcPts val="0"/>
              </a:spcBef>
              <a:spcAft>
                <a:spcPts val="0"/>
              </a:spcAft>
              <a:buNone/>
            </a:pPr>
            <a:r>
              <a:rPr lang="en-US" sz="1200">
                <a:solidFill>
                  <a:srgbClr val="FFFFFF"/>
                </a:solidFill>
                <a:latin typeface="Calibri"/>
                <a:ea typeface="Calibri"/>
                <a:cs typeface="Calibri"/>
                <a:sym typeface="Calibri"/>
              </a:rPr>
              <a:t>Likely, recommend to see physician as soon as possible for testing</a:t>
            </a:r>
            <a:endParaRPr/>
          </a:p>
        </p:txBody>
      </p:sp>
      <p:sp>
        <p:nvSpPr>
          <p:cNvPr id="611" name="Google Shape;611;p46"/>
          <p:cNvSpPr/>
          <p:nvPr/>
        </p:nvSpPr>
        <p:spPr>
          <a:xfrm>
            <a:off x="6400800" y="2651760"/>
            <a:ext cx="3429000" cy="868680"/>
          </a:xfrm>
          <a:prstGeom prst="roundRect">
            <a:avLst>
              <a:gd fmla="val 16667" name="adj"/>
            </a:avLst>
          </a:prstGeom>
          <a:solidFill>
            <a:srgbClr val="D97006"/>
          </a:solidFill>
          <a:ln>
            <a:noFill/>
          </a:ln>
          <a:effectLst>
            <a:outerShdw blurRad="40000" rotWithShape="0" dir="5400000" dist="23000">
              <a:srgbClr val="000000">
                <a:alpha val="34901"/>
              </a:srgbClr>
            </a:outerShdw>
          </a:effectLst>
        </p:spPr>
        <p:txBody>
          <a:bodyPr anchorCtr="0" anchor="ctr" bIns="91425" lIns="182875" spcFirstLastPara="1" rIns="91425" wrap="square" tIns="91425">
            <a:noAutofit/>
          </a:bodyPr>
          <a:lstStyle/>
          <a:p>
            <a:pPr indent="0" lvl="0" marL="0" marR="0" rtl="0" algn="ctr">
              <a:spcBef>
                <a:spcPts val="0"/>
              </a:spcBef>
              <a:spcAft>
                <a:spcPts val="0"/>
              </a:spcAft>
              <a:buNone/>
            </a:pPr>
            <a:r>
              <a:rPr b="1" lang="en-US" sz="1600">
                <a:solidFill>
                  <a:srgbClr val="FFFFFF"/>
                </a:solidFill>
                <a:latin typeface="Calibri"/>
                <a:ea typeface="Calibri"/>
                <a:cs typeface="Calibri"/>
                <a:sym typeface="Calibri"/>
              </a:rPr>
              <a:t>High</a:t>
            </a:r>
            <a:endParaRPr/>
          </a:p>
          <a:p>
            <a:pPr indent="0" lvl="0" marL="0" marR="0" rtl="0" algn="ctr">
              <a:spcBef>
                <a:spcPts val="0"/>
              </a:spcBef>
              <a:spcAft>
                <a:spcPts val="0"/>
              </a:spcAft>
              <a:buNone/>
            </a:pPr>
            <a:r>
              <a:rPr lang="en-US" sz="1200">
                <a:solidFill>
                  <a:srgbClr val="FFFFFF"/>
                </a:solidFill>
                <a:latin typeface="Calibri"/>
                <a:ea typeface="Calibri"/>
                <a:cs typeface="Calibri"/>
                <a:sym typeface="Calibri"/>
              </a:rPr>
              <a:t>Reasonably likely, </a:t>
            </a:r>
            <a:r>
              <a:rPr lang="en-US" sz="1200">
                <a:solidFill>
                  <a:schemeClr val="lt1"/>
                </a:solidFill>
                <a:latin typeface="Calibri"/>
                <a:ea typeface="Calibri"/>
                <a:cs typeface="Calibri"/>
                <a:sym typeface="Calibri"/>
              </a:rPr>
              <a:t>recommend to follow up with physician</a:t>
            </a:r>
            <a:endParaRPr sz="1200">
              <a:solidFill>
                <a:srgbClr val="FFFFFF"/>
              </a:solidFill>
              <a:latin typeface="Calibri"/>
              <a:ea typeface="Calibri"/>
              <a:cs typeface="Calibri"/>
              <a:sym typeface="Calibri"/>
            </a:endParaRPr>
          </a:p>
        </p:txBody>
      </p:sp>
      <p:sp>
        <p:nvSpPr>
          <p:cNvPr id="612" name="Google Shape;612;p46"/>
          <p:cNvSpPr/>
          <p:nvPr/>
        </p:nvSpPr>
        <p:spPr>
          <a:xfrm>
            <a:off x="6400800" y="3611880"/>
            <a:ext cx="3429000" cy="868680"/>
          </a:xfrm>
          <a:prstGeom prst="roundRect">
            <a:avLst>
              <a:gd fmla="val 16667" name="adj"/>
            </a:avLst>
          </a:prstGeom>
          <a:solidFill>
            <a:srgbClr val="CBA135"/>
          </a:solidFill>
          <a:ln>
            <a:noFill/>
          </a:ln>
          <a:effectLst>
            <a:outerShdw blurRad="40000" rotWithShape="0" dir="5400000" dist="23000">
              <a:srgbClr val="000000">
                <a:alpha val="34901"/>
              </a:srgbClr>
            </a:outerShdw>
          </a:effectLst>
        </p:spPr>
        <p:txBody>
          <a:bodyPr anchorCtr="0" anchor="ctr" bIns="91425" lIns="182875" spcFirstLastPara="1" rIns="91425" wrap="square" tIns="91425">
            <a:noAutofit/>
          </a:bodyPr>
          <a:lstStyle/>
          <a:p>
            <a:pPr indent="0" lvl="0" marL="0" marR="0" rtl="0" algn="ctr">
              <a:spcBef>
                <a:spcPts val="0"/>
              </a:spcBef>
              <a:spcAft>
                <a:spcPts val="0"/>
              </a:spcAft>
              <a:buNone/>
            </a:pPr>
            <a:r>
              <a:rPr b="1" lang="en-US" sz="1600">
                <a:solidFill>
                  <a:srgbClr val="FFFFFF"/>
                </a:solidFill>
                <a:latin typeface="Calibri"/>
                <a:ea typeface="Calibri"/>
                <a:cs typeface="Calibri"/>
                <a:sym typeface="Calibri"/>
              </a:rPr>
              <a:t>Moderate</a:t>
            </a:r>
            <a:endParaRPr/>
          </a:p>
          <a:p>
            <a:pPr indent="0" lvl="0" marL="0" marR="0" rtl="0" algn="ctr">
              <a:spcBef>
                <a:spcPts val="0"/>
              </a:spcBef>
              <a:spcAft>
                <a:spcPts val="0"/>
              </a:spcAft>
              <a:buNone/>
            </a:pPr>
            <a:r>
              <a:rPr lang="en-US" sz="1200">
                <a:solidFill>
                  <a:srgbClr val="FFFFFF"/>
                </a:solidFill>
                <a:latin typeface="Calibri"/>
                <a:ea typeface="Calibri"/>
                <a:cs typeface="Calibri"/>
                <a:sym typeface="Calibri"/>
              </a:rPr>
              <a:t>Unlikely, but possible to have T2D; recommend to follow up with physician</a:t>
            </a:r>
            <a:endParaRPr/>
          </a:p>
        </p:txBody>
      </p:sp>
      <p:sp>
        <p:nvSpPr>
          <p:cNvPr id="613" name="Google Shape;613;p46"/>
          <p:cNvSpPr/>
          <p:nvPr/>
        </p:nvSpPr>
        <p:spPr>
          <a:xfrm>
            <a:off x="6400800" y="4572000"/>
            <a:ext cx="3429000" cy="868680"/>
          </a:xfrm>
          <a:prstGeom prst="roundRect">
            <a:avLst>
              <a:gd fmla="val 16667" name="adj"/>
            </a:avLst>
          </a:prstGeom>
          <a:solidFill>
            <a:srgbClr val="2E7D32"/>
          </a:solidFill>
          <a:ln>
            <a:noFill/>
          </a:ln>
          <a:effectLst>
            <a:outerShdw blurRad="40000" rotWithShape="0" dir="5400000" dist="23000">
              <a:srgbClr val="000000">
                <a:alpha val="34901"/>
              </a:srgbClr>
            </a:outerShdw>
          </a:effectLst>
        </p:spPr>
        <p:txBody>
          <a:bodyPr anchorCtr="0" anchor="ctr" bIns="91425" lIns="182875" spcFirstLastPara="1" rIns="91425" wrap="square" tIns="91425">
            <a:noAutofit/>
          </a:bodyPr>
          <a:lstStyle/>
          <a:p>
            <a:pPr indent="0" lvl="0" marL="0" marR="0" rtl="0" algn="ctr">
              <a:spcBef>
                <a:spcPts val="0"/>
              </a:spcBef>
              <a:spcAft>
                <a:spcPts val="0"/>
              </a:spcAft>
              <a:buNone/>
            </a:pPr>
            <a:r>
              <a:rPr b="1" lang="en-US" sz="1600">
                <a:solidFill>
                  <a:srgbClr val="FFFFFF"/>
                </a:solidFill>
                <a:latin typeface="Calibri"/>
                <a:ea typeface="Calibri"/>
                <a:cs typeface="Calibri"/>
                <a:sym typeface="Calibri"/>
              </a:rPr>
              <a:t>Low</a:t>
            </a:r>
            <a:endParaRPr/>
          </a:p>
          <a:p>
            <a:pPr indent="0" lvl="0" marL="0" marR="0" rtl="0" algn="ctr">
              <a:spcBef>
                <a:spcPts val="0"/>
              </a:spcBef>
              <a:spcAft>
                <a:spcPts val="0"/>
              </a:spcAft>
              <a:buNone/>
            </a:pPr>
            <a:r>
              <a:rPr lang="en-US" sz="1200">
                <a:solidFill>
                  <a:srgbClr val="FFFFFF"/>
                </a:solidFill>
                <a:latin typeface="Calibri"/>
                <a:ea typeface="Calibri"/>
                <a:cs typeface="Calibri"/>
                <a:sym typeface="Calibri"/>
              </a:rPr>
              <a:t>Very unlikely to have T2D</a:t>
            </a:r>
            <a:endParaRPr/>
          </a:p>
        </p:txBody>
      </p:sp>
      <p:sp>
        <p:nvSpPr>
          <p:cNvPr id="614" name="Google Shape;614;p46"/>
          <p:cNvSpPr txBox="1"/>
          <p:nvPr/>
        </p:nvSpPr>
        <p:spPr>
          <a:xfrm>
            <a:off x="6400800" y="5635339"/>
            <a:ext cx="3429000" cy="5079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1" lang="en-US" sz="1100">
                <a:solidFill>
                  <a:srgbClr val="555555"/>
                </a:solidFill>
                <a:latin typeface="Calibri"/>
                <a:ea typeface="Calibri"/>
                <a:cs typeface="Calibri"/>
                <a:sym typeface="Calibri"/>
              </a:rPr>
              <a:t>Figure 9. Risk tiers </a:t>
            </a:r>
            <a:r>
              <a:rPr i="1" lang="en-US" sz="1100">
                <a:solidFill>
                  <a:srgbClr val="555555"/>
                </a:solidFill>
                <a:latin typeface="Calibri"/>
                <a:ea typeface="Calibri"/>
                <a:cs typeface="Calibri"/>
                <a:sym typeface="Calibri"/>
              </a:rPr>
              <a:t>and their corresponding recommendations based on likelihood of having T2D (as predicted by CatBoost model).</a:t>
            </a:r>
            <a:endParaRPr/>
          </a:p>
        </p:txBody>
      </p:sp>
      <p:sp>
        <p:nvSpPr>
          <p:cNvPr id="615" name="Google Shape;615;p46"/>
          <p:cNvSpPr/>
          <p:nvPr/>
        </p:nvSpPr>
        <p:spPr>
          <a:xfrm>
            <a:off x="502920" y="4846320"/>
            <a:ext cx="1371600" cy="365760"/>
          </a:xfrm>
          <a:prstGeom prst="rect">
            <a:avLst/>
          </a:prstGeom>
          <a:solidFill>
            <a:srgbClr val="0E2841"/>
          </a:solidFill>
          <a:ln cap="flat" cmpd="sng" w="9525">
            <a:solidFill>
              <a:srgbClr val="0E2841"/>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91425" spcFirstLastPara="1" rIns="91425" wrap="square" tIns="0">
            <a:noAutofit/>
          </a:bodyPr>
          <a:lstStyle/>
          <a:p>
            <a:pPr indent="0" lvl="0" marL="0" marR="0" rtl="0" algn="l">
              <a:spcBef>
                <a:spcPts val="0"/>
              </a:spcBef>
              <a:spcAft>
                <a:spcPts val="0"/>
              </a:spcAft>
              <a:buNone/>
            </a:pPr>
            <a:r>
              <a:rPr b="1" lang="en-US" sz="1200">
                <a:solidFill>
                  <a:srgbClr val="FFFFFF"/>
                </a:solidFill>
                <a:latin typeface="Calibri"/>
                <a:ea typeface="Calibri"/>
                <a:cs typeface="Calibri"/>
                <a:sym typeface="Calibri"/>
              </a:rPr>
              <a:t>Tier</a:t>
            </a:r>
            <a:endParaRPr/>
          </a:p>
        </p:txBody>
      </p:sp>
      <p:sp>
        <p:nvSpPr>
          <p:cNvPr id="616" name="Google Shape;616;p46"/>
          <p:cNvSpPr/>
          <p:nvPr/>
        </p:nvSpPr>
        <p:spPr>
          <a:xfrm>
            <a:off x="1874520" y="4846320"/>
            <a:ext cx="1554480" cy="365760"/>
          </a:xfrm>
          <a:prstGeom prst="rect">
            <a:avLst/>
          </a:prstGeom>
          <a:solidFill>
            <a:srgbClr val="0E2841"/>
          </a:solidFill>
          <a:ln cap="flat" cmpd="sng" w="9525">
            <a:solidFill>
              <a:srgbClr val="0E2841"/>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91425" spcFirstLastPara="1" rIns="91425" wrap="square" tIns="0">
            <a:noAutofit/>
          </a:bodyPr>
          <a:lstStyle/>
          <a:p>
            <a:pPr indent="0" lvl="0" marL="0" marR="0" rtl="0" algn="l">
              <a:spcBef>
                <a:spcPts val="0"/>
              </a:spcBef>
              <a:spcAft>
                <a:spcPts val="0"/>
              </a:spcAft>
              <a:buNone/>
            </a:pPr>
            <a:r>
              <a:rPr b="1" lang="en-US" sz="1200">
                <a:solidFill>
                  <a:srgbClr val="FFFFFF"/>
                </a:solidFill>
                <a:latin typeface="Calibri"/>
                <a:ea typeface="Calibri"/>
                <a:cs typeface="Calibri"/>
                <a:sym typeface="Calibri"/>
              </a:rPr>
              <a:t>Quantile</a:t>
            </a:r>
            <a:endParaRPr/>
          </a:p>
        </p:txBody>
      </p:sp>
      <p:sp>
        <p:nvSpPr>
          <p:cNvPr id="617" name="Google Shape;617;p46"/>
          <p:cNvSpPr/>
          <p:nvPr/>
        </p:nvSpPr>
        <p:spPr>
          <a:xfrm>
            <a:off x="3429000" y="4846320"/>
            <a:ext cx="2743200" cy="365760"/>
          </a:xfrm>
          <a:prstGeom prst="rect">
            <a:avLst/>
          </a:prstGeom>
          <a:solidFill>
            <a:srgbClr val="0E2841"/>
          </a:solidFill>
          <a:ln cap="flat" cmpd="sng" w="9525">
            <a:solidFill>
              <a:srgbClr val="0E2841"/>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91425" spcFirstLastPara="1" rIns="91425" wrap="square" tIns="0">
            <a:noAutofit/>
          </a:bodyPr>
          <a:lstStyle/>
          <a:p>
            <a:pPr indent="0" lvl="0" marL="0" marR="0" rtl="0" algn="l">
              <a:spcBef>
                <a:spcPts val="0"/>
              </a:spcBef>
              <a:spcAft>
                <a:spcPts val="0"/>
              </a:spcAft>
              <a:buNone/>
            </a:pPr>
            <a:r>
              <a:rPr b="1" lang="en-US" sz="1200">
                <a:solidFill>
                  <a:srgbClr val="FFFFFF"/>
                </a:solidFill>
                <a:latin typeface="Calibri"/>
                <a:ea typeface="Calibri"/>
                <a:cs typeface="Calibri"/>
                <a:sym typeface="Calibri"/>
              </a:rPr>
              <a:t>Calibrated probability</a:t>
            </a:r>
            <a:endParaRPr/>
          </a:p>
        </p:txBody>
      </p:sp>
      <p:sp>
        <p:nvSpPr>
          <p:cNvPr id="618" name="Google Shape;618;p46"/>
          <p:cNvSpPr/>
          <p:nvPr/>
        </p:nvSpPr>
        <p:spPr>
          <a:xfrm>
            <a:off x="502920" y="5212080"/>
            <a:ext cx="1371600" cy="365760"/>
          </a:xfrm>
          <a:prstGeom prst="rect">
            <a:avLst/>
          </a:prstGeom>
          <a:solidFill>
            <a:srgbClr val="FFFFFF"/>
          </a:solidFill>
          <a:ln cap="flat" cmpd="sng" w="9525">
            <a:solidFill>
              <a:srgbClr val="CDD4D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91425" spcFirstLastPara="1" rIns="91425" wrap="square" tIns="0">
            <a:noAutofit/>
          </a:bodyPr>
          <a:lstStyle/>
          <a:p>
            <a:pPr indent="0" lvl="0" marL="0" marR="0" rtl="0" algn="l">
              <a:spcBef>
                <a:spcPts val="0"/>
              </a:spcBef>
              <a:spcAft>
                <a:spcPts val="0"/>
              </a:spcAft>
              <a:buNone/>
            </a:pPr>
            <a:r>
              <a:rPr b="1" lang="en-US" sz="1200">
                <a:solidFill>
                  <a:srgbClr val="101010"/>
                </a:solidFill>
                <a:latin typeface="Calibri"/>
                <a:ea typeface="Calibri"/>
                <a:cs typeface="Calibri"/>
                <a:sym typeface="Calibri"/>
              </a:rPr>
              <a:t>Low</a:t>
            </a:r>
            <a:endParaRPr/>
          </a:p>
        </p:txBody>
      </p:sp>
      <p:sp>
        <p:nvSpPr>
          <p:cNvPr id="619" name="Google Shape;619;p46"/>
          <p:cNvSpPr/>
          <p:nvPr/>
        </p:nvSpPr>
        <p:spPr>
          <a:xfrm>
            <a:off x="1874520" y="5212080"/>
            <a:ext cx="1554480" cy="365760"/>
          </a:xfrm>
          <a:prstGeom prst="rect">
            <a:avLst/>
          </a:prstGeom>
          <a:solidFill>
            <a:srgbClr val="FFFFFF"/>
          </a:solidFill>
          <a:ln cap="flat" cmpd="sng" w="9525">
            <a:solidFill>
              <a:srgbClr val="CDD4D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91425" spcFirstLastPara="1" rIns="91425" wrap="square" tIns="0">
            <a:noAutofit/>
          </a:bodyPr>
          <a:lstStyle/>
          <a:p>
            <a:pPr indent="0" lvl="0" marL="0" marR="0" rtl="0" algn="l">
              <a:spcBef>
                <a:spcPts val="0"/>
              </a:spcBef>
              <a:spcAft>
                <a:spcPts val="0"/>
              </a:spcAft>
              <a:buNone/>
            </a:pPr>
            <a:r>
              <a:rPr b="0" lang="en-US" sz="1200">
                <a:solidFill>
                  <a:srgbClr val="101010"/>
                </a:solidFill>
                <a:latin typeface="Calibri"/>
                <a:ea typeface="Calibri"/>
                <a:cs typeface="Calibri"/>
                <a:sym typeface="Calibri"/>
              </a:rPr>
              <a:t>0–p50</a:t>
            </a:r>
            <a:endParaRPr/>
          </a:p>
        </p:txBody>
      </p:sp>
      <p:sp>
        <p:nvSpPr>
          <p:cNvPr id="620" name="Google Shape;620;p46"/>
          <p:cNvSpPr/>
          <p:nvPr/>
        </p:nvSpPr>
        <p:spPr>
          <a:xfrm>
            <a:off x="3429000" y="5212080"/>
            <a:ext cx="2743200" cy="365760"/>
          </a:xfrm>
          <a:prstGeom prst="rect">
            <a:avLst/>
          </a:prstGeom>
          <a:solidFill>
            <a:srgbClr val="FFFFFF"/>
          </a:solidFill>
          <a:ln cap="flat" cmpd="sng" w="9525">
            <a:solidFill>
              <a:srgbClr val="CDD4D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91425" spcFirstLastPara="1" rIns="91425" wrap="square" tIns="0">
            <a:noAutofit/>
          </a:bodyPr>
          <a:lstStyle/>
          <a:p>
            <a:pPr indent="0" lvl="0" marL="0" marR="0" rtl="0" algn="l">
              <a:spcBef>
                <a:spcPts val="0"/>
              </a:spcBef>
              <a:spcAft>
                <a:spcPts val="0"/>
              </a:spcAft>
              <a:buNone/>
            </a:pPr>
            <a:r>
              <a:rPr b="0" lang="en-US" sz="1200">
                <a:solidFill>
                  <a:srgbClr val="101010"/>
                </a:solidFill>
                <a:latin typeface="Calibri"/>
                <a:ea typeface="Calibri"/>
                <a:cs typeface="Calibri"/>
                <a:sym typeface="Calibri"/>
              </a:rPr>
              <a:t>[0.000, 0.046]</a:t>
            </a:r>
            <a:endParaRPr/>
          </a:p>
        </p:txBody>
      </p:sp>
      <p:sp>
        <p:nvSpPr>
          <p:cNvPr id="621" name="Google Shape;621;p46"/>
          <p:cNvSpPr/>
          <p:nvPr/>
        </p:nvSpPr>
        <p:spPr>
          <a:xfrm>
            <a:off x="502920" y="5577840"/>
            <a:ext cx="1371600" cy="365760"/>
          </a:xfrm>
          <a:prstGeom prst="rect">
            <a:avLst/>
          </a:prstGeom>
          <a:solidFill>
            <a:srgbClr val="F4F7FA"/>
          </a:solidFill>
          <a:ln cap="flat" cmpd="sng" w="9525">
            <a:solidFill>
              <a:srgbClr val="CDD4D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91425" spcFirstLastPara="1" rIns="91425" wrap="square" tIns="0">
            <a:noAutofit/>
          </a:bodyPr>
          <a:lstStyle/>
          <a:p>
            <a:pPr indent="0" lvl="0" marL="0" marR="0" rtl="0" algn="l">
              <a:spcBef>
                <a:spcPts val="0"/>
              </a:spcBef>
              <a:spcAft>
                <a:spcPts val="0"/>
              </a:spcAft>
              <a:buNone/>
            </a:pPr>
            <a:r>
              <a:rPr b="1" lang="en-US" sz="1200">
                <a:solidFill>
                  <a:srgbClr val="101010"/>
                </a:solidFill>
                <a:latin typeface="Calibri"/>
                <a:ea typeface="Calibri"/>
                <a:cs typeface="Calibri"/>
                <a:sym typeface="Calibri"/>
              </a:rPr>
              <a:t>Moderate</a:t>
            </a:r>
            <a:endParaRPr/>
          </a:p>
        </p:txBody>
      </p:sp>
      <p:sp>
        <p:nvSpPr>
          <p:cNvPr id="622" name="Google Shape;622;p46"/>
          <p:cNvSpPr/>
          <p:nvPr/>
        </p:nvSpPr>
        <p:spPr>
          <a:xfrm>
            <a:off x="1874520" y="5577840"/>
            <a:ext cx="1554480" cy="365760"/>
          </a:xfrm>
          <a:prstGeom prst="rect">
            <a:avLst/>
          </a:prstGeom>
          <a:solidFill>
            <a:srgbClr val="F4F7FA"/>
          </a:solidFill>
          <a:ln cap="flat" cmpd="sng" w="9525">
            <a:solidFill>
              <a:srgbClr val="CDD4D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91425" spcFirstLastPara="1" rIns="91425" wrap="square" tIns="0">
            <a:noAutofit/>
          </a:bodyPr>
          <a:lstStyle/>
          <a:p>
            <a:pPr indent="0" lvl="0" marL="0" marR="0" rtl="0" algn="l">
              <a:spcBef>
                <a:spcPts val="0"/>
              </a:spcBef>
              <a:spcAft>
                <a:spcPts val="0"/>
              </a:spcAft>
              <a:buNone/>
            </a:pPr>
            <a:r>
              <a:rPr b="0" lang="en-US" sz="1200">
                <a:solidFill>
                  <a:srgbClr val="101010"/>
                </a:solidFill>
                <a:latin typeface="Calibri"/>
                <a:ea typeface="Calibri"/>
                <a:cs typeface="Calibri"/>
                <a:sym typeface="Calibri"/>
              </a:rPr>
              <a:t>p50–p80</a:t>
            </a:r>
            <a:endParaRPr/>
          </a:p>
        </p:txBody>
      </p:sp>
      <p:sp>
        <p:nvSpPr>
          <p:cNvPr id="623" name="Google Shape;623;p46"/>
          <p:cNvSpPr/>
          <p:nvPr/>
        </p:nvSpPr>
        <p:spPr>
          <a:xfrm>
            <a:off x="3429000" y="5577840"/>
            <a:ext cx="2743200" cy="365760"/>
          </a:xfrm>
          <a:prstGeom prst="rect">
            <a:avLst/>
          </a:prstGeom>
          <a:solidFill>
            <a:srgbClr val="F4F7FA"/>
          </a:solidFill>
          <a:ln cap="flat" cmpd="sng" w="9525">
            <a:solidFill>
              <a:srgbClr val="CDD4D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91425" spcFirstLastPara="1" rIns="91425" wrap="square" tIns="0">
            <a:noAutofit/>
          </a:bodyPr>
          <a:lstStyle/>
          <a:p>
            <a:pPr indent="0" lvl="0" marL="0" marR="0" rtl="0" algn="l">
              <a:spcBef>
                <a:spcPts val="0"/>
              </a:spcBef>
              <a:spcAft>
                <a:spcPts val="0"/>
              </a:spcAft>
              <a:buNone/>
            </a:pPr>
            <a:r>
              <a:rPr b="0" lang="en-US" sz="1200">
                <a:solidFill>
                  <a:srgbClr val="101010"/>
                </a:solidFill>
                <a:latin typeface="Calibri"/>
                <a:ea typeface="Calibri"/>
                <a:cs typeface="Calibri"/>
                <a:sym typeface="Calibri"/>
              </a:rPr>
              <a:t>(0.046, 0.138]</a:t>
            </a:r>
            <a:endParaRPr/>
          </a:p>
        </p:txBody>
      </p:sp>
      <p:sp>
        <p:nvSpPr>
          <p:cNvPr id="624" name="Google Shape;624;p46"/>
          <p:cNvSpPr/>
          <p:nvPr/>
        </p:nvSpPr>
        <p:spPr>
          <a:xfrm>
            <a:off x="502920" y="5943600"/>
            <a:ext cx="1371600" cy="365760"/>
          </a:xfrm>
          <a:prstGeom prst="rect">
            <a:avLst/>
          </a:prstGeom>
          <a:solidFill>
            <a:srgbClr val="FFFFFF"/>
          </a:solidFill>
          <a:ln cap="flat" cmpd="sng" w="9525">
            <a:solidFill>
              <a:srgbClr val="CDD4D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91425" spcFirstLastPara="1" rIns="91425" wrap="square" tIns="0">
            <a:noAutofit/>
          </a:bodyPr>
          <a:lstStyle/>
          <a:p>
            <a:pPr indent="0" lvl="0" marL="0" marR="0" rtl="0" algn="l">
              <a:spcBef>
                <a:spcPts val="0"/>
              </a:spcBef>
              <a:spcAft>
                <a:spcPts val="0"/>
              </a:spcAft>
              <a:buNone/>
            </a:pPr>
            <a:r>
              <a:rPr b="1" lang="en-US" sz="1200">
                <a:solidFill>
                  <a:srgbClr val="101010"/>
                </a:solidFill>
                <a:latin typeface="Calibri"/>
                <a:ea typeface="Calibri"/>
                <a:cs typeface="Calibri"/>
                <a:sym typeface="Calibri"/>
              </a:rPr>
              <a:t>High</a:t>
            </a:r>
            <a:endParaRPr/>
          </a:p>
        </p:txBody>
      </p:sp>
      <p:sp>
        <p:nvSpPr>
          <p:cNvPr id="625" name="Google Shape;625;p46"/>
          <p:cNvSpPr/>
          <p:nvPr/>
        </p:nvSpPr>
        <p:spPr>
          <a:xfrm>
            <a:off x="1874520" y="5943600"/>
            <a:ext cx="1554480" cy="365760"/>
          </a:xfrm>
          <a:prstGeom prst="rect">
            <a:avLst/>
          </a:prstGeom>
          <a:solidFill>
            <a:srgbClr val="FFFFFF"/>
          </a:solidFill>
          <a:ln cap="flat" cmpd="sng" w="9525">
            <a:solidFill>
              <a:srgbClr val="CDD4D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91425" spcFirstLastPara="1" rIns="91425" wrap="square" tIns="0">
            <a:noAutofit/>
          </a:bodyPr>
          <a:lstStyle/>
          <a:p>
            <a:pPr indent="0" lvl="0" marL="0" marR="0" rtl="0" algn="l">
              <a:spcBef>
                <a:spcPts val="0"/>
              </a:spcBef>
              <a:spcAft>
                <a:spcPts val="0"/>
              </a:spcAft>
              <a:buNone/>
            </a:pPr>
            <a:r>
              <a:rPr b="0" lang="en-US" sz="1200">
                <a:solidFill>
                  <a:srgbClr val="101010"/>
                </a:solidFill>
                <a:latin typeface="Calibri"/>
                <a:ea typeface="Calibri"/>
                <a:cs typeface="Calibri"/>
                <a:sym typeface="Calibri"/>
              </a:rPr>
              <a:t>p80–p95</a:t>
            </a:r>
            <a:endParaRPr/>
          </a:p>
        </p:txBody>
      </p:sp>
      <p:sp>
        <p:nvSpPr>
          <p:cNvPr id="626" name="Google Shape;626;p46"/>
          <p:cNvSpPr/>
          <p:nvPr/>
        </p:nvSpPr>
        <p:spPr>
          <a:xfrm>
            <a:off x="3429000" y="5943600"/>
            <a:ext cx="2743200" cy="365760"/>
          </a:xfrm>
          <a:prstGeom prst="rect">
            <a:avLst/>
          </a:prstGeom>
          <a:solidFill>
            <a:srgbClr val="FFFFFF"/>
          </a:solidFill>
          <a:ln cap="flat" cmpd="sng" w="9525">
            <a:solidFill>
              <a:srgbClr val="CDD4D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91425" spcFirstLastPara="1" rIns="91425" wrap="square" tIns="0">
            <a:noAutofit/>
          </a:bodyPr>
          <a:lstStyle/>
          <a:p>
            <a:pPr indent="0" lvl="0" marL="0" marR="0" rtl="0" algn="l">
              <a:spcBef>
                <a:spcPts val="0"/>
              </a:spcBef>
              <a:spcAft>
                <a:spcPts val="0"/>
              </a:spcAft>
              <a:buNone/>
            </a:pPr>
            <a:r>
              <a:rPr b="0" lang="en-US" sz="1200">
                <a:solidFill>
                  <a:srgbClr val="101010"/>
                </a:solidFill>
                <a:latin typeface="Calibri"/>
                <a:ea typeface="Calibri"/>
                <a:cs typeface="Calibri"/>
                <a:sym typeface="Calibri"/>
              </a:rPr>
              <a:t>(0.138, 0.261]</a:t>
            </a:r>
            <a:endParaRPr/>
          </a:p>
        </p:txBody>
      </p:sp>
      <p:sp>
        <p:nvSpPr>
          <p:cNvPr id="627" name="Google Shape;627;p46"/>
          <p:cNvSpPr/>
          <p:nvPr/>
        </p:nvSpPr>
        <p:spPr>
          <a:xfrm>
            <a:off x="502920" y="6309360"/>
            <a:ext cx="1371600" cy="365760"/>
          </a:xfrm>
          <a:prstGeom prst="rect">
            <a:avLst/>
          </a:prstGeom>
          <a:solidFill>
            <a:srgbClr val="F4F7FA"/>
          </a:solidFill>
          <a:ln cap="flat" cmpd="sng" w="9525">
            <a:solidFill>
              <a:srgbClr val="CDD4D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91425" spcFirstLastPara="1" rIns="91425" wrap="square" tIns="0">
            <a:noAutofit/>
          </a:bodyPr>
          <a:lstStyle/>
          <a:p>
            <a:pPr indent="0" lvl="0" marL="0" marR="0" rtl="0" algn="l">
              <a:spcBef>
                <a:spcPts val="0"/>
              </a:spcBef>
              <a:spcAft>
                <a:spcPts val="0"/>
              </a:spcAft>
              <a:buNone/>
            </a:pPr>
            <a:r>
              <a:rPr b="1" lang="en-US" sz="1200">
                <a:solidFill>
                  <a:srgbClr val="101010"/>
                </a:solidFill>
                <a:latin typeface="Calibri"/>
                <a:ea typeface="Calibri"/>
                <a:cs typeface="Calibri"/>
                <a:sym typeface="Calibri"/>
              </a:rPr>
              <a:t>Very High</a:t>
            </a:r>
            <a:endParaRPr/>
          </a:p>
        </p:txBody>
      </p:sp>
      <p:sp>
        <p:nvSpPr>
          <p:cNvPr id="628" name="Google Shape;628;p46"/>
          <p:cNvSpPr/>
          <p:nvPr/>
        </p:nvSpPr>
        <p:spPr>
          <a:xfrm>
            <a:off x="1874520" y="6309360"/>
            <a:ext cx="1554480" cy="365760"/>
          </a:xfrm>
          <a:prstGeom prst="rect">
            <a:avLst/>
          </a:prstGeom>
          <a:solidFill>
            <a:srgbClr val="F4F7FA"/>
          </a:solidFill>
          <a:ln cap="flat" cmpd="sng" w="9525">
            <a:solidFill>
              <a:srgbClr val="CDD4D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91425" spcFirstLastPara="1" rIns="91425" wrap="square" tIns="0">
            <a:noAutofit/>
          </a:bodyPr>
          <a:lstStyle/>
          <a:p>
            <a:pPr indent="0" lvl="0" marL="0" marR="0" rtl="0" algn="l">
              <a:spcBef>
                <a:spcPts val="0"/>
              </a:spcBef>
              <a:spcAft>
                <a:spcPts val="0"/>
              </a:spcAft>
              <a:buNone/>
            </a:pPr>
            <a:r>
              <a:rPr b="0" lang="en-US" sz="1200">
                <a:solidFill>
                  <a:srgbClr val="101010"/>
                </a:solidFill>
                <a:latin typeface="Calibri"/>
                <a:ea typeface="Calibri"/>
                <a:cs typeface="Calibri"/>
                <a:sym typeface="Calibri"/>
              </a:rPr>
              <a:t>p95+</a:t>
            </a:r>
            <a:endParaRPr/>
          </a:p>
        </p:txBody>
      </p:sp>
      <p:sp>
        <p:nvSpPr>
          <p:cNvPr id="629" name="Google Shape;629;p46"/>
          <p:cNvSpPr/>
          <p:nvPr/>
        </p:nvSpPr>
        <p:spPr>
          <a:xfrm>
            <a:off x="3429000" y="6309360"/>
            <a:ext cx="2743200" cy="365760"/>
          </a:xfrm>
          <a:prstGeom prst="rect">
            <a:avLst/>
          </a:prstGeom>
          <a:solidFill>
            <a:srgbClr val="F4F7FA"/>
          </a:solidFill>
          <a:ln cap="flat" cmpd="sng" w="9525">
            <a:solidFill>
              <a:srgbClr val="CDD4D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91425" spcFirstLastPara="1" rIns="91425" wrap="square" tIns="0">
            <a:noAutofit/>
          </a:bodyPr>
          <a:lstStyle/>
          <a:p>
            <a:pPr indent="0" lvl="0" marL="0" marR="0" rtl="0" algn="l">
              <a:spcBef>
                <a:spcPts val="0"/>
              </a:spcBef>
              <a:spcAft>
                <a:spcPts val="0"/>
              </a:spcAft>
              <a:buNone/>
            </a:pPr>
            <a:r>
              <a:rPr b="0" lang="en-US" sz="1200">
                <a:solidFill>
                  <a:srgbClr val="101010"/>
                </a:solidFill>
                <a:latin typeface="Calibri"/>
                <a:ea typeface="Calibri"/>
                <a:cs typeface="Calibri"/>
                <a:sym typeface="Calibri"/>
              </a:rPr>
              <a:t>(0.261, 1.000]</a:t>
            </a:r>
            <a:endParaRPr/>
          </a:p>
        </p:txBody>
      </p:sp>
      <p:sp>
        <p:nvSpPr>
          <p:cNvPr id="630" name="Google Shape;630;p46"/>
          <p:cNvSpPr txBox="1"/>
          <p:nvPr/>
        </p:nvSpPr>
        <p:spPr>
          <a:xfrm>
            <a:off x="502920" y="6810882"/>
            <a:ext cx="5577900" cy="1692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1" lang="en-US" sz="1100">
                <a:solidFill>
                  <a:srgbClr val="555555"/>
                </a:solidFill>
                <a:latin typeface="Calibri"/>
                <a:ea typeface="Calibri"/>
                <a:cs typeface="Calibri"/>
                <a:sym typeface="Calibri"/>
              </a:rPr>
              <a:t>Table 13. Tier boundaries derived from test-set quantiles of the calibrated probability.</a:t>
            </a:r>
            <a:endParaRPr/>
          </a:p>
        </p:txBody>
      </p:sp>
      <p:sp>
        <p:nvSpPr>
          <p:cNvPr id="631" name="Google Shape;631;p46"/>
          <p:cNvSpPr txBox="1"/>
          <p:nvPr/>
        </p:nvSpPr>
        <p:spPr>
          <a:xfrm>
            <a:off x="411480" y="7479792"/>
            <a:ext cx="6400800" cy="256032"/>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00">
                <a:solidFill>
                  <a:srgbClr val="555555"/>
                </a:solidFill>
                <a:latin typeface="Calibri"/>
                <a:ea typeface="Calibri"/>
                <a:cs typeface="Calibri"/>
                <a:sym typeface="Calibri"/>
              </a:rPr>
              <a:t>Team 3c  ·  CDS-492 Capstone  ·  Spring 2026</a:t>
            </a:r>
            <a:endParaRPr/>
          </a:p>
        </p:txBody>
      </p:sp>
      <p:sp>
        <p:nvSpPr>
          <p:cNvPr id="632" name="Google Shape;632;p46"/>
          <p:cNvSpPr txBox="1"/>
          <p:nvPr/>
        </p:nvSpPr>
        <p:spPr>
          <a:xfrm>
            <a:off x="8686800" y="7479792"/>
            <a:ext cx="1005840" cy="256032"/>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i="0" lang="en-US" sz="1000">
                <a:solidFill>
                  <a:srgbClr val="555555"/>
                </a:solidFill>
                <a:latin typeface="Calibri"/>
                <a:ea typeface="Calibri"/>
                <a:cs typeface="Calibri"/>
                <a:sym typeface="Calibri"/>
              </a:rPr>
              <a:t>14 / 16</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6" name="Shape 636"/>
        <p:cNvGrpSpPr/>
        <p:nvPr/>
      </p:nvGrpSpPr>
      <p:grpSpPr>
        <a:xfrm>
          <a:off x="0" y="0"/>
          <a:ext cx="0" cy="0"/>
          <a:chOff x="0" y="0"/>
          <a:chExt cx="0" cy="0"/>
        </a:xfrm>
      </p:grpSpPr>
      <p:sp>
        <p:nvSpPr>
          <p:cNvPr id="637" name="Google Shape;637;p47"/>
          <p:cNvSpPr/>
          <p:nvPr/>
        </p:nvSpPr>
        <p:spPr>
          <a:xfrm>
            <a:off x="0" y="0"/>
            <a:ext cx="10058400" cy="1188720"/>
          </a:xfrm>
          <a:prstGeom prst="rect">
            <a:avLst/>
          </a:prstGeom>
          <a:solidFill>
            <a:srgbClr val="0E2841"/>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38" name="Google Shape;638;p47"/>
          <p:cNvSpPr txBox="1"/>
          <p:nvPr/>
        </p:nvSpPr>
        <p:spPr>
          <a:xfrm>
            <a:off x="411445" y="286567"/>
            <a:ext cx="9144000" cy="6156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4000">
                <a:solidFill>
                  <a:srgbClr val="FFFFFF"/>
                </a:solidFill>
                <a:latin typeface="Calibri"/>
                <a:ea typeface="Calibri"/>
                <a:cs typeface="Calibri"/>
                <a:sym typeface="Calibri"/>
              </a:rPr>
              <a:t>Limitations &amp; Potential Solutions</a:t>
            </a:r>
            <a:endParaRPr sz="4000"/>
          </a:p>
        </p:txBody>
      </p:sp>
      <p:sp>
        <p:nvSpPr>
          <p:cNvPr id="639" name="Google Shape;639;p47"/>
          <p:cNvSpPr/>
          <p:nvPr/>
        </p:nvSpPr>
        <p:spPr>
          <a:xfrm>
            <a:off x="0" y="1188720"/>
            <a:ext cx="10058400" cy="45600"/>
          </a:xfrm>
          <a:prstGeom prst="rect">
            <a:avLst/>
          </a:prstGeom>
          <a:solidFill>
            <a:srgbClr val="156082"/>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40" name="Google Shape;640;p47"/>
          <p:cNvSpPr/>
          <p:nvPr/>
        </p:nvSpPr>
        <p:spPr>
          <a:xfrm>
            <a:off x="617063" y="1595087"/>
            <a:ext cx="3749100" cy="572700"/>
          </a:xfrm>
          <a:prstGeom prst="rect">
            <a:avLst/>
          </a:prstGeom>
          <a:solidFill>
            <a:srgbClr val="0E2841"/>
          </a:solidFill>
          <a:ln cap="flat" cmpd="sng" w="10850">
            <a:solidFill>
              <a:srgbClr val="0E2841"/>
            </a:solidFill>
            <a:prstDash val="solid"/>
            <a:round/>
            <a:headEnd len="sm" w="sm" type="none"/>
            <a:tailEnd len="sm" w="sm" type="none"/>
          </a:ln>
          <a:effectLst>
            <a:outerShdw blurRad="45557" rotWithShape="0" dir="5400000" dist="26195">
              <a:srgbClr val="000000">
                <a:alpha val="34901"/>
              </a:srgbClr>
            </a:outerShdw>
          </a:effectLst>
        </p:spPr>
        <p:txBody>
          <a:bodyPr anchorCtr="0" anchor="ctr" bIns="0" lIns="104125" spcFirstLastPara="1" rIns="104125" wrap="square" tIns="0">
            <a:noAutofit/>
          </a:bodyPr>
          <a:lstStyle/>
          <a:p>
            <a:pPr indent="0" lvl="0" marL="0" marR="0" rtl="0" algn="l">
              <a:spcBef>
                <a:spcPts val="0"/>
              </a:spcBef>
              <a:spcAft>
                <a:spcPts val="0"/>
              </a:spcAft>
              <a:buNone/>
            </a:pPr>
            <a:r>
              <a:rPr b="1" lang="en-US" sz="1367">
                <a:solidFill>
                  <a:srgbClr val="FFFFFF"/>
                </a:solidFill>
                <a:latin typeface="Calibri"/>
                <a:ea typeface="Calibri"/>
                <a:cs typeface="Calibri"/>
                <a:sym typeface="Calibri"/>
              </a:rPr>
              <a:t>Limitation</a:t>
            </a:r>
            <a:endParaRPr sz="1595"/>
          </a:p>
        </p:txBody>
      </p:sp>
      <p:sp>
        <p:nvSpPr>
          <p:cNvPr id="641" name="Google Shape;641;p47"/>
          <p:cNvSpPr/>
          <p:nvPr/>
        </p:nvSpPr>
        <p:spPr>
          <a:xfrm>
            <a:off x="4366246" y="1595099"/>
            <a:ext cx="4983600" cy="572700"/>
          </a:xfrm>
          <a:prstGeom prst="rect">
            <a:avLst/>
          </a:prstGeom>
          <a:solidFill>
            <a:srgbClr val="0E2841"/>
          </a:solidFill>
          <a:ln cap="flat" cmpd="sng" w="10850">
            <a:solidFill>
              <a:srgbClr val="0E2841"/>
            </a:solidFill>
            <a:prstDash val="solid"/>
            <a:round/>
            <a:headEnd len="sm" w="sm" type="none"/>
            <a:tailEnd len="sm" w="sm" type="none"/>
          </a:ln>
          <a:effectLst>
            <a:outerShdw blurRad="45557" rotWithShape="0" dir="5400000" dist="26195">
              <a:srgbClr val="000000">
                <a:alpha val="34901"/>
              </a:srgbClr>
            </a:outerShdw>
          </a:effectLst>
        </p:spPr>
        <p:txBody>
          <a:bodyPr anchorCtr="0" anchor="ctr" bIns="0" lIns="104125" spcFirstLastPara="1" rIns="104125" wrap="square" tIns="0">
            <a:noAutofit/>
          </a:bodyPr>
          <a:lstStyle/>
          <a:p>
            <a:pPr indent="0" lvl="0" marL="0" marR="0" rtl="0" algn="l">
              <a:spcBef>
                <a:spcPts val="0"/>
              </a:spcBef>
              <a:spcAft>
                <a:spcPts val="0"/>
              </a:spcAft>
              <a:buNone/>
            </a:pPr>
            <a:r>
              <a:rPr b="1" lang="en-US" sz="1367">
                <a:solidFill>
                  <a:srgbClr val="FFFFFF"/>
                </a:solidFill>
                <a:latin typeface="Calibri"/>
                <a:ea typeface="Calibri"/>
                <a:cs typeface="Calibri"/>
                <a:sym typeface="Calibri"/>
              </a:rPr>
              <a:t>Possible</a:t>
            </a:r>
            <a:r>
              <a:rPr b="1" lang="en-US" sz="1367">
                <a:solidFill>
                  <a:srgbClr val="FFFFFF"/>
                </a:solidFill>
                <a:latin typeface="Calibri"/>
                <a:ea typeface="Calibri"/>
                <a:cs typeface="Calibri"/>
                <a:sym typeface="Calibri"/>
              </a:rPr>
              <a:t> future work</a:t>
            </a:r>
            <a:endParaRPr sz="1595"/>
          </a:p>
        </p:txBody>
      </p:sp>
      <p:sp>
        <p:nvSpPr>
          <p:cNvPr id="642" name="Google Shape;642;p47"/>
          <p:cNvSpPr/>
          <p:nvPr/>
        </p:nvSpPr>
        <p:spPr>
          <a:xfrm>
            <a:off x="617063" y="2167877"/>
            <a:ext cx="3749100" cy="572700"/>
          </a:xfrm>
          <a:prstGeom prst="rect">
            <a:avLst/>
          </a:prstGeom>
          <a:solidFill>
            <a:srgbClr val="FFFFFF"/>
          </a:solidFill>
          <a:ln cap="flat" cmpd="sng" w="10850">
            <a:solidFill>
              <a:srgbClr val="CDD4DC"/>
            </a:solidFill>
            <a:prstDash val="solid"/>
            <a:round/>
            <a:headEnd len="sm" w="sm" type="none"/>
            <a:tailEnd len="sm" w="sm" type="none"/>
          </a:ln>
          <a:effectLst>
            <a:outerShdw blurRad="45557" rotWithShape="0" dir="5400000" dist="26195">
              <a:srgbClr val="000000">
                <a:alpha val="34901"/>
              </a:srgbClr>
            </a:outerShdw>
          </a:effectLst>
        </p:spPr>
        <p:txBody>
          <a:bodyPr anchorCtr="0" anchor="ctr" bIns="0" lIns="104125" spcFirstLastPara="1" rIns="104125" wrap="square" tIns="0">
            <a:noAutofit/>
          </a:bodyPr>
          <a:lstStyle/>
          <a:p>
            <a:pPr indent="0" lvl="0" marL="0" marR="0" rtl="0" algn="l">
              <a:spcBef>
                <a:spcPts val="0"/>
              </a:spcBef>
              <a:spcAft>
                <a:spcPts val="0"/>
              </a:spcAft>
              <a:buNone/>
            </a:pPr>
            <a:r>
              <a:rPr b="1" lang="en-US" sz="1367">
                <a:solidFill>
                  <a:srgbClr val="101010"/>
                </a:solidFill>
                <a:latin typeface="Calibri"/>
                <a:ea typeface="Calibri"/>
                <a:cs typeface="Calibri"/>
                <a:sym typeface="Calibri"/>
              </a:rPr>
              <a:t>Korean-only training cohort</a:t>
            </a:r>
            <a:endParaRPr sz="1595"/>
          </a:p>
        </p:txBody>
      </p:sp>
      <p:sp>
        <p:nvSpPr>
          <p:cNvPr id="643" name="Google Shape;643;p47"/>
          <p:cNvSpPr/>
          <p:nvPr/>
        </p:nvSpPr>
        <p:spPr>
          <a:xfrm>
            <a:off x="4366246" y="2167887"/>
            <a:ext cx="4983600" cy="572700"/>
          </a:xfrm>
          <a:prstGeom prst="rect">
            <a:avLst/>
          </a:prstGeom>
          <a:solidFill>
            <a:srgbClr val="FFFFFF"/>
          </a:solidFill>
          <a:ln cap="flat" cmpd="sng" w="10850">
            <a:solidFill>
              <a:srgbClr val="CDD4DC"/>
            </a:solidFill>
            <a:prstDash val="solid"/>
            <a:round/>
            <a:headEnd len="sm" w="sm" type="none"/>
            <a:tailEnd len="sm" w="sm" type="none"/>
          </a:ln>
          <a:effectLst>
            <a:outerShdw blurRad="45557" rotWithShape="0" dir="5400000" dist="26195">
              <a:srgbClr val="000000">
                <a:alpha val="34901"/>
              </a:srgbClr>
            </a:outerShdw>
          </a:effectLst>
        </p:spPr>
        <p:txBody>
          <a:bodyPr anchorCtr="0" anchor="ctr" bIns="0" lIns="104125" spcFirstLastPara="1" rIns="104125" wrap="square" tIns="0">
            <a:noAutofit/>
          </a:bodyPr>
          <a:lstStyle/>
          <a:p>
            <a:pPr indent="0" lvl="0" marL="0" marR="0" rtl="0" algn="l">
              <a:spcBef>
                <a:spcPts val="0"/>
              </a:spcBef>
              <a:spcAft>
                <a:spcPts val="0"/>
              </a:spcAft>
              <a:buNone/>
            </a:pPr>
            <a:r>
              <a:rPr b="0" lang="en-US" sz="1367">
                <a:solidFill>
                  <a:srgbClr val="101010"/>
                </a:solidFill>
                <a:latin typeface="Calibri"/>
                <a:ea typeface="Calibri"/>
                <a:cs typeface="Calibri"/>
                <a:sym typeface="Calibri"/>
              </a:rPr>
              <a:t>Multi-cohort external validation (Japan, UK, US datasets)</a:t>
            </a:r>
            <a:endParaRPr sz="1595"/>
          </a:p>
        </p:txBody>
      </p:sp>
      <p:sp>
        <p:nvSpPr>
          <p:cNvPr id="644" name="Google Shape;644;p47"/>
          <p:cNvSpPr/>
          <p:nvPr/>
        </p:nvSpPr>
        <p:spPr>
          <a:xfrm>
            <a:off x="617063" y="2740667"/>
            <a:ext cx="3749100" cy="572700"/>
          </a:xfrm>
          <a:prstGeom prst="rect">
            <a:avLst/>
          </a:prstGeom>
          <a:solidFill>
            <a:srgbClr val="F4F7FA"/>
          </a:solidFill>
          <a:ln cap="flat" cmpd="sng" w="10850">
            <a:solidFill>
              <a:srgbClr val="CDD4DC"/>
            </a:solidFill>
            <a:prstDash val="solid"/>
            <a:round/>
            <a:headEnd len="sm" w="sm" type="none"/>
            <a:tailEnd len="sm" w="sm" type="none"/>
          </a:ln>
          <a:effectLst>
            <a:outerShdw blurRad="45557" rotWithShape="0" dir="5400000" dist="26195">
              <a:srgbClr val="000000">
                <a:alpha val="34901"/>
              </a:srgbClr>
            </a:outerShdw>
          </a:effectLst>
        </p:spPr>
        <p:txBody>
          <a:bodyPr anchorCtr="0" anchor="ctr" bIns="0" lIns="104125" spcFirstLastPara="1" rIns="104125" wrap="square" tIns="0">
            <a:noAutofit/>
          </a:bodyPr>
          <a:lstStyle/>
          <a:p>
            <a:pPr indent="0" lvl="0" marL="0" marR="0" rtl="0" algn="l">
              <a:spcBef>
                <a:spcPts val="0"/>
              </a:spcBef>
              <a:spcAft>
                <a:spcPts val="0"/>
              </a:spcAft>
              <a:buNone/>
            </a:pPr>
            <a:r>
              <a:rPr b="1" lang="en-US" sz="1367">
                <a:solidFill>
                  <a:srgbClr val="101010"/>
                </a:solidFill>
                <a:latin typeface="Calibri"/>
                <a:ea typeface="Calibri"/>
                <a:cs typeface="Calibri"/>
                <a:sym typeface="Calibri"/>
              </a:rPr>
              <a:t>FPG-only proxy label</a:t>
            </a:r>
            <a:endParaRPr sz="1595"/>
          </a:p>
        </p:txBody>
      </p:sp>
      <p:sp>
        <p:nvSpPr>
          <p:cNvPr id="645" name="Google Shape;645;p47"/>
          <p:cNvSpPr/>
          <p:nvPr/>
        </p:nvSpPr>
        <p:spPr>
          <a:xfrm>
            <a:off x="4366246" y="2740675"/>
            <a:ext cx="4983600" cy="572700"/>
          </a:xfrm>
          <a:prstGeom prst="rect">
            <a:avLst/>
          </a:prstGeom>
          <a:solidFill>
            <a:srgbClr val="F4F7FA"/>
          </a:solidFill>
          <a:ln cap="flat" cmpd="sng" w="10850">
            <a:solidFill>
              <a:srgbClr val="CDD4DC"/>
            </a:solidFill>
            <a:prstDash val="solid"/>
            <a:round/>
            <a:headEnd len="sm" w="sm" type="none"/>
            <a:tailEnd len="sm" w="sm" type="none"/>
          </a:ln>
          <a:effectLst>
            <a:outerShdw blurRad="45557" rotWithShape="0" dir="5400000" dist="26195">
              <a:srgbClr val="000000">
                <a:alpha val="34901"/>
              </a:srgbClr>
            </a:outerShdw>
          </a:effectLst>
        </p:spPr>
        <p:txBody>
          <a:bodyPr anchorCtr="0" anchor="ctr" bIns="0" lIns="104125" spcFirstLastPara="1" rIns="104125" wrap="square" tIns="0">
            <a:noAutofit/>
          </a:bodyPr>
          <a:lstStyle/>
          <a:p>
            <a:pPr indent="0" lvl="0" marL="0" marR="0" rtl="0" algn="l">
              <a:spcBef>
                <a:spcPts val="0"/>
              </a:spcBef>
              <a:spcAft>
                <a:spcPts val="0"/>
              </a:spcAft>
              <a:buNone/>
            </a:pPr>
            <a:r>
              <a:rPr b="0" lang="en-US" sz="1367">
                <a:solidFill>
                  <a:srgbClr val="101010"/>
                </a:solidFill>
                <a:latin typeface="Calibri"/>
                <a:ea typeface="Calibri"/>
                <a:cs typeface="Calibri"/>
                <a:sym typeface="Calibri"/>
              </a:rPr>
              <a:t>Add HbA1c when available; treat known-T2D records separately</a:t>
            </a:r>
            <a:endParaRPr sz="1595"/>
          </a:p>
        </p:txBody>
      </p:sp>
      <p:sp>
        <p:nvSpPr>
          <p:cNvPr id="646" name="Google Shape;646;p47"/>
          <p:cNvSpPr/>
          <p:nvPr/>
        </p:nvSpPr>
        <p:spPr>
          <a:xfrm>
            <a:off x="617063" y="3313456"/>
            <a:ext cx="3749100" cy="572700"/>
          </a:xfrm>
          <a:prstGeom prst="rect">
            <a:avLst/>
          </a:prstGeom>
          <a:solidFill>
            <a:srgbClr val="FFFFFF"/>
          </a:solidFill>
          <a:ln cap="flat" cmpd="sng" w="10850">
            <a:solidFill>
              <a:srgbClr val="CDD4DC"/>
            </a:solidFill>
            <a:prstDash val="solid"/>
            <a:round/>
            <a:headEnd len="sm" w="sm" type="none"/>
            <a:tailEnd len="sm" w="sm" type="none"/>
          </a:ln>
          <a:effectLst>
            <a:outerShdw blurRad="45557" rotWithShape="0" dir="5400000" dist="26195">
              <a:srgbClr val="000000">
                <a:alpha val="34901"/>
              </a:srgbClr>
            </a:outerShdw>
          </a:effectLst>
        </p:spPr>
        <p:txBody>
          <a:bodyPr anchorCtr="0" anchor="ctr" bIns="0" lIns="104125" spcFirstLastPara="1" rIns="104125" wrap="square" tIns="0">
            <a:noAutofit/>
          </a:bodyPr>
          <a:lstStyle/>
          <a:p>
            <a:pPr indent="0" lvl="0" marL="0" marR="0" rtl="0" algn="l">
              <a:spcBef>
                <a:spcPts val="0"/>
              </a:spcBef>
              <a:spcAft>
                <a:spcPts val="0"/>
              </a:spcAft>
              <a:buNone/>
            </a:pPr>
            <a:r>
              <a:rPr b="1" lang="en-US" sz="1367">
                <a:solidFill>
                  <a:srgbClr val="101010"/>
                </a:solidFill>
                <a:latin typeface="Calibri"/>
                <a:ea typeface="Calibri"/>
                <a:cs typeface="Calibri"/>
                <a:sym typeface="Calibri"/>
              </a:rPr>
              <a:t>Cross-sectional, not predictive of incident T2D</a:t>
            </a:r>
            <a:endParaRPr sz="1595"/>
          </a:p>
        </p:txBody>
      </p:sp>
      <p:sp>
        <p:nvSpPr>
          <p:cNvPr id="647" name="Google Shape;647;p47"/>
          <p:cNvSpPr/>
          <p:nvPr/>
        </p:nvSpPr>
        <p:spPr>
          <a:xfrm>
            <a:off x="4366246" y="3313463"/>
            <a:ext cx="4983600" cy="572700"/>
          </a:xfrm>
          <a:prstGeom prst="rect">
            <a:avLst/>
          </a:prstGeom>
          <a:solidFill>
            <a:srgbClr val="FFFFFF"/>
          </a:solidFill>
          <a:ln cap="flat" cmpd="sng" w="10850">
            <a:solidFill>
              <a:srgbClr val="CDD4DC"/>
            </a:solidFill>
            <a:prstDash val="solid"/>
            <a:round/>
            <a:headEnd len="sm" w="sm" type="none"/>
            <a:tailEnd len="sm" w="sm" type="none"/>
          </a:ln>
          <a:effectLst>
            <a:outerShdw blurRad="45557" rotWithShape="0" dir="5400000" dist="26195">
              <a:srgbClr val="000000">
                <a:alpha val="34901"/>
              </a:srgbClr>
            </a:outerShdw>
          </a:effectLst>
        </p:spPr>
        <p:txBody>
          <a:bodyPr anchorCtr="0" anchor="ctr" bIns="0" lIns="104125" spcFirstLastPara="1" rIns="104125" wrap="square" tIns="0">
            <a:noAutofit/>
          </a:bodyPr>
          <a:lstStyle/>
          <a:p>
            <a:pPr indent="0" lvl="0" marL="0" marR="0" rtl="0" algn="l">
              <a:spcBef>
                <a:spcPts val="0"/>
              </a:spcBef>
              <a:spcAft>
                <a:spcPts val="0"/>
              </a:spcAft>
              <a:buNone/>
            </a:pPr>
            <a:r>
              <a:rPr b="0" lang="en-US" sz="1367">
                <a:solidFill>
                  <a:srgbClr val="101010"/>
                </a:solidFill>
                <a:latin typeface="Calibri"/>
                <a:ea typeface="Calibri"/>
                <a:cs typeface="Calibri"/>
                <a:sym typeface="Calibri"/>
              </a:rPr>
              <a:t>Train on longitudinal NHIS records for incident-risk modeling</a:t>
            </a:r>
            <a:endParaRPr sz="1595"/>
          </a:p>
        </p:txBody>
      </p:sp>
      <p:sp>
        <p:nvSpPr>
          <p:cNvPr id="648" name="Google Shape;648;p47"/>
          <p:cNvSpPr/>
          <p:nvPr/>
        </p:nvSpPr>
        <p:spPr>
          <a:xfrm>
            <a:off x="617063" y="3886246"/>
            <a:ext cx="3749100" cy="572700"/>
          </a:xfrm>
          <a:prstGeom prst="rect">
            <a:avLst/>
          </a:prstGeom>
          <a:solidFill>
            <a:srgbClr val="F4F7FA"/>
          </a:solidFill>
          <a:ln cap="flat" cmpd="sng" w="10850">
            <a:solidFill>
              <a:srgbClr val="CDD4DC"/>
            </a:solidFill>
            <a:prstDash val="solid"/>
            <a:round/>
            <a:headEnd len="sm" w="sm" type="none"/>
            <a:tailEnd len="sm" w="sm" type="none"/>
          </a:ln>
          <a:effectLst>
            <a:outerShdw blurRad="45557" rotWithShape="0" dir="5400000" dist="26195">
              <a:srgbClr val="000000">
                <a:alpha val="34901"/>
              </a:srgbClr>
            </a:outerShdw>
          </a:effectLst>
        </p:spPr>
        <p:txBody>
          <a:bodyPr anchorCtr="0" anchor="ctr" bIns="0" lIns="104125" spcFirstLastPara="1" rIns="104125" wrap="square" tIns="0">
            <a:noAutofit/>
          </a:bodyPr>
          <a:lstStyle/>
          <a:p>
            <a:pPr indent="0" lvl="0" marL="0" marR="0" rtl="0" algn="l">
              <a:spcBef>
                <a:spcPts val="0"/>
              </a:spcBef>
              <a:spcAft>
                <a:spcPts val="0"/>
              </a:spcAft>
              <a:buNone/>
            </a:pPr>
            <a:r>
              <a:rPr b="1" lang="en-US" sz="1367">
                <a:solidFill>
                  <a:srgbClr val="101010"/>
                </a:solidFill>
                <a:latin typeface="Calibri"/>
                <a:ea typeface="Calibri"/>
                <a:cs typeface="Calibri"/>
                <a:sym typeface="Calibri"/>
              </a:rPr>
              <a:t>Single seed (42); no significance testing</a:t>
            </a:r>
            <a:endParaRPr sz="1595"/>
          </a:p>
        </p:txBody>
      </p:sp>
      <p:sp>
        <p:nvSpPr>
          <p:cNvPr id="649" name="Google Shape;649;p47"/>
          <p:cNvSpPr/>
          <p:nvPr/>
        </p:nvSpPr>
        <p:spPr>
          <a:xfrm>
            <a:off x="4366246" y="3886252"/>
            <a:ext cx="4983600" cy="572700"/>
          </a:xfrm>
          <a:prstGeom prst="rect">
            <a:avLst/>
          </a:prstGeom>
          <a:solidFill>
            <a:srgbClr val="F4F7FA"/>
          </a:solidFill>
          <a:ln cap="flat" cmpd="sng" w="10850">
            <a:solidFill>
              <a:srgbClr val="CDD4DC"/>
            </a:solidFill>
            <a:prstDash val="solid"/>
            <a:round/>
            <a:headEnd len="sm" w="sm" type="none"/>
            <a:tailEnd len="sm" w="sm" type="none"/>
          </a:ln>
          <a:effectLst>
            <a:outerShdw blurRad="45557" rotWithShape="0" dir="5400000" dist="26195">
              <a:srgbClr val="000000">
                <a:alpha val="34901"/>
              </a:srgbClr>
            </a:outerShdw>
          </a:effectLst>
        </p:spPr>
        <p:txBody>
          <a:bodyPr anchorCtr="0" anchor="ctr" bIns="0" lIns="104125" spcFirstLastPara="1" rIns="104125" wrap="square" tIns="0">
            <a:noAutofit/>
          </a:bodyPr>
          <a:lstStyle/>
          <a:p>
            <a:pPr indent="0" lvl="0" marL="0" marR="0" rtl="0" algn="l">
              <a:spcBef>
                <a:spcPts val="0"/>
              </a:spcBef>
              <a:spcAft>
                <a:spcPts val="0"/>
              </a:spcAft>
              <a:buNone/>
            </a:pPr>
            <a:r>
              <a:rPr b="0" lang="en-US" sz="1367">
                <a:solidFill>
                  <a:srgbClr val="101010"/>
                </a:solidFill>
                <a:latin typeface="Calibri"/>
                <a:ea typeface="Calibri"/>
                <a:cs typeface="Calibri"/>
                <a:sym typeface="Calibri"/>
              </a:rPr>
              <a:t>Repeated random splits + bootstrap confidence intervals</a:t>
            </a:r>
            <a:endParaRPr sz="1595"/>
          </a:p>
        </p:txBody>
      </p:sp>
      <p:sp>
        <p:nvSpPr>
          <p:cNvPr id="650" name="Google Shape;650;p47"/>
          <p:cNvSpPr/>
          <p:nvPr/>
        </p:nvSpPr>
        <p:spPr>
          <a:xfrm>
            <a:off x="617063" y="4459035"/>
            <a:ext cx="3749100" cy="572700"/>
          </a:xfrm>
          <a:prstGeom prst="rect">
            <a:avLst/>
          </a:prstGeom>
          <a:solidFill>
            <a:srgbClr val="FFFFFF"/>
          </a:solidFill>
          <a:ln cap="flat" cmpd="sng" w="10850">
            <a:solidFill>
              <a:srgbClr val="CDD4DC"/>
            </a:solidFill>
            <a:prstDash val="solid"/>
            <a:round/>
            <a:headEnd len="sm" w="sm" type="none"/>
            <a:tailEnd len="sm" w="sm" type="none"/>
          </a:ln>
          <a:effectLst>
            <a:outerShdw blurRad="45557" rotWithShape="0" dir="5400000" dist="26195">
              <a:srgbClr val="000000">
                <a:alpha val="34901"/>
              </a:srgbClr>
            </a:outerShdw>
          </a:effectLst>
        </p:spPr>
        <p:txBody>
          <a:bodyPr anchorCtr="0" anchor="ctr" bIns="0" lIns="104125" spcFirstLastPara="1" rIns="104125" wrap="square" tIns="0">
            <a:noAutofit/>
          </a:bodyPr>
          <a:lstStyle/>
          <a:p>
            <a:pPr indent="0" lvl="0" marL="0" marR="0" rtl="0" algn="l">
              <a:spcBef>
                <a:spcPts val="0"/>
              </a:spcBef>
              <a:spcAft>
                <a:spcPts val="0"/>
              </a:spcAft>
              <a:buNone/>
            </a:pPr>
            <a:r>
              <a:rPr b="1" lang="en-US" sz="1367">
                <a:solidFill>
                  <a:srgbClr val="101010"/>
                </a:solidFill>
                <a:latin typeface="Calibri"/>
                <a:ea typeface="Calibri"/>
                <a:cs typeface="Calibri"/>
                <a:sym typeface="Calibri"/>
              </a:rPr>
              <a:t>No subgroup analysis (age / sex / BMI)</a:t>
            </a:r>
            <a:endParaRPr sz="1595"/>
          </a:p>
        </p:txBody>
      </p:sp>
      <p:sp>
        <p:nvSpPr>
          <p:cNvPr id="651" name="Google Shape;651;p47"/>
          <p:cNvSpPr/>
          <p:nvPr/>
        </p:nvSpPr>
        <p:spPr>
          <a:xfrm>
            <a:off x="4366246" y="4459040"/>
            <a:ext cx="4983600" cy="572700"/>
          </a:xfrm>
          <a:prstGeom prst="rect">
            <a:avLst/>
          </a:prstGeom>
          <a:solidFill>
            <a:srgbClr val="FFFFFF"/>
          </a:solidFill>
          <a:ln cap="flat" cmpd="sng" w="10850">
            <a:solidFill>
              <a:srgbClr val="CDD4DC"/>
            </a:solidFill>
            <a:prstDash val="solid"/>
            <a:round/>
            <a:headEnd len="sm" w="sm" type="none"/>
            <a:tailEnd len="sm" w="sm" type="none"/>
          </a:ln>
          <a:effectLst>
            <a:outerShdw blurRad="45557" rotWithShape="0" dir="5400000" dist="26195">
              <a:srgbClr val="000000">
                <a:alpha val="34901"/>
              </a:srgbClr>
            </a:outerShdw>
          </a:effectLst>
        </p:spPr>
        <p:txBody>
          <a:bodyPr anchorCtr="0" anchor="ctr" bIns="0" lIns="104125" spcFirstLastPara="1" rIns="104125" wrap="square" tIns="0">
            <a:noAutofit/>
          </a:bodyPr>
          <a:lstStyle/>
          <a:p>
            <a:pPr indent="0" lvl="0" marL="0" marR="0" rtl="0" algn="l">
              <a:spcBef>
                <a:spcPts val="0"/>
              </a:spcBef>
              <a:spcAft>
                <a:spcPts val="0"/>
              </a:spcAft>
              <a:buNone/>
            </a:pPr>
            <a:r>
              <a:rPr b="0" lang="en-US" sz="1367">
                <a:solidFill>
                  <a:srgbClr val="101010"/>
                </a:solidFill>
                <a:latin typeface="Calibri"/>
                <a:ea typeface="Calibri"/>
                <a:cs typeface="Calibri"/>
                <a:sym typeface="Calibri"/>
              </a:rPr>
              <a:t>Stratified evaluation to confirm equity across subpopulations</a:t>
            </a:r>
            <a:endParaRPr sz="1595"/>
          </a:p>
        </p:txBody>
      </p:sp>
      <p:sp>
        <p:nvSpPr>
          <p:cNvPr id="652" name="Google Shape;652;p47"/>
          <p:cNvSpPr/>
          <p:nvPr/>
        </p:nvSpPr>
        <p:spPr>
          <a:xfrm>
            <a:off x="617063" y="5031825"/>
            <a:ext cx="3749100" cy="572700"/>
          </a:xfrm>
          <a:prstGeom prst="rect">
            <a:avLst/>
          </a:prstGeom>
          <a:solidFill>
            <a:srgbClr val="F4F7FA"/>
          </a:solidFill>
          <a:ln cap="flat" cmpd="sng" w="10850">
            <a:solidFill>
              <a:srgbClr val="CDD4DC"/>
            </a:solidFill>
            <a:prstDash val="solid"/>
            <a:round/>
            <a:headEnd len="sm" w="sm" type="none"/>
            <a:tailEnd len="sm" w="sm" type="none"/>
          </a:ln>
          <a:effectLst>
            <a:outerShdw blurRad="45557" rotWithShape="0" dir="5400000" dist="26195">
              <a:srgbClr val="000000">
                <a:alpha val="34901"/>
              </a:srgbClr>
            </a:outerShdw>
          </a:effectLst>
        </p:spPr>
        <p:txBody>
          <a:bodyPr anchorCtr="0" anchor="ctr" bIns="0" lIns="104125" spcFirstLastPara="1" rIns="104125" wrap="square" tIns="0">
            <a:noAutofit/>
          </a:bodyPr>
          <a:lstStyle/>
          <a:p>
            <a:pPr indent="0" lvl="0" marL="0" marR="0" rtl="0" algn="l">
              <a:spcBef>
                <a:spcPts val="0"/>
              </a:spcBef>
              <a:spcAft>
                <a:spcPts val="0"/>
              </a:spcAft>
              <a:buNone/>
            </a:pPr>
            <a:r>
              <a:rPr b="1" lang="en-US" sz="1367">
                <a:solidFill>
                  <a:srgbClr val="101010"/>
                </a:solidFill>
                <a:latin typeface="Calibri"/>
                <a:ea typeface="Calibri"/>
                <a:cs typeface="Calibri"/>
                <a:sym typeface="Calibri"/>
              </a:rPr>
              <a:t>37.5 % FP rate at chosen threshold</a:t>
            </a:r>
            <a:endParaRPr sz="1595"/>
          </a:p>
        </p:txBody>
      </p:sp>
      <p:sp>
        <p:nvSpPr>
          <p:cNvPr id="653" name="Google Shape;653;p47"/>
          <p:cNvSpPr/>
          <p:nvPr/>
        </p:nvSpPr>
        <p:spPr>
          <a:xfrm>
            <a:off x="4366246" y="5031828"/>
            <a:ext cx="4983600" cy="572700"/>
          </a:xfrm>
          <a:prstGeom prst="rect">
            <a:avLst/>
          </a:prstGeom>
          <a:solidFill>
            <a:srgbClr val="F4F7FA"/>
          </a:solidFill>
          <a:ln cap="flat" cmpd="sng" w="10850">
            <a:solidFill>
              <a:srgbClr val="CDD4DC"/>
            </a:solidFill>
            <a:prstDash val="solid"/>
            <a:round/>
            <a:headEnd len="sm" w="sm" type="none"/>
            <a:tailEnd len="sm" w="sm" type="none"/>
          </a:ln>
          <a:effectLst>
            <a:outerShdw blurRad="45557" rotWithShape="0" dir="5400000" dist="26195">
              <a:srgbClr val="000000">
                <a:alpha val="34901"/>
              </a:srgbClr>
            </a:outerShdw>
          </a:effectLst>
        </p:spPr>
        <p:txBody>
          <a:bodyPr anchorCtr="0" anchor="ctr" bIns="0" lIns="104125" spcFirstLastPara="1" rIns="104125" wrap="square" tIns="0">
            <a:noAutofit/>
          </a:bodyPr>
          <a:lstStyle/>
          <a:p>
            <a:pPr indent="0" lvl="0" marL="0" marR="0" rtl="0" algn="l">
              <a:spcBef>
                <a:spcPts val="0"/>
              </a:spcBef>
              <a:spcAft>
                <a:spcPts val="0"/>
              </a:spcAft>
              <a:buNone/>
            </a:pPr>
            <a:r>
              <a:rPr b="0" lang="en-US" sz="1367">
                <a:solidFill>
                  <a:srgbClr val="101010"/>
                </a:solidFill>
                <a:latin typeface="Calibri"/>
                <a:ea typeface="Calibri"/>
                <a:cs typeface="Calibri"/>
                <a:sym typeface="Calibri"/>
              </a:rPr>
              <a:t>Regional threshold tuning to local prevalence</a:t>
            </a:r>
            <a:endParaRPr sz="1595"/>
          </a:p>
        </p:txBody>
      </p:sp>
      <p:sp>
        <p:nvSpPr>
          <p:cNvPr id="654" name="Google Shape;654;p47"/>
          <p:cNvSpPr/>
          <p:nvPr/>
        </p:nvSpPr>
        <p:spPr>
          <a:xfrm>
            <a:off x="617063" y="5604615"/>
            <a:ext cx="3749100" cy="572700"/>
          </a:xfrm>
          <a:prstGeom prst="rect">
            <a:avLst/>
          </a:prstGeom>
          <a:solidFill>
            <a:srgbClr val="FFFFFF"/>
          </a:solidFill>
          <a:ln cap="flat" cmpd="sng" w="10850">
            <a:solidFill>
              <a:srgbClr val="CDD4DC"/>
            </a:solidFill>
            <a:prstDash val="solid"/>
            <a:round/>
            <a:headEnd len="sm" w="sm" type="none"/>
            <a:tailEnd len="sm" w="sm" type="none"/>
          </a:ln>
          <a:effectLst>
            <a:outerShdw blurRad="45557" rotWithShape="0" dir="5400000" dist="26195">
              <a:srgbClr val="000000">
                <a:alpha val="34901"/>
              </a:srgbClr>
            </a:outerShdw>
          </a:effectLst>
        </p:spPr>
        <p:txBody>
          <a:bodyPr anchorCtr="0" anchor="ctr" bIns="0" lIns="104125" spcFirstLastPara="1" rIns="104125" wrap="square" tIns="0">
            <a:noAutofit/>
          </a:bodyPr>
          <a:lstStyle/>
          <a:p>
            <a:pPr indent="0" lvl="0" marL="0" marR="0" rtl="0" algn="l">
              <a:spcBef>
                <a:spcPts val="0"/>
              </a:spcBef>
              <a:spcAft>
                <a:spcPts val="0"/>
              </a:spcAft>
              <a:buNone/>
            </a:pPr>
            <a:r>
              <a:rPr b="1" lang="en-US" sz="1367">
                <a:solidFill>
                  <a:srgbClr val="101010"/>
                </a:solidFill>
                <a:latin typeface="Calibri"/>
                <a:ea typeface="Calibri"/>
                <a:cs typeface="Calibri"/>
                <a:sym typeface="Calibri"/>
              </a:rPr>
              <a:t>Selection bias in no-lipid subgroup</a:t>
            </a:r>
            <a:endParaRPr sz="1595"/>
          </a:p>
        </p:txBody>
      </p:sp>
      <p:sp>
        <p:nvSpPr>
          <p:cNvPr id="655" name="Google Shape;655;p47"/>
          <p:cNvSpPr/>
          <p:nvPr/>
        </p:nvSpPr>
        <p:spPr>
          <a:xfrm>
            <a:off x="4366246" y="5604616"/>
            <a:ext cx="4983600" cy="572700"/>
          </a:xfrm>
          <a:prstGeom prst="rect">
            <a:avLst/>
          </a:prstGeom>
          <a:solidFill>
            <a:srgbClr val="FFFFFF"/>
          </a:solidFill>
          <a:ln cap="flat" cmpd="sng" w="10850">
            <a:solidFill>
              <a:srgbClr val="CDD4DC"/>
            </a:solidFill>
            <a:prstDash val="solid"/>
            <a:round/>
            <a:headEnd len="sm" w="sm" type="none"/>
            <a:tailEnd len="sm" w="sm" type="none"/>
          </a:ln>
          <a:effectLst>
            <a:outerShdw blurRad="45557" rotWithShape="0" dir="5400000" dist="26195">
              <a:srgbClr val="000000">
                <a:alpha val="34901"/>
              </a:srgbClr>
            </a:outerShdw>
          </a:effectLst>
        </p:spPr>
        <p:txBody>
          <a:bodyPr anchorCtr="0" anchor="ctr" bIns="0" lIns="104125" spcFirstLastPara="1" rIns="104125" wrap="square" tIns="0">
            <a:noAutofit/>
          </a:bodyPr>
          <a:lstStyle/>
          <a:p>
            <a:pPr indent="0" lvl="0" marL="0" marR="0" rtl="0" algn="l">
              <a:spcBef>
                <a:spcPts val="0"/>
              </a:spcBef>
              <a:spcAft>
                <a:spcPts val="0"/>
              </a:spcAft>
              <a:buNone/>
            </a:pPr>
            <a:r>
              <a:rPr b="0" lang="en-US" sz="1367">
                <a:solidFill>
                  <a:srgbClr val="101010"/>
                </a:solidFill>
                <a:latin typeface="Calibri"/>
                <a:ea typeface="Calibri"/>
                <a:cs typeface="Calibri"/>
                <a:sym typeface="Calibri"/>
              </a:rPr>
              <a:t>Calibrate confidence note when key labs are absent</a:t>
            </a:r>
            <a:endParaRPr sz="1595"/>
          </a:p>
        </p:txBody>
      </p:sp>
      <p:sp>
        <p:nvSpPr>
          <p:cNvPr id="656" name="Google Shape;656;p47"/>
          <p:cNvSpPr txBox="1"/>
          <p:nvPr/>
        </p:nvSpPr>
        <p:spPr>
          <a:xfrm>
            <a:off x="411455" y="6391610"/>
            <a:ext cx="9235500" cy="1692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1" lang="en-US" sz="1100">
                <a:solidFill>
                  <a:srgbClr val="555555"/>
                </a:solidFill>
                <a:latin typeface="Calibri"/>
                <a:ea typeface="Calibri"/>
                <a:cs typeface="Calibri"/>
                <a:sym typeface="Calibri"/>
              </a:rPr>
              <a:t>Table 14. Known limitations of this work and the </a:t>
            </a:r>
            <a:r>
              <a:rPr i="1" lang="en-US" sz="1100">
                <a:solidFill>
                  <a:srgbClr val="555555"/>
                </a:solidFill>
                <a:latin typeface="Calibri"/>
                <a:ea typeface="Calibri"/>
                <a:cs typeface="Calibri"/>
                <a:sym typeface="Calibri"/>
              </a:rPr>
              <a:t>possible future work </a:t>
            </a:r>
            <a:r>
              <a:rPr b="0" i="1" lang="en-US" sz="1100">
                <a:solidFill>
                  <a:srgbClr val="555555"/>
                </a:solidFill>
                <a:latin typeface="Calibri"/>
                <a:ea typeface="Calibri"/>
                <a:cs typeface="Calibri"/>
                <a:sym typeface="Calibri"/>
              </a:rPr>
              <a:t>that addresses each one.</a:t>
            </a:r>
            <a:endParaRPr/>
          </a:p>
        </p:txBody>
      </p:sp>
      <p:sp>
        <p:nvSpPr>
          <p:cNvPr id="657" name="Google Shape;657;p47"/>
          <p:cNvSpPr txBox="1"/>
          <p:nvPr/>
        </p:nvSpPr>
        <p:spPr>
          <a:xfrm>
            <a:off x="411480" y="7479792"/>
            <a:ext cx="6400800" cy="256032"/>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00">
                <a:solidFill>
                  <a:srgbClr val="555555"/>
                </a:solidFill>
                <a:latin typeface="Calibri"/>
                <a:ea typeface="Calibri"/>
                <a:cs typeface="Calibri"/>
                <a:sym typeface="Calibri"/>
              </a:rPr>
              <a:t>Team 3c  ·  CDS-492 Capstone  ·  Spring 2026</a:t>
            </a:r>
            <a:endParaRPr/>
          </a:p>
        </p:txBody>
      </p:sp>
      <p:sp>
        <p:nvSpPr>
          <p:cNvPr id="658" name="Google Shape;658;p47"/>
          <p:cNvSpPr txBox="1"/>
          <p:nvPr/>
        </p:nvSpPr>
        <p:spPr>
          <a:xfrm>
            <a:off x="8686800" y="7479792"/>
            <a:ext cx="1005840" cy="256032"/>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i="0" lang="en-US" sz="1000">
                <a:solidFill>
                  <a:srgbClr val="555555"/>
                </a:solidFill>
                <a:latin typeface="Calibri"/>
                <a:ea typeface="Calibri"/>
                <a:cs typeface="Calibri"/>
                <a:sym typeface="Calibri"/>
              </a:rPr>
              <a:t>15 / 16</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2" name="Shape 662"/>
        <p:cNvGrpSpPr/>
        <p:nvPr/>
      </p:nvGrpSpPr>
      <p:grpSpPr>
        <a:xfrm>
          <a:off x="0" y="0"/>
          <a:ext cx="0" cy="0"/>
          <a:chOff x="0" y="0"/>
          <a:chExt cx="0" cy="0"/>
        </a:xfrm>
      </p:grpSpPr>
      <p:sp>
        <p:nvSpPr>
          <p:cNvPr id="663" name="Google Shape;663;p48"/>
          <p:cNvSpPr/>
          <p:nvPr/>
        </p:nvSpPr>
        <p:spPr>
          <a:xfrm>
            <a:off x="0" y="0"/>
            <a:ext cx="10058400" cy="1188720"/>
          </a:xfrm>
          <a:prstGeom prst="rect">
            <a:avLst/>
          </a:prstGeom>
          <a:solidFill>
            <a:srgbClr val="0E2841"/>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64" name="Google Shape;664;p48"/>
          <p:cNvSpPr txBox="1"/>
          <p:nvPr/>
        </p:nvSpPr>
        <p:spPr>
          <a:xfrm>
            <a:off x="485911" y="283654"/>
            <a:ext cx="9144000" cy="6156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4000">
                <a:solidFill>
                  <a:srgbClr val="FFFFFF"/>
                </a:solidFill>
                <a:latin typeface="Calibri"/>
                <a:ea typeface="Calibri"/>
                <a:cs typeface="Calibri"/>
                <a:sym typeface="Calibri"/>
              </a:rPr>
              <a:t>Takeaways</a:t>
            </a:r>
            <a:endParaRPr sz="4000"/>
          </a:p>
        </p:txBody>
      </p:sp>
      <p:sp>
        <p:nvSpPr>
          <p:cNvPr id="665" name="Google Shape;665;p48"/>
          <p:cNvSpPr/>
          <p:nvPr/>
        </p:nvSpPr>
        <p:spPr>
          <a:xfrm>
            <a:off x="0" y="1188720"/>
            <a:ext cx="10058400" cy="45720"/>
          </a:xfrm>
          <a:prstGeom prst="rect">
            <a:avLst/>
          </a:prstGeom>
          <a:solidFill>
            <a:srgbClr val="156082"/>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66" name="Google Shape;666;p48"/>
          <p:cNvSpPr/>
          <p:nvPr/>
        </p:nvSpPr>
        <p:spPr>
          <a:xfrm>
            <a:off x="502920" y="1691640"/>
            <a:ext cx="2194560" cy="1371600"/>
          </a:xfrm>
          <a:prstGeom prst="roundRect">
            <a:avLst>
              <a:gd fmla="val 16667" name="adj"/>
            </a:avLst>
          </a:prstGeom>
          <a:solidFill>
            <a:srgbClr val="0E2841"/>
          </a:solidFill>
          <a:ln>
            <a:noFill/>
          </a:ln>
          <a:effectLst>
            <a:outerShdw blurRad="40000" rotWithShape="0" dir="5400000" dist="23000">
              <a:srgbClr val="000000">
                <a:alpha val="34901"/>
              </a:srgbClr>
            </a:outerShdw>
          </a:effectLst>
        </p:spPr>
        <p:txBody>
          <a:bodyPr anchorCtr="0" anchor="ctr" bIns="91425" lIns="182875" spcFirstLastPara="1" rIns="182875" wrap="square" tIns="137150">
            <a:noAutofit/>
          </a:bodyPr>
          <a:lstStyle/>
          <a:p>
            <a:pPr indent="0" lvl="0" marL="0" marR="0" rtl="0" algn="ctr">
              <a:spcBef>
                <a:spcPts val="0"/>
              </a:spcBef>
              <a:spcAft>
                <a:spcPts val="0"/>
              </a:spcAft>
              <a:buNone/>
            </a:pPr>
            <a:r>
              <a:rPr b="1" lang="en-US" sz="4000">
                <a:solidFill>
                  <a:srgbClr val="FFFFFF"/>
                </a:solidFill>
                <a:latin typeface="Calibri"/>
                <a:ea typeface="Calibri"/>
                <a:cs typeface="Calibri"/>
                <a:sym typeface="Calibri"/>
              </a:rPr>
              <a:t>0.817</a:t>
            </a:r>
            <a:endParaRPr/>
          </a:p>
          <a:p>
            <a:pPr indent="0" lvl="0" marL="0" marR="0" rtl="0" algn="ctr">
              <a:spcBef>
                <a:spcPts val="0"/>
              </a:spcBef>
              <a:spcAft>
                <a:spcPts val="0"/>
              </a:spcAft>
              <a:buNone/>
            </a:pPr>
            <a:r>
              <a:rPr lang="en-US" sz="1300">
                <a:solidFill>
                  <a:srgbClr val="4E9CC4"/>
                </a:solidFill>
                <a:latin typeface="Calibri"/>
                <a:ea typeface="Calibri"/>
                <a:cs typeface="Calibri"/>
                <a:sym typeface="Calibri"/>
              </a:rPr>
              <a:t>Test ROC-AUC</a:t>
            </a:r>
            <a:endParaRPr/>
          </a:p>
        </p:txBody>
      </p:sp>
      <p:sp>
        <p:nvSpPr>
          <p:cNvPr id="667" name="Google Shape;667;p48"/>
          <p:cNvSpPr/>
          <p:nvPr/>
        </p:nvSpPr>
        <p:spPr>
          <a:xfrm>
            <a:off x="2834640" y="1691640"/>
            <a:ext cx="2194560" cy="1371600"/>
          </a:xfrm>
          <a:prstGeom prst="roundRect">
            <a:avLst>
              <a:gd fmla="val 16667" name="adj"/>
            </a:avLst>
          </a:prstGeom>
          <a:solidFill>
            <a:srgbClr val="0E2841"/>
          </a:solidFill>
          <a:ln>
            <a:noFill/>
          </a:ln>
          <a:effectLst>
            <a:outerShdw blurRad="40000" rotWithShape="0" dir="5400000" dist="23000">
              <a:srgbClr val="000000">
                <a:alpha val="34901"/>
              </a:srgbClr>
            </a:outerShdw>
          </a:effectLst>
        </p:spPr>
        <p:txBody>
          <a:bodyPr anchorCtr="0" anchor="ctr" bIns="91425" lIns="182875" spcFirstLastPara="1" rIns="182875" wrap="square" tIns="137150">
            <a:noAutofit/>
          </a:bodyPr>
          <a:lstStyle/>
          <a:p>
            <a:pPr indent="0" lvl="0" marL="0" marR="0" rtl="0" algn="ctr">
              <a:spcBef>
                <a:spcPts val="0"/>
              </a:spcBef>
              <a:spcAft>
                <a:spcPts val="0"/>
              </a:spcAft>
              <a:buNone/>
            </a:pPr>
            <a:r>
              <a:rPr b="1" lang="en-US" sz="4000">
                <a:solidFill>
                  <a:srgbClr val="FFFFFF"/>
                </a:solidFill>
                <a:latin typeface="Calibri"/>
                <a:ea typeface="Calibri"/>
                <a:cs typeface="Calibri"/>
                <a:sym typeface="Calibri"/>
              </a:rPr>
              <a:t>85.2 %</a:t>
            </a:r>
            <a:endParaRPr/>
          </a:p>
          <a:p>
            <a:pPr indent="0" lvl="0" marL="0" marR="0" rtl="0" algn="ctr">
              <a:spcBef>
                <a:spcPts val="0"/>
              </a:spcBef>
              <a:spcAft>
                <a:spcPts val="0"/>
              </a:spcAft>
              <a:buNone/>
            </a:pPr>
            <a:r>
              <a:rPr lang="en-US" sz="1300">
                <a:solidFill>
                  <a:srgbClr val="4E9CC4"/>
                </a:solidFill>
                <a:latin typeface="Calibri"/>
                <a:ea typeface="Calibri"/>
                <a:cs typeface="Calibri"/>
                <a:sym typeface="Calibri"/>
              </a:rPr>
              <a:t>Sensitivity at op. thresh.</a:t>
            </a:r>
            <a:endParaRPr/>
          </a:p>
        </p:txBody>
      </p:sp>
      <p:sp>
        <p:nvSpPr>
          <p:cNvPr id="668" name="Google Shape;668;p48"/>
          <p:cNvSpPr/>
          <p:nvPr/>
        </p:nvSpPr>
        <p:spPr>
          <a:xfrm>
            <a:off x="5166360" y="1691640"/>
            <a:ext cx="2194560" cy="1371600"/>
          </a:xfrm>
          <a:prstGeom prst="roundRect">
            <a:avLst>
              <a:gd fmla="val 16667" name="adj"/>
            </a:avLst>
          </a:prstGeom>
          <a:solidFill>
            <a:srgbClr val="0E2841"/>
          </a:solidFill>
          <a:ln>
            <a:noFill/>
          </a:ln>
          <a:effectLst>
            <a:outerShdw blurRad="40000" rotWithShape="0" dir="5400000" dist="23000">
              <a:srgbClr val="000000">
                <a:alpha val="34901"/>
              </a:srgbClr>
            </a:outerShdw>
          </a:effectLst>
        </p:spPr>
        <p:txBody>
          <a:bodyPr anchorCtr="0" anchor="ctr" bIns="91425" lIns="182875" spcFirstLastPara="1" rIns="182875" wrap="square" tIns="137150">
            <a:noAutofit/>
          </a:bodyPr>
          <a:lstStyle/>
          <a:p>
            <a:pPr indent="0" lvl="0" marL="0" marR="0" rtl="0" algn="ctr">
              <a:spcBef>
                <a:spcPts val="0"/>
              </a:spcBef>
              <a:spcAft>
                <a:spcPts val="0"/>
              </a:spcAft>
              <a:buNone/>
            </a:pPr>
            <a:r>
              <a:rPr b="1" lang="en-US" sz="4000">
                <a:solidFill>
                  <a:srgbClr val="FFFFFF"/>
                </a:solidFill>
                <a:latin typeface="Calibri"/>
                <a:ea typeface="Calibri"/>
                <a:cs typeface="Calibri"/>
                <a:sym typeface="Calibri"/>
              </a:rPr>
              <a:t>98.0 %</a:t>
            </a:r>
            <a:endParaRPr/>
          </a:p>
          <a:p>
            <a:pPr indent="0" lvl="0" marL="0" marR="0" rtl="0" algn="ctr">
              <a:spcBef>
                <a:spcPts val="0"/>
              </a:spcBef>
              <a:spcAft>
                <a:spcPts val="0"/>
              </a:spcAft>
              <a:buNone/>
            </a:pPr>
            <a:r>
              <a:rPr lang="en-US" sz="1300">
                <a:solidFill>
                  <a:srgbClr val="4E9CC4"/>
                </a:solidFill>
                <a:latin typeface="Calibri"/>
                <a:ea typeface="Calibri"/>
                <a:cs typeface="Calibri"/>
                <a:sym typeface="Calibri"/>
              </a:rPr>
              <a:t>Negative predictive value</a:t>
            </a:r>
            <a:endParaRPr/>
          </a:p>
        </p:txBody>
      </p:sp>
      <p:sp>
        <p:nvSpPr>
          <p:cNvPr id="669" name="Google Shape;669;p48"/>
          <p:cNvSpPr/>
          <p:nvPr/>
        </p:nvSpPr>
        <p:spPr>
          <a:xfrm>
            <a:off x="7498079" y="1691640"/>
            <a:ext cx="2057400" cy="1371600"/>
          </a:xfrm>
          <a:prstGeom prst="roundRect">
            <a:avLst>
              <a:gd fmla="val 16667" name="adj"/>
            </a:avLst>
          </a:prstGeom>
          <a:solidFill>
            <a:srgbClr val="0E2841"/>
          </a:solidFill>
          <a:ln>
            <a:noFill/>
          </a:ln>
          <a:effectLst>
            <a:outerShdw blurRad="40000" rotWithShape="0" dir="5400000" dist="23000">
              <a:srgbClr val="000000">
                <a:alpha val="34901"/>
              </a:srgbClr>
            </a:outerShdw>
          </a:effectLst>
        </p:spPr>
        <p:txBody>
          <a:bodyPr anchorCtr="0" anchor="ctr" bIns="91425" lIns="182875" spcFirstLastPara="1" rIns="182875" wrap="square" tIns="137150">
            <a:noAutofit/>
          </a:bodyPr>
          <a:lstStyle/>
          <a:p>
            <a:pPr indent="0" lvl="0" marL="0" marR="0" rtl="0" algn="ctr">
              <a:spcBef>
                <a:spcPts val="0"/>
              </a:spcBef>
              <a:spcAft>
                <a:spcPts val="0"/>
              </a:spcAft>
              <a:buNone/>
            </a:pPr>
            <a:r>
              <a:rPr b="1" lang="en-US" sz="4000">
                <a:solidFill>
                  <a:srgbClr val="FFFFFF"/>
                </a:solidFill>
                <a:latin typeface="Calibri"/>
                <a:ea typeface="Calibri"/>
                <a:cs typeface="Calibri"/>
                <a:sym typeface="Calibri"/>
              </a:rPr>
              <a:t>1 M</a:t>
            </a:r>
            <a:endParaRPr/>
          </a:p>
          <a:p>
            <a:pPr indent="0" lvl="0" marL="0" marR="0" rtl="0" algn="ctr">
              <a:spcBef>
                <a:spcPts val="0"/>
              </a:spcBef>
              <a:spcAft>
                <a:spcPts val="0"/>
              </a:spcAft>
              <a:buNone/>
            </a:pPr>
            <a:r>
              <a:rPr lang="en-US" sz="1300">
                <a:solidFill>
                  <a:srgbClr val="4E9CC4"/>
                </a:solidFill>
                <a:latin typeface="Calibri"/>
                <a:ea typeface="Calibri"/>
                <a:cs typeface="Calibri"/>
                <a:sym typeface="Calibri"/>
              </a:rPr>
              <a:t>Records, single seed</a:t>
            </a:r>
            <a:endParaRPr/>
          </a:p>
        </p:txBody>
      </p:sp>
      <p:sp>
        <p:nvSpPr>
          <p:cNvPr id="670" name="Google Shape;670;p48"/>
          <p:cNvSpPr txBox="1"/>
          <p:nvPr/>
        </p:nvSpPr>
        <p:spPr>
          <a:xfrm>
            <a:off x="502920" y="3205707"/>
            <a:ext cx="9052500" cy="1692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1" lang="en-US" sz="1100">
                <a:solidFill>
                  <a:srgbClr val="555555"/>
                </a:solidFill>
                <a:latin typeface="Calibri"/>
                <a:ea typeface="Calibri"/>
                <a:cs typeface="Calibri"/>
                <a:sym typeface="Calibri"/>
              </a:rPr>
              <a:t>Figure 10. Headline performance summary on the held-out test set (n = 198,830).</a:t>
            </a:r>
            <a:endParaRPr/>
          </a:p>
        </p:txBody>
      </p:sp>
      <p:sp>
        <p:nvSpPr>
          <p:cNvPr id="671" name="Google Shape;671;p48"/>
          <p:cNvSpPr txBox="1"/>
          <p:nvPr/>
        </p:nvSpPr>
        <p:spPr>
          <a:xfrm>
            <a:off x="502920" y="3703320"/>
            <a:ext cx="9052560" cy="2377440"/>
          </a:xfrm>
          <a:prstGeom prst="rect">
            <a:avLst/>
          </a:prstGeom>
          <a:noFill/>
          <a:ln>
            <a:noFill/>
          </a:ln>
        </p:spPr>
        <p:txBody>
          <a:bodyPr anchorCtr="0" anchor="t" bIns="45700" lIns="0" spcFirstLastPara="1" rIns="91425" wrap="square" tIns="0">
            <a:spAutoFit/>
          </a:bodyPr>
          <a:lstStyle/>
          <a:p>
            <a:pPr indent="0" lvl="0" marL="0" marR="0" rtl="0" algn="l">
              <a:lnSpc>
                <a:spcPct val="118000"/>
              </a:lnSpc>
              <a:spcBef>
                <a:spcPts val="0"/>
              </a:spcBef>
              <a:spcAft>
                <a:spcPts val="0"/>
              </a:spcAft>
              <a:buNone/>
            </a:pPr>
            <a:r>
              <a:rPr lang="en-US" sz="1800">
                <a:solidFill>
                  <a:srgbClr val="101010"/>
                </a:solidFill>
                <a:latin typeface="Calibri"/>
                <a:ea typeface="Calibri"/>
                <a:cs typeface="Calibri"/>
                <a:sym typeface="Calibri"/>
              </a:rPr>
              <a:t>•  CatBoost matches deep learning on tabular health data — without an imputation pipeline</a:t>
            </a:r>
            <a:endParaRPr/>
          </a:p>
          <a:p>
            <a:pPr indent="0" lvl="0" marL="0" marR="0" rtl="0" algn="l">
              <a:lnSpc>
                <a:spcPct val="118000"/>
              </a:lnSpc>
              <a:spcBef>
                <a:spcPts val="400"/>
              </a:spcBef>
              <a:spcAft>
                <a:spcPts val="0"/>
              </a:spcAft>
              <a:buNone/>
            </a:pPr>
            <a:r>
              <a:rPr lang="en-US" sz="1800">
                <a:solidFill>
                  <a:srgbClr val="101010"/>
                </a:solidFill>
                <a:latin typeface="Calibri"/>
                <a:ea typeface="Calibri"/>
                <a:cs typeface="Calibri"/>
                <a:sym typeface="Calibri"/>
              </a:rPr>
              <a:t>•  Lipid panel is optional: Core + Labs already reaches 0.808 AUC</a:t>
            </a:r>
            <a:endParaRPr/>
          </a:p>
          <a:p>
            <a:pPr indent="0" lvl="0" marL="0" marR="0" rtl="0" algn="l">
              <a:lnSpc>
                <a:spcPct val="118000"/>
              </a:lnSpc>
              <a:spcBef>
                <a:spcPts val="400"/>
              </a:spcBef>
              <a:spcAft>
                <a:spcPts val="0"/>
              </a:spcAft>
              <a:buNone/>
            </a:pPr>
            <a:r>
              <a:rPr lang="en-US" sz="1800">
                <a:solidFill>
                  <a:srgbClr val="101010"/>
                </a:solidFill>
                <a:latin typeface="Calibri"/>
                <a:ea typeface="Calibri"/>
                <a:cs typeface="Calibri"/>
                <a:sym typeface="Calibri"/>
              </a:rPr>
              <a:t>•  SHAP rankings align with established clinical risk factors → clinician trust</a:t>
            </a:r>
            <a:endParaRPr/>
          </a:p>
          <a:p>
            <a:pPr indent="0" lvl="0" marL="0" marR="0" rtl="0" algn="l">
              <a:lnSpc>
                <a:spcPct val="118000"/>
              </a:lnSpc>
              <a:spcBef>
                <a:spcPts val="400"/>
              </a:spcBef>
              <a:spcAft>
                <a:spcPts val="0"/>
              </a:spcAft>
              <a:buNone/>
            </a:pPr>
            <a:r>
              <a:rPr lang="en-US" sz="1800">
                <a:solidFill>
                  <a:srgbClr val="101010"/>
                </a:solidFill>
                <a:latin typeface="Calibri"/>
                <a:ea typeface="Calibri"/>
                <a:cs typeface="Calibri"/>
                <a:sym typeface="Calibri"/>
              </a:rPr>
              <a:t>•  Deployed FastAPI tool maps calibrated p to four clinically meaningful tiers</a:t>
            </a:r>
            <a:endParaRPr/>
          </a:p>
        </p:txBody>
      </p:sp>
      <p:sp>
        <p:nvSpPr>
          <p:cNvPr id="672" name="Google Shape;672;p48"/>
          <p:cNvSpPr/>
          <p:nvPr/>
        </p:nvSpPr>
        <p:spPr>
          <a:xfrm>
            <a:off x="0" y="6310300"/>
            <a:ext cx="10058400" cy="1462200"/>
          </a:xfrm>
          <a:prstGeom prst="rect">
            <a:avLst/>
          </a:prstGeom>
          <a:solidFill>
            <a:srgbClr val="0E2841"/>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3200">
                <a:solidFill>
                  <a:srgbClr val="FFFFFF"/>
                </a:solidFill>
                <a:latin typeface="Calibri"/>
                <a:ea typeface="Calibri"/>
                <a:cs typeface="Calibri"/>
                <a:sym typeface="Calibri"/>
              </a:rPr>
              <a:t>Thank you  ·  Questions?</a:t>
            </a:r>
            <a:endParaRPr/>
          </a:p>
          <a:p>
            <a:pPr indent="0" lvl="0" marL="0" marR="0" rtl="0" algn="ctr">
              <a:spcBef>
                <a:spcPts val="0"/>
              </a:spcBef>
              <a:spcAft>
                <a:spcPts val="0"/>
              </a:spcAft>
              <a:buNone/>
            </a:pPr>
            <a:r>
              <a:rPr lang="en-US" sz="1300">
                <a:solidFill>
                  <a:srgbClr val="4E9CC4"/>
                </a:solidFill>
                <a:latin typeface="Calibri"/>
                <a:ea typeface="Calibri"/>
                <a:cs typeface="Calibri"/>
                <a:sym typeface="Calibri"/>
              </a:rPr>
              <a:t>Team 3c · Tyson Johnson, Alizeh Murtaza, Nithila Neethi Devan, Tariq Abdulhak</a:t>
            </a:r>
            <a:endParaRPr/>
          </a:p>
        </p:txBody>
      </p:sp>
      <p:sp>
        <p:nvSpPr>
          <p:cNvPr id="673" name="Google Shape;673;p48"/>
          <p:cNvSpPr txBox="1"/>
          <p:nvPr/>
        </p:nvSpPr>
        <p:spPr>
          <a:xfrm>
            <a:off x="411480" y="7479792"/>
            <a:ext cx="6400800" cy="256032"/>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00">
                <a:solidFill>
                  <a:srgbClr val="555555"/>
                </a:solidFill>
                <a:latin typeface="Calibri"/>
                <a:ea typeface="Calibri"/>
                <a:cs typeface="Calibri"/>
                <a:sym typeface="Calibri"/>
              </a:rPr>
              <a:t>Team 3c  ·  CDS-492 Capstone  ·  Spring 2026</a:t>
            </a:r>
            <a:endParaRPr/>
          </a:p>
        </p:txBody>
      </p:sp>
      <p:sp>
        <p:nvSpPr>
          <p:cNvPr id="674" name="Google Shape;674;p48"/>
          <p:cNvSpPr txBox="1"/>
          <p:nvPr/>
        </p:nvSpPr>
        <p:spPr>
          <a:xfrm>
            <a:off x="8686800" y="7479792"/>
            <a:ext cx="1005840" cy="256032"/>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i="0" lang="en-US" sz="1000">
                <a:solidFill>
                  <a:srgbClr val="555555"/>
                </a:solidFill>
                <a:latin typeface="Calibri"/>
                <a:ea typeface="Calibri"/>
                <a:cs typeface="Calibri"/>
                <a:sym typeface="Calibri"/>
              </a:rPr>
              <a:t>16 / 16</a:t>
            </a:r>
            <a:endParaRPr/>
          </a:p>
        </p:txBody>
      </p:sp>
    </p:spTree>
  </p:cSld>
  <p:clrMapOvr>
    <a:masterClrMapping/>
  </p:clrMapOvr>
</p:sld>
</file>

<file path=ppt/theme/theme1.xml><?xml version="1.0" encoding="utf-8"?>
<a:theme xmlns:a="http://schemas.openxmlformats.org/drawingml/2006/main" xmlns:r="http://schemas.openxmlformats.org/officeDocument/2006/relationships" name="1_Custom Design">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