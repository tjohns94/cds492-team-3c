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05" r:id="rId5"/>
    <p:sldMasterId id="2147483706" r:id="rId6"/>
    <p:sldMasterId id="214748370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y="7772400" cx="10058400"/>
  <p:notesSz cx="10058400" cy="7772400"/>
  <p:embeddedFontLst>
    <p:embeddedFont>
      <p:font typeface="Play"/>
      <p:regular r:id="rId46"/>
      <p:bold r:id="rId47"/>
    </p:embeddedFont>
    <p:embeddedFont>
      <p:font typeface="Helvetica Neue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2B6638-5765-48FA-886E-DA5139B12E19}">
  <a:tblStyle styleId="{5B2B6638-5765-48FA-886E-DA5139B12E1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26A9D65C-628F-448C-A1D5-0CD64F9C87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E640D9B-7C7A-4019-92F5-6182C1FE7E8E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font" Target="fonts/Play-regular.fntdata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HelveticaNeue-regular.fntdata"/><Relationship Id="rId47" Type="http://schemas.openxmlformats.org/officeDocument/2006/relationships/font" Target="fonts/Play-bold.fntdata"/><Relationship Id="rId49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97538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b83111e67_2_125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db83111e67_2_125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b9c4af6d4_1_3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b9c4af6d4_1_3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b83111e67_0_407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db83111e67_0_407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b83111e67_0_414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db83111e67_0_414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b83111e67_0_421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db83111e67_0_421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b83111e67_0_428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db83111e67_0_428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b83111e67_0_435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db83111e67_0_435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b83111e67_0_442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b83111e67_0_442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b83111e67_0_449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db83111e67_0_449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b83111e67_3_13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db83111e67_3_13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b83111e67_0_812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db83111e67_0_812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b83111e67_0_820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db83111e67_0_820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bb7ac01c8_0_6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dbb7ac01c8_0_6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b83111e67_0_2127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b83111e67_0_2127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b83111e67_1_7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db83111e67_1_7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ba27681ac_2_1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ba27681ac_2_1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dba27681ac_2_1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ba27681ac_3_8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dba27681ac_3_8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ba27681ac_3_135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dba27681ac_3_135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bb7ac01c8_0_264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dbb7ac01c8_0_264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bb7ac01c8_0_271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dbb7ac01c8_0_271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b83111e67_1_132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db83111e67_1_132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b83111e67_2_377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db83111e67_2_377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b83111e67_0_2510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db83111e67_0_2510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db83111e67_0_2510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b83111e67_0_2378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b83111e67_0_2378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db83111e67_0_2378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b83111e67_0_1321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db83111e67_0_1321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b83111e67_3_147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db83111e67_3_147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b83111e67_0_2385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db83111e67_0_2385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b8b7840d9_0_0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db8b7840d9_0_0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db8b7840d9_0_0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b8b7840d9_0_8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b8b7840d9_0_8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db8b7840d9_0_8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b8b7840d9_0_15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db8b7840d9_0_15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db8b7840d9_0_15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b83111e67_0_1723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db83111e67_0_1723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b83111e67_0_1729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db83111e67_0_1729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b83111e67_0_1741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db83111e67_0_1741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db83111e67_0_1747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db83111e67_0_1747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db9c4af6d4_0_13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db9c4af6d4_0_13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db83111e67_3_272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db83111e67_3_272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db83111e67_3_272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db9c4af6d4_0_3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db9c4af6d4_0_3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db9c4af6d4_0_3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Title &amp; Content">
  <p:cSld name="1_Top Title &amp;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16" name="Google Shape;16;p2"/>
          <p:cNvPicPr preferRelativeResize="0"/>
          <p:nvPr/>
        </p:nvPicPr>
        <p:blipFill rotWithShape="1">
          <a:blip r:embed="rId2">
            <a:alphaModFix/>
          </a:blip>
          <a:srcRect b="68627" l="0" r="0" t="0"/>
          <a:stretch/>
        </p:blipFill>
        <p:spPr>
          <a:xfrm>
            <a:off x="0" y="2667000"/>
            <a:ext cx="1005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title"/>
          </p:nvPr>
        </p:nvSpPr>
        <p:spPr>
          <a:xfrm>
            <a:off x="228600" y="2857500"/>
            <a:ext cx="952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9580180" y="7543800"/>
            <a:ext cx="478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 &amp; Content">
  <p:cSld name="Top Title &amp;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9829800" y="7391401"/>
            <a:ext cx="152400" cy="2285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A blue and white rectangle&#10;&#10;Description automatically generated" id="22" name="Google Shape;22;p3"/>
          <p:cNvPicPr preferRelativeResize="0"/>
          <p:nvPr/>
        </p:nvPicPr>
        <p:blipFill rotWithShape="1">
          <a:blip r:embed="rId2">
            <a:alphaModFix/>
          </a:blip>
          <a:srcRect b="75490" l="0" r="0" t="0"/>
          <a:stretch/>
        </p:blipFill>
        <p:spPr>
          <a:xfrm flipH="1" rot="10800000">
            <a:off x="0" y="0"/>
            <a:ext cx="100584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9580180" y="7543800"/>
            <a:ext cx="478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Description automatically generated"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058400" cy="77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ctrTitle"/>
          </p:nvPr>
        </p:nvSpPr>
        <p:spPr>
          <a:xfrm>
            <a:off x="1266711" y="1789113"/>
            <a:ext cx="8254910" cy="27066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266711" y="5672667"/>
            <a:ext cx="8254910" cy="1652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 &amp; Long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30" name="Google Shape;30;p5"/>
          <p:cNvPicPr preferRelativeResize="0"/>
          <p:nvPr/>
        </p:nvPicPr>
        <p:blipFill rotWithShape="1">
          <a:blip r:embed="rId2">
            <a:alphaModFix/>
          </a:blip>
          <a:srcRect b="87256" l="0" r="0" t="0"/>
          <a:stretch/>
        </p:blipFill>
        <p:spPr>
          <a:xfrm>
            <a:off x="0" y="0"/>
            <a:ext cx="1005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>
            <p:ph type="title"/>
          </p:nvPr>
        </p:nvSpPr>
        <p:spPr>
          <a:xfrm>
            <a:off x="228600" y="1524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28600" y="1143000"/>
            <a:ext cx="9525000" cy="6248401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9580180" y="7543800"/>
            <a:ext cx="478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ttom Title &amp; Content">
  <p:cSld name="Bottom Title &amp;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35" name="Google Shape;35;p6"/>
          <p:cNvPicPr preferRelativeResize="0"/>
          <p:nvPr/>
        </p:nvPicPr>
        <p:blipFill rotWithShape="1">
          <a:blip r:embed="rId2">
            <a:alphaModFix/>
          </a:blip>
          <a:srcRect b="75490" l="0" r="0" t="0"/>
          <a:stretch/>
        </p:blipFill>
        <p:spPr>
          <a:xfrm flipH="1" rot="10800000">
            <a:off x="0" y="5867400"/>
            <a:ext cx="100584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idx="1" type="body"/>
          </p:nvPr>
        </p:nvSpPr>
        <p:spPr>
          <a:xfrm>
            <a:off x="266700" y="2286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266700" y="59817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9580180" y="7543800"/>
            <a:ext cx="478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Title &amp; Long Content">
  <p:cSld name="1_Top Title &amp; Long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40" name="Google Shape;40;p7"/>
          <p:cNvPicPr preferRelativeResize="0"/>
          <p:nvPr/>
        </p:nvPicPr>
        <p:blipFill rotWithShape="1">
          <a:blip r:embed="rId2">
            <a:alphaModFix/>
          </a:blip>
          <a:srcRect b="87256" l="0" r="0" t="0"/>
          <a:stretch/>
        </p:blipFill>
        <p:spPr>
          <a:xfrm>
            <a:off x="0" y="6781800"/>
            <a:ext cx="1005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/>
          <p:nvPr>
            <p:ph type="title"/>
          </p:nvPr>
        </p:nvSpPr>
        <p:spPr>
          <a:xfrm>
            <a:off x="228600" y="69342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28600" y="304800"/>
            <a:ext cx="9525000" cy="6248401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9580180" y="7543800"/>
            <a:ext cx="478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692150" y="2068513"/>
            <a:ext cx="8674100" cy="493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685800" y="1938338"/>
            <a:ext cx="8675688" cy="3232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685800" y="5200650"/>
            <a:ext cx="8675688" cy="1700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692150" y="2068513"/>
            <a:ext cx="4260850" cy="493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5105400" y="2068513"/>
            <a:ext cx="4260850" cy="493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92150" y="414338"/>
            <a:ext cx="8675688" cy="150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692150" y="1905000"/>
            <a:ext cx="4256088" cy="933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692150" y="2838450"/>
            <a:ext cx="4256088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5092700" y="1905000"/>
            <a:ext cx="4275138" cy="933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5092700" y="2838450"/>
            <a:ext cx="4275138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692150" y="517525"/>
            <a:ext cx="324485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4276725" y="1119188"/>
            <a:ext cx="5091113" cy="5522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692150" y="2332038"/>
            <a:ext cx="32448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4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692150" y="517525"/>
            <a:ext cx="324485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276725" y="1119188"/>
            <a:ext cx="5091113" cy="5522912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692150" y="2332038"/>
            <a:ext cx="32448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15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 rot="5400000">
            <a:off x="2563019" y="197644"/>
            <a:ext cx="4932362" cy="8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 rot="5400000">
            <a:off x="4988719" y="2623344"/>
            <a:ext cx="6586537" cy="216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 rot="5400000">
            <a:off x="575469" y="531019"/>
            <a:ext cx="6586537" cy="635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76200" algn="r">
              <a:lnSpc>
                <a:spcPct val="105999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762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ctrTitle"/>
          </p:nvPr>
        </p:nvSpPr>
        <p:spPr>
          <a:xfrm>
            <a:off x="756475" y="834680"/>
            <a:ext cx="4480179" cy="502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0"/>
              <a:buFont typeface="Calibri"/>
              <a:buNone/>
              <a:defRPr b="0" i="0" sz="36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subTitle"/>
          </p:nvPr>
        </p:nvSpPr>
        <p:spPr>
          <a:xfrm>
            <a:off x="1587342" y="4697696"/>
            <a:ext cx="6546341" cy="365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36A"/>
              </a:buClr>
              <a:buSzPts val="2640"/>
              <a:buChar char="•"/>
              <a:defRPr b="1" i="0" sz="2640">
                <a:solidFill>
                  <a:srgbClr val="4453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1433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691515" y="50411"/>
            <a:ext cx="8675370" cy="10179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70"/>
              <a:buFont typeface="Play"/>
              <a:buNone/>
              <a:defRPr b="1" sz="297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692150" y="2068513"/>
            <a:ext cx="8674100" cy="493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 sz="1980"/>
            </a:lvl1pPr>
            <a:lvl2pPr indent="-33337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50"/>
              <a:buChar char="•"/>
              <a:defRPr sz="1650"/>
            </a:lvl2pPr>
            <a:lvl3pPr indent="-322898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85"/>
              <a:buChar char="•"/>
              <a:defRPr sz="1485"/>
            </a:lvl3pPr>
            <a:lvl4pPr indent="-31242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20"/>
              <a:buChar char="•"/>
              <a:defRPr sz="1320"/>
            </a:lvl4pPr>
            <a:lvl5pPr indent="-301942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5"/>
              <a:buChar char="•"/>
              <a:defRPr sz="1155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6" name="Google Shape;126;p20"/>
          <p:cNvCxnSpPr/>
          <p:nvPr/>
        </p:nvCxnSpPr>
        <p:spPr>
          <a:xfrm>
            <a:off x="691515" y="1111106"/>
            <a:ext cx="867537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Title &amp; Content">
  <p:cSld name="1_Top Title &amp; Conten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134" name="Google Shape;134;p22"/>
          <p:cNvPicPr preferRelativeResize="0"/>
          <p:nvPr/>
        </p:nvPicPr>
        <p:blipFill rotWithShape="1">
          <a:blip r:embed="rId2">
            <a:alphaModFix/>
          </a:blip>
          <a:srcRect b="68627" l="0" r="0" t="0"/>
          <a:stretch/>
        </p:blipFill>
        <p:spPr>
          <a:xfrm>
            <a:off x="0" y="2667000"/>
            <a:ext cx="1005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>
            <p:ph type="title"/>
          </p:nvPr>
        </p:nvSpPr>
        <p:spPr>
          <a:xfrm>
            <a:off x="228600" y="2857500"/>
            <a:ext cx="952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 &amp; Content">
  <p:cSld name="Top Title &amp;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/>
          <p:nvPr/>
        </p:nvSpPr>
        <p:spPr>
          <a:xfrm>
            <a:off x="9829800" y="7391401"/>
            <a:ext cx="1524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A blue and white rectangle&#10;&#10;Description automatically generated" id="140" name="Google Shape;140;p23"/>
          <p:cNvPicPr preferRelativeResize="0"/>
          <p:nvPr/>
        </p:nvPicPr>
        <p:blipFill rotWithShape="1">
          <a:blip r:embed="rId2">
            <a:alphaModFix/>
          </a:blip>
          <a:srcRect b="75490" l="0" r="0" t="0"/>
          <a:stretch/>
        </p:blipFill>
        <p:spPr>
          <a:xfrm flipH="1" rot="10800000">
            <a:off x="0" y="-1"/>
            <a:ext cx="10058400" cy="19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Description automatically generated" id="144" name="Google Shape;14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058400" cy="77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>
            <p:ph type="ctrTitle"/>
          </p:nvPr>
        </p:nvSpPr>
        <p:spPr>
          <a:xfrm>
            <a:off x="1266711" y="1789113"/>
            <a:ext cx="82548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" type="subTitle"/>
          </p:nvPr>
        </p:nvSpPr>
        <p:spPr>
          <a:xfrm>
            <a:off x="1266711" y="5672667"/>
            <a:ext cx="8254800" cy="16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 &amp; Long Content" type="obj">
  <p:cSld name="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148" name="Google Shape;148;p25"/>
          <p:cNvPicPr preferRelativeResize="0"/>
          <p:nvPr/>
        </p:nvPicPr>
        <p:blipFill rotWithShape="1">
          <a:blip r:embed="rId2">
            <a:alphaModFix/>
          </a:blip>
          <a:srcRect b="87256" l="0" r="0" t="0"/>
          <a:stretch/>
        </p:blipFill>
        <p:spPr>
          <a:xfrm>
            <a:off x="0" y="0"/>
            <a:ext cx="1005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>
            <p:ph type="title"/>
          </p:nvPr>
        </p:nvSpPr>
        <p:spPr>
          <a:xfrm>
            <a:off x="228600" y="1524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228600" y="1143000"/>
            <a:ext cx="9525000" cy="6248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ttom Title &amp; Content">
  <p:cSld name="Bottom Title &amp; Conten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153" name="Google Shape;153;p26"/>
          <p:cNvPicPr preferRelativeResize="0"/>
          <p:nvPr/>
        </p:nvPicPr>
        <p:blipFill rotWithShape="1">
          <a:blip r:embed="rId2">
            <a:alphaModFix/>
          </a:blip>
          <a:srcRect b="75490" l="0" r="0" t="0"/>
          <a:stretch/>
        </p:blipFill>
        <p:spPr>
          <a:xfrm flipH="1" rot="10800000">
            <a:off x="0" y="5867399"/>
            <a:ext cx="10058400" cy="19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266700" y="2286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type="title"/>
          </p:nvPr>
        </p:nvSpPr>
        <p:spPr>
          <a:xfrm>
            <a:off x="266700" y="59817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Title &amp; Long Content">
  <p:cSld name="1_Top Title &amp; Long Conten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158" name="Google Shape;158;p27"/>
          <p:cNvPicPr preferRelativeResize="0"/>
          <p:nvPr/>
        </p:nvPicPr>
        <p:blipFill rotWithShape="1">
          <a:blip r:embed="rId2">
            <a:alphaModFix/>
          </a:blip>
          <a:srcRect b="87256" l="0" r="0" t="0"/>
          <a:stretch/>
        </p:blipFill>
        <p:spPr>
          <a:xfrm>
            <a:off x="0" y="6781800"/>
            <a:ext cx="1005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>
            <p:ph type="title"/>
          </p:nvPr>
        </p:nvSpPr>
        <p:spPr>
          <a:xfrm>
            <a:off x="228600" y="69342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228600" y="304800"/>
            <a:ext cx="9525000" cy="6248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692150" y="2068513"/>
            <a:ext cx="86742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685800" y="1938338"/>
            <a:ext cx="8675700" cy="32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685800" y="5200650"/>
            <a:ext cx="86757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71" name="Google Shape;171;p29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692150" y="2068513"/>
            <a:ext cx="42609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2" type="body"/>
          </p:nvPr>
        </p:nvSpPr>
        <p:spPr>
          <a:xfrm>
            <a:off x="5105400" y="2068513"/>
            <a:ext cx="42609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0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692150" y="414338"/>
            <a:ext cx="86757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692150" y="1905000"/>
            <a:ext cx="4256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p31"/>
          <p:cNvSpPr txBox="1"/>
          <p:nvPr>
            <p:ph idx="2" type="body"/>
          </p:nvPr>
        </p:nvSpPr>
        <p:spPr>
          <a:xfrm>
            <a:off x="692150" y="2838450"/>
            <a:ext cx="42561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3" type="body"/>
          </p:nvPr>
        </p:nvSpPr>
        <p:spPr>
          <a:xfrm>
            <a:off x="5092700" y="1905000"/>
            <a:ext cx="42750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31"/>
          <p:cNvSpPr txBox="1"/>
          <p:nvPr>
            <p:ph idx="4" type="body"/>
          </p:nvPr>
        </p:nvSpPr>
        <p:spPr>
          <a:xfrm>
            <a:off x="5092700" y="2838450"/>
            <a:ext cx="42750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2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2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692150" y="517525"/>
            <a:ext cx="3244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4276725" y="1119188"/>
            <a:ext cx="5091000" cy="5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2" name="Google Shape;202;p34"/>
          <p:cNvSpPr txBox="1"/>
          <p:nvPr>
            <p:ph idx="2" type="body"/>
          </p:nvPr>
        </p:nvSpPr>
        <p:spPr>
          <a:xfrm>
            <a:off x="692150" y="2332038"/>
            <a:ext cx="32448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34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4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692150" y="517525"/>
            <a:ext cx="3244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5"/>
          <p:cNvSpPr/>
          <p:nvPr>
            <p:ph idx="2" type="pic"/>
          </p:nvPr>
        </p:nvSpPr>
        <p:spPr>
          <a:xfrm>
            <a:off x="4276725" y="1119188"/>
            <a:ext cx="5091000" cy="55230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692150" y="2332038"/>
            <a:ext cx="32448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0" name="Google Shape;210;p35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5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5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 rot="5400000">
            <a:off x="2563000" y="197563"/>
            <a:ext cx="4932300" cy="8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6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 rot="5400000">
            <a:off x="4988800" y="2623388"/>
            <a:ext cx="6586500" cy="21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" type="body"/>
          </p:nvPr>
        </p:nvSpPr>
        <p:spPr>
          <a:xfrm rot="5400000">
            <a:off x="575525" y="531038"/>
            <a:ext cx="6586500" cy="6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502920" y="1787652"/>
            <a:ext cx="4375500" cy="51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2" type="body"/>
          </p:nvPr>
        </p:nvSpPr>
        <p:spPr>
          <a:xfrm>
            <a:off x="5180076" y="1787652"/>
            <a:ext cx="4375500" cy="51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38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8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8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762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ctrTitle"/>
          </p:nvPr>
        </p:nvSpPr>
        <p:spPr>
          <a:xfrm>
            <a:off x="756475" y="834680"/>
            <a:ext cx="448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0"/>
              <a:buFont typeface="Calibri"/>
              <a:buNone/>
              <a:defRPr b="0" i="0" sz="36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1" type="subTitle"/>
          </p:nvPr>
        </p:nvSpPr>
        <p:spPr>
          <a:xfrm>
            <a:off x="1587342" y="4697696"/>
            <a:ext cx="654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36A"/>
              </a:buClr>
              <a:buSzPts val="2640"/>
              <a:buChar char="•"/>
              <a:defRPr b="1" i="0" sz="2640">
                <a:solidFill>
                  <a:srgbClr val="4453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39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9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1433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691515" y="50411"/>
            <a:ext cx="8675400" cy="101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70"/>
              <a:buFont typeface="Play"/>
              <a:buNone/>
              <a:defRPr b="1" sz="297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692150" y="2068513"/>
            <a:ext cx="86742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 sz="1980"/>
            </a:lvl1pPr>
            <a:lvl2pPr indent="-33337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50"/>
              <a:buChar char="•"/>
              <a:defRPr sz="1650"/>
            </a:lvl2pPr>
            <a:lvl3pPr indent="-322898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85"/>
              <a:buChar char="•"/>
              <a:defRPr sz="1485"/>
            </a:lvl3pPr>
            <a:lvl4pPr indent="-31242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20"/>
              <a:buChar char="•"/>
              <a:defRPr sz="1320"/>
            </a:lvl4pPr>
            <a:lvl5pPr indent="-301942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5"/>
              <a:buChar char="•"/>
              <a:defRPr sz="1155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40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0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0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4" name="Google Shape;244;p40"/>
          <p:cNvCxnSpPr/>
          <p:nvPr/>
        </p:nvCxnSpPr>
        <p:spPr>
          <a:xfrm>
            <a:off x="691515" y="1111106"/>
            <a:ext cx="86754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Title &amp; Content">
  <p:cSld name="1_Top Title &amp; Conten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252" name="Google Shape;252;p42"/>
          <p:cNvPicPr preferRelativeResize="0"/>
          <p:nvPr/>
        </p:nvPicPr>
        <p:blipFill rotWithShape="1">
          <a:blip r:embed="rId2">
            <a:alphaModFix/>
          </a:blip>
          <a:srcRect b="68627" l="0" r="0" t="0"/>
          <a:stretch/>
        </p:blipFill>
        <p:spPr>
          <a:xfrm>
            <a:off x="0" y="2667000"/>
            <a:ext cx="1005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2"/>
          <p:cNvSpPr txBox="1"/>
          <p:nvPr>
            <p:ph type="title"/>
          </p:nvPr>
        </p:nvSpPr>
        <p:spPr>
          <a:xfrm>
            <a:off x="228600" y="2857500"/>
            <a:ext cx="952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2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 &amp; Content">
  <p:cSld name="Top Title &amp; Conten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43"/>
          <p:cNvSpPr/>
          <p:nvPr/>
        </p:nvSpPr>
        <p:spPr>
          <a:xfrm>
            <a:off x="9829800" y="7391401"/>
            <a:ext cx="1524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A blue and white rectangle&#10;&#10;Description automatically generated" id="258" name="Google Shape;258;p43"/>
          <p:cNvPicPr preferRelativeResize="0"/>
          <p:nvPr/>
        </p:nvPicPr>
        <p:blipFill rotWithShape="1">
          <a:blip r:embed="rId2">
            <a:alphaModFix/>
          </a:blip>
          <a:srcRect b="75490" l="0" r="0" t="0"/>
          <a:stretch/>
        </p:blipFill>
        <p:spPr>
          <a:xfrm flipH="1" rot="10800000">
            <a:off x="0" y="-1"/>
            <a:ext cx="10058400" cy="19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3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3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background&#10;&#10;Description automatically generated" id="262" name="Google Shape;26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058400" cy="77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4"/>
          <p:cNvSpPr txBox="1"/>
          <p:nvPr>
            <p:ph type="ctrTitle"/>
          </p:nvPr>
        </p:nvSpPr>
        <p:spPr>
          <a:xfrm>
            <a:off x="1266711" y="1789113"/>
            <a:ext cx="82548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4"/>
          <p:cNvSpPr txBox="1"/>
          <p:nvPr>
            <p:ph idx="1" type="subTitle"/>
          </p:nvPr>
        </p:nvSpPr>
        <p:spPr>
          <a:xfrm>
            <a:off x="1266711" y="5672667"/>
            <a:ext cx="8254800" cy="16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5" name="Google Shape;265;p44"/>
          <p:cNvSpPr txBox="1"/>
          <p:nvPr>
            <p:ph idx="12" type="sldNum"/>
          </p:nvPr>
        </p:nvSpPr>
        <p:spPr>
          <a:xfrm>
            <a:off x="9412462" y="7177552"/>
            <a:ext cx="603600" cy="59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1400">
                <a:solidFill>
                  <a:schemeClr val="dk1"/>
                </a:solidFill>
              </a:defRPr>
            </a:lvl1pPr>
            <a:lvl2pPr lvl="1">
              <a:buNone/>
              <a:defRPr sz="1400">
                <a:solidFill>
                  <a:schemeClr val="dk1"/>
                </a:solidFill>
              </a:defRPr>
            </a:lvl2pPr>
            <a:lvl3pPr lvl="2">
              <a:buNone/>
              <a:defRPr sz="1400">
                <a:solidFill>
                  <a:schemeClr val="dk1"/>
                </a:solidFill>
              </a:defRPr>
            </a:lvl3pPr>
            <a:lvl4pPr lvl="3">
              <a:buNone/>
              <a:defRPr sz="1400">
                <a:solidFill>
                  <a:schemeClr val="dk1"/>
                </a:solidFill>
              </a:defRPr>
            </a:lvl4pPr>
            <a:lvl5pPr lvl="4">
              <a:buNone/>
              <a:defRPr sz="1400">
                <a:solidFill>
                  <a:schemeClr val="dk1"/>
                </a:solidFill>
              </a:defRPr>
            </a:lvl5pPr>
            <a:lvl6pPr lvl="5">
              <a:buNone/>
              <a:defRPr sz="1400">
                <a:solidFill>
                  <a:schemeClr val="dk1"/>
                </a:solidFill>
              </a:defRPr>
            </a:lvl6pPr>
            <a:lvl7pPr lvl="6">
              <a:buNone/>
              <a:defRPr sz="1400">
                <a:solidFill>
                  <a:schemeClr val="dk1"/>
                </a:solidFill>
              </a:defRPr>
            </a:lvl7pPr>
            <a:lvl8pPr lvl="7">
              <a:buNone/>
              <a:defRPr sz="1400">
                <a:solidFill>
                  <a:schemeClr val="dk1"/>
                </a:solidFill>
              </a:defRPr>
            </a:lvl8pPr>
            <a:lvl9pPr lvl="8">
              <a:buNone/>
              <a:defRPr sz="1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Title &amp; Long Content" type="obj">
  <p:cSld name="OBJEC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267" name="Google Shape;267;p45"/>
          <p:cNvPicPr preferRelativeResize="0"/>
          <p:nvPr/>
        </p:nvPicPr>
        <p:blipFill rotWithShape="1">
          <a:blip r:embed="rId2">
            <a:alphaModFix/>
          </a:blip>
          <a:srcRect b="87256" l="0" r="0" t="0"/>
          <a:stretch/>
        </p:blipFill>
        <p:spPr>
          <a:xfrm>
            <a:off x="0" y="0"/>
            <a:ext cx="1005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5"/>
          <p:cNvSpPr txBox="1"/>
          <p:nvPr>
            <p:ph type="title"/>
          </p:nvPr>
        </p:nvSpPr>
        <p:spPr>
          <a:xfrm>
            <a:off x="228600" y="1524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5"/>
          <p:cNvSpPr txBox="1"/>
          <p:nvPr>
            <p:ph idx="1" type="body"/>
          </p:nvPr>
        </p:nvSpPr>
        <p:spPr>
          <a:xfrm>
            <a:off x="228600" y="1143000"/>
            <a:ext cx="9525000" cy="6248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p45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ttom Title &amp; Content">
  <p:cSld name="Bottom Title &amp; Conten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272" name="Google Shape;272;p46"/>
          <p:cNvPicPr preferRelativeResize="0"/>
          <p:nvPr/>
        </p:nvPicPr>
        <p:blipFill rotWithShape="1">
          <a:blip r:embed="rId2">
            <a:alphaModFix/>
          </a:blip>
          <a:srcRect b="75490" l="0" r="0" t="0"/>
          <a:stretch/>
        </p:blipFill>
        <p:spPr>
          <a:xfrm flipH="1" rot="10800000">
            <a:off x="0" y="5867399"/>
            <a:ext cx="10058400" cy="19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6"/>
          <p:cNvSpPr txBox="1"/>
          <p:nvPr>
            <p:ph idx="1" type="body"/>
          </p:nvPr>
        </p:nvSpPr>
        <p:spPr>
          <a:xfrm>
            <a:off x="266700" y="2286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46"/>
          <p:cNvSpPr txBox="1"/>
          <p:nvPr>
            <p:ph type="title"/>
          </p:nvPr>
        </p:nvSpPr>
        <p:spPr>
          <a:xfrm>
            <a:off x="266700" y="59817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6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Title &amp; Long Content">
  <p:cSld name="1_Top Title &amp; Long Conten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rectangle&#10;&#10;Description automatically generated" id="277" name="Google Shape;277;p47"/>
          <p:cNvPicPr preferRelativeResize="0"/>
          <p:nvPr/>
        </p:nvPicPr>
        <p:blipFill rotWithShape="1">
          <a:blip r:embed="rId2">
            <a:alphaModFix/>
          </a:blip>
          <a:srcRect b="87256" l="0" r="0" t="0"/>
          <a:stretch/>
        </p:blipFill>
        <p:spPr>
          <a:xfrm>
            <a:off x="0" y="6781800"/>
            <a:ext cx="10058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7"/>
          <p:cNvSpPr txBox="1"/>
          <p:nvPr>
            <p:ph type="title"/>
          </p:nvPr>
        </p:nvSpPr>
        <p:spPr>
          <a:xfrm>
            <a:off x="228600" y="69342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228600" y="304800"/>
            <a:ext cx="9525000" cy="6248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47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8"/>
          <p:cNvSpPr txBox="1"/>
          <p:nvPr>
            <p:ph idx="1" type="body"/>
          </p:nvPr>
        </p:nvSpPr>
        <p:spPr>
          <a:xfrm>
            <a:off x="692150" y="2068513"/>
            <a:ext cx="86742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p48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8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8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9"/>
          <p:cNvSpPr txBox="1"/>
          <p:nvPr>
            <p:ph type="title"/>
          </p:nvPr>
        </p:nvSpPr>
        <p:spPr>
          <a:xfrm>
            <a:off x="685800" y="1938338"/>
            <a:ext cx="8675700" cy="32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9"/>
          <p:cNvSpPr txBox="1"/>
          <p:nvPr>
            <p:ph idx="1" type="body"/>
          </p:nvPr>
        </p:nvSpPr>
        <p:spPr>
          <a:xfrm>
            <a:off x="685800" y="5200650"/>
            <a:ext cx="86757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90" name="Google Shape;290;p49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49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9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0"/>
          <p:cNvSpPr txBox="1"/>
          <p:nvPr>
            <p:ph idx="1" type="body"/>
          </p:nvPr>
        </p:nvSpPr>
        <p:spPr>
          <a:xfrm>
            <a:off x="692150" y="2068513"/>
            <a:ext cx="42609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50"/>
          <p:cNvSpPr txBox="1"/>
          <p:nvPr>
            <p:ph idx="2" type="body"/>
          </p:nvPr>
        </p:nvSpPr>
        <p:spPr>
          <a:xfrm>
            <a:off x="5105400" y="2068513"/>
            <a:ext cx="42609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p50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0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50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/>
          <p:nvPr>
            <p:ph type="title"/>
          </p:nvPr>
        </p:nvSpPr>
        <p:spPr>
          <a:xfrm>
            <a:off x="692150" y="414338"/>
            <a:ext cx="86757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51"/>
          <p:cNvSpPr txBox="1"/>
          <p:nvPr>
            <p:ph idx="1" type="body"/>
          </p:nvPr>
        </p:nvSpPr>
        <p:spPr>
          <a:xfrm>
            <a:off x="692150" y="1905000"/>
            <a:ext cx="4256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3" name="Google Shape;303;p51"/>
          <p:cNvSpPr txBox="1"/>
          <p:nvPr>
            <p:ph idx="2" type="body"/>
          </p:nvPr>
        </p:nvSpPr>
        <p:spPr>
          <a:xfrm>
            <a:off x="692150" y="2838450"/>
            <a:ext cx="42561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51"/>
          <p:cNvSpPr txBox="1"/>
          <p:nvPr>
            <p:ph idx="3" type="body"/>
          </p:nvPr>
        </p:nvSpPr>
        <p:spPr>
          <a:xfrm>
            <a:off x="5092700" y="1905000"/>
            <a:ext cx="42750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5" name="Google Shape;305;p51"/>
          <p:cNvSpPr txBox="1"/>
          <p:nvPr>
            <p:ph idx="4" type="body"/>
          </p:nvPr>
        </p:nvSpPr>
        <p:spPr>
          <a:xfrm>
            <a:off x="5092700" y="2838450"/>
            <a:ext cx="42750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51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1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1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52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2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2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53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3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type="title"/>
          </p:nvPr>
        </p:nvSpPr>
        <p:spPr>
          <a:xfrm>
            <a:off x="692150" y="517525"/>
            <a:ext cx="3244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54"/>
          <p:cNvSpPr txBox="1"/>
          <p:nvPr>
            <p:ph idx="1" type="body"/>
          </p:nvPr>
        </p:nvSpPr>
        <p:spPr>
          <a:xfrm>
            <a:off x="4276725" y="1119188"/>
            <a:ext cx="5091000" cy="5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21" name="Google Shape;321;p54"/>
          <p:cNvSpPr txBox="1"/>
          <p:nvPr>
            <p:ph idx="2" type="body"/>
          </p:nvPr>
        </p:nvSpPr>
        <p:spPr>
          <a:xfrm>
            <a:off x="692150" y="2332038"/>
            <a:ext cx="32448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54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4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54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692150" y="517525"/>
            <a:ext cx="3244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55"/>
          <p:cNvSpPr/>
          <p:nvPr>
            <p:ph idx="2" type="pic"/>
          </p:nvPr>
        </p:nvSpPr>
        <p:spPr>
          <a:xfrm>
            <a:off x="4276725" y="1119188"/>
            <a:ext cx="5091000" cy="55230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5"/>
          <p:cNvSpPr txBox="1"/>
          <p:nvPr>
            <p:ph idx="1" type="body"/>
          </p:nvPr>
        </p:nvSpPr>
        <p:spPr>
          <a:xfrm>
            <a:off x="692150" y="2332038"/>
            <a:ext cx="32448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29" name="Google Shape;329;p55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55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55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6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56"/>
          <p:cNvSpPr txBox="1"/>
          <p:nvPr>
            <p:ph idx="1" type="body"/>
          </p:nvPr>
        </p:nvSpPr>
        <p:spPr>
          <a:xfrm rot="5400000">
            <a:off x="2563000" y="197563"/>
            <a:ext cx="4932300" cy="8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56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56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56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7"/>
          <p:cNvSpPr txBox="1"/>
          <p:nvPr>
            <p:ph type="title"/>
          </p:nvPr>
        </p:nvSpPr>
        <p:spPr>
          <a:xfrm rot="5400000">
            <a:off x="4988800" y="2623388"/>
            <a:ext cx="6586500" cy="21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57"/>
          <p:cNvSpPr txBox="1"/>
          <p:nvPr>
            <p:ph idx="1" type="body"/>
          </p:nvPr>
        </p:nvSpPr>
        <p:spPr>
          <a:xfrm rot="5400000">
            <a:off x="575525" y="531038"/>
            <a:ext cx="6586500" cy="6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57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7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57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8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58"/>
          <p:cNvSpPr txBox="1"/>
          <p:nvPr>
            <p:ph idx="1" type="body"/>
          </p:nvPr>
        </p:nvSpPr>
        <p:spPr>
          <a:xfrm>
            <a:off x="502920" y="1787652"/>
            <a:ext cx="4375500" cy="51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p58"/>
          <p:cNvSpPr txBox="1"/>
          <p:nvPr>
            <p:ph idx="2" type="body"/>
          </p:nvPr>
        </p:nvSpPr>
        <p:spPr>
          <a:xfrm>
            <a:off x="5180076" y="1787652"/>
            <a:ext cx="4375500" cy="51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8" name="Google Shape;348;p58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8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58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76200" algn="r">
              <a:lnSpc>
                <a:spcPct val="106000"/>
              </a:lnSpc>
              <a:spcBef>
                <a:spcPts val="0"/>
              </a:spcBef>
              <a:buNone/>
              <a:defRPr b="0" i="0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762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9"/>
          <p:cNvSpPr txBox="1"/>
          <p:nvPr>
            <p:ph type="ctrTitle"/>
          </p:nvPr>
        </p:nvSpPr>
        <p:spPr>
          <a:xfrm>
            <a:off x="756475" y="834680"/>
            <a:ext cx="448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0"/>
              <a:buFont typeface="Calibri"/>
              <a:buNone/>
              <a:defRPr b="0" i="0" sz="36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9"/>
          <p:cNvSpPr txBox="1"/>
          <p:nvPr>
            <p:ph idx="1" type="subTitle"/>
          </p:nvPr>
        </p:nvSpPr>
        <p:spPr>
          <a:xfrm>
            <a:off x="1587342" y="4697696"/>
            <a:ext cx="654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536A"/>
              </a:buClr>
              <a:buSzPts val="2640"/>
              <a:buChar char="•"/>
              <a:defRPr b="1" i="0" sz="2640">
                <a:solidFill>
                  <a:srgbClr val="4453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59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59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59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1433" algn="r">
              <a:lnSpc>
                <a:spcPct val="103437"/>
              </a:lnSpc>
              <a:spcBef>
                <a:spcPts val="0"/>
              </a:spcBef>
              <a:buNone/>
              <a:defRPr b="0" i="0" sz="99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1433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0"/>
          <p:cNvSpPr txBox="1"/>
          <p:nvPr>
            <p:ph type="title"/>
          </p:nvPr>
        </p:nvSpPr>
        <p:spPr>
          <a:xfrm>
            <a:off x="691515" y="50411"/>
            <a:ext cx="8675400" cy="101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70"/>
              <a:buFont typeface="Play"/>
              <a:buNone/>
              <a:defRPr b="1" sz="297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60"/>
          <p:cNvSpPr txBox="1"/>
          <p:nvPr>
            <p:ph idx="1" type="body"/>
          </p:nvPr>
        </p:nvSpPr>
        <p:spPr>
          <a:xfrm>
            <a:off x="692150" y="2068513"/>
            <a:ext cx="86742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 sz="1980"/>
            </a:lvl1pPr>
            <a:lvl2pPr indent="-33337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50"/>
              <a:buChar char="•"/>
              <a:defRPr sz="1650"/>
            </a:lvl2pPr>
            <a:lvl3pPr indent="-322898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85"/>
              <a:buChar char="•"/>
              <a:defRPr sz="1485"/>
            </a:lvl3pPr>
            <a:lvl4pPr indent="-31242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20"/>
              <a:buChar char="•"/>
              <a:defRPr sz="1320"/>
            </a:lvl4pPr>
            <a:lvl5pPr indent="-301942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5"/>
              <a:buChar char="•"/>
              <a:defRPr sz="1155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0" name="Google Shape;360;p60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60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60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/>
            </a:lvl1pPr>
            <a:lvl2pPr indent="0" lvl="1" algn="r">
              <a:spcBef>
                <a:spcPts val="0"/>
              </a:spcBef>
              <a:buNone/>
              <a:defRPr/>
            </a:lvl2pPr>
            <a:lvl3pPr indent="0" lvl="2" algn="r">
              <a:spcBef>
                <a:spcPts val="0"/>
              </a:spcBef>
              <a:buNone/>
              <a:defRPr/>
            </a:lvl3pPr>
            <a:lvl4pPr indent="0" lvl="3" algn="r">
              <a:spcBef>
                <a:spcPts val="0"/>
              </a:spcBef>
              <a:buNone/>
              <a:defRPr/>
            </a:lvl4pPr>
            <a:lvl5pPr indent="0" lvl="4" algn="r">
              <a:spcBef>
                <a:spcPts val="0"/>
              </a:spcBef>
              <a:buNone/>
              <a:defRPr/>
            </a:lvl5pPr>
            <a:lvl6pPr indent="0" lvl="5" algn="r">
              <a:spcBef>
                <a:spcPts val="0"/>
              </a:spcBef>
              <a:buNone/>
              <a:defRPr/>
            </a:lvl6pPr>
            <a:lvl7pPr indent="0" lvl="6" algn="r">
              <a:spcBef>
                <a:spcPts val="0"/>
              </a:spcBef>
              <a:buNone/>
              <a:defRPr/>
            </a:lvl7pPr>
            <a:lvl8pPr indent="0" lvl="7" algn="r">
              <a:spcBef>
                <a:spcPts val="0"/>
              </a:spcBef>
              <a:buNone/>
              <a:defRPr/>
            </a:lvl8pPr>
            <a:lvl9pPr indent="0" lvl="8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3" name="Google Shape;363;p60"/>
          <p:cNvCxnSpPr/>
          <p:nvPr/>
        </p:nvCxnSpPr>
        <p:spPr>
          <a:xfrm>
            <a:off x="691515" y="1111106"/>
            <a:ext cx="86754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4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8.xml"/><Relationship Id="rId6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7.xml"/><Relationship Id="rId6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92150" y="2068513"/>
            <a:ext cx="8674100" cy="493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692150" y="2068513"/>
            <a:ext cx="86742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1" name="Google Shape;131;p21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692150" y="414338"/>
            <a:ext cx="8674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692150" y="2068513"/>
            <a:ext cx="8674200" cy="49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p41"/>
          <p:cNvSpPr txBox="1"/>
          <p:nvPr>
            <p:ph idx="10" type="dt"/>
          </p:nvPr>
        </p:nvSpPr>
        <p:spPr>
          <a:xfrm>
            <a:off x="692150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9" name="Google Shape;249;p41"/>
          <p:cNvSpPr txBox="1"/>
          <p:nvPr>
            <p:ph idx="11" type="ftr"/>
          </p:nvPr>
        </p:nvSpPr>
        <p:spPr>
          <a:xfrm>
            <a:off x="3332163" y="7204075"/>
            <a:ext cx="3394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41"/>
          <p:cNvSpPr txBox="1"/>
          <p:nvPr>
            <p:ph idx="12" type="sldNum"/>
          </p:nvPr>
        </p:nvSpPr>
        <p:spPr>
          <a:xfrm>
            <a:off x="7104063" y="7204075"/>
            <a:ext cx="226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tjohns94/cds492-team-3c" TargetMode="External"/><Relationship Id="rId4" Type="http://schemas.openxmlformats.org/officeDocument/2006/relationships/hyperlink" Target="https://colab.research.google.com/github/tjohns94/cds492-team-3c/blob/main/code/notebooks/t2d_screening_tutorial.ipynb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data.go.kr/en/data/15007122/fileData.do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1"/>
          <p:cNvSpPr txBox="1"/>
          <p:nvPr>
            <p:ph type="ctrTitle"/>
          </p:nvPr>
        </p:nvSpPr>
        <p:spPr>
          <a:xfrm>
            <a:off x="1266711" y="1789113"/>
            <a:ext cx="82548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/>
              <a:t>Identifying Undiagnosed Type 2 Diabetics</a:t>
            </a:r>
            <a:br>
              <a:rPr b="1" lang="en-US"/>
            </a:br>
            <a:endParaRPr/>
          </a:p>
        </p:txBody>
      </p:sp>
      <p:sp>
        <p:nvSpPr>
          <p:cNvPr id="369" name="Google Shape;369;p61"/>
          <p:cNvSpPr txBox="1"/>
          <p:nvPr>
            <p:ph idx="1" type="subTitle"/>
          </p:nvPr>
        </p:nvSpPr>
        <p:spPr>
          <a:xfrm>
            <a:off x="1266711" y="5672667"/>
            <a:ext cx="8254800" cy="16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Team 3c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200"/>
              <a:t>Alizeh Murtaza, Tyson Johnson, Nithila Neethi Devan, Tariq Abdulhak </a:t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2026.05.03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CDS-492 | Spring 2026 | Dr. Slamani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1"/>
          <p:cNvSpPr txBox="1"/>
          <p:nvPr>
            <p:ph idx="12" type="sldNum"/>
          </p:nvPr>
        </p:nvSpPr>
        <p:spPr>
          <a:xfrm>
            <a:off x="9412462" y="7177552"/>
            <a:ext cx="603600" cy="59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2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Link to online class folder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https://github.com/tjohns94/cds492-team-3c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Link to Colab team notebook</a:t>
            </a:r>
            <a:endParaRPr/>
          </a:p>
          <a:p>
            <a:pPr indent="-2222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u="sng">
                <a:solidFill>
                  <a:schemeClr val="hlink"/>
                </a:solidFill>
                <a:hlinkClick r:id="rId4"/>
              </a:rPr>
              <a:t>https://colab.research.google.com/github/tjohns94/cds492-team-3c/blob/main/code/notebooks/t2d_screening_tutorial.ipynb</a:t>
            </a:r>
            <a:endParaRPr/>
          </a:p>
        </p:txBody>
      </p:sp>
      <p:sp>
        <p:nvSpPr>
          <p:cNvPr id="376" name="Google Shape;376;p62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Link to Project Folder</a:t>
            </a:r>
            <a:endParaRPr/>
          </a:p>
        </p:txBody>
      </p:sp>
      <p:sp>
        <p:nvSpPr>
          <p:cNvPr id="377" name="Google Shape;377;p62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/>
          <p:nvPr>
            <p:ph idx="1" type="body"/>
          </p:nvPr>
        </p:nvSpPr>
        <p:spPr>
          <a:xfrm>
            <a:off x="241171" y="1980000"/>
            <a:ext cx="9525000" cy="56466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83" name="Google Shape;383;p63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63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</a:t>
            </a:r>
            <a:endParaRPr/>
          </a:p>
        </p:txBody>
      </p:sp>
      <p:graphicFrame>
        <p:nvGraphicFramePr>
          <p:cNvPr id="385" name="Google Shape;385;p63"/>
          <p:cNvGraphicFramePr/>
          <p:nvPr/>
        </p:nvGraphicFramePr>
        <p:xfrm>
          <a:off x="404088" y="2125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066800"/>
                <a:gridCol w="4495800"/>
                <a:gridCol w="1143000"/>
                <a:gridCol w="838200"/>
                <a:gridCol w="1121975"/>
              </a:tblGrid>
              <a:tr h="44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T01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Collect Potential Sources</a:t>
                      </a:r>
                      <a:endParaRPr sz="18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Each team member will find 1 reliable source and complete our literature review and synthesis matrix on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Tyson, Nithila, Alizeh</a:t>
                      </a:r>
                      <a:endParaRPr sz="18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01/</a:t>
                      </a:r>
                      <a:r>
                        <a:rPr lang="en-US" sz="1100"/>
                        <a:t>31</a:t>
                      </a:r>
                      <a:r>
                        <a:rPr lang="en-US" sz="1100" u="none" cap="none" strike="noStrike"/>
                        <a:t>/2026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02/05/2026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T02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Research Data Options 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Find Data that tracks a unique identifier information, data that would allow for time series methods to be used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Tyson, Nithila, Alizeh</a:t>
                      </a:r>
                      <a:endParaRPr sz="18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r>
                        <a:rPr lang="en-US" sz="1100"/>
                        <a:t>2</a:t>
                      </a:r>
                      <a:r>
                        <a:rPr lang="en-US" sz="1100" u="none" cap="none" strike="noStrike"/>
                        <a:t>/</a:t>
                      </a:r>
                      <a:r>
                        <a:rPr lang="en-US" sz="1100"/>
                        <a:t>05</a:t>
                      </a:r>
                      <a:r>
                        <a:rPr lang="en-US" sz="1100" u="none" cap="none" strike="noStrike"/>
                        <a:t>/2026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02/05/2026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T03</a:t>
                      </a:r>
                      <a:endParaRPr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Workflow Diagram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Creating the workflow diagram through Xmind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r>
                        <a:rPr lang="en-US" sz="1100"/>
                        <a:t>2</a:t>
                      </a:r>
                      <a:r>
                        <a:rPr lang="en-US" sz="1100" u="none" cap="none" strike="noStrike"/>
                        <a:t>/0</a:t>
                      </a:r>
                      <a:r>
                        <a:rPr lang="en-US" sz="1100"/>
                        <a:t>5</a:t>
                      </a:r>
                      <a:r>
                        <a:rPr lang="en-US" sz="1100" u="none" cap="none" strike="noStrike"/>
                        <a:t>/2026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T04</a:t>
                      </a:r>
                      <a:endParaRPr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 Box Diagram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Creating the back box diagram through Canva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02/05/2026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T05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Class Folder Structure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Created and shared class folder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02/05/2026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02/08/2026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T0</a:t>
                      </a:r>
                      <a:r>
                        <a:rPr lang="en-US" sz="1100"/>
                        <a:t>6</a:t>
                      </a:r>
                      <a:endParaRPr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Fishbone Diagram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Creating the black box diagram through Canva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02/05/2026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1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T0</a:t>
                      </a:r>
                      <a:r>
                        <a:rPr lang="en-US" sz="1100"/>
                        <a:t>7</a:t>
                      </a:r>
                      <a:endParaRPr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Business Understanding 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Completing the business understanding slide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Tariq, Alizeh, Tyson, Nithila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02/05/2026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02/05/2026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T0</a:t>
                      </a:r>
                      <a:r>
                        <a:rPr lang="en-US" sz="1100"/>
                        <a:t>8</a:t>
                      </a:r>
                      <a:endParaRPr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Search 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 Completing the data source slides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02/05/2026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T09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Analytic Problem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Completing the analytic problem slide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02/05/2026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02/08/2026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4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391" name="Google Shape;391;p64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64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(cont.)</a:t>
            </a:r>
            <a:endParaRPr/>
          </a:p>
        </p:txBody>
      </p:sp>
      <p:graphicFrame>
        <p:nvGraphicFramePr>
          <p:cNvPr id="393" name="Google Shape;393;p64"/>
          <p:cNvGraphicFramePr/>
          <p:nvPr/>
        </p:nvGraphicFramePr>
        <p:xfrm>
          <a:off x="381000" y="2193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234775"/>
                <a:gridCol w="4327825"/>
                <a:gridCol w="1143000"/>
                <a:gridCol w="838200"/>
                <a:gridCol w="1121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T10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Review Previous Slides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Review formatting and content on previous slides based on in-class feedback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r>
                        <a:rPr lang="en-US" sz="1100"/>
                        <a:t>2</a:t>
                      </a:r>
                      <a:r>
                        <a:rPr lang="en-US" sz="1100" u="none" cap="none" strike="noStrike"/>
                        <a:t>/</a:t>
                      </a:r>
                      <a:r>
                        <a:rPr lang="en-US" sz="1100"/>
                        <a:t>1</a:t>
                      </a:r>
                      <a:r>
                        <a:rPr lang="en-US" sz="1100" u="none" cap="none" strike="noStrike"/>
                        <a:t>0/2026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02/10/2026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11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Workflow Diagram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Recreate project workflow diagram to resemble a more time based flow and update it with new information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/>
                        <a:t>02/12/2026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02/16/2026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12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Code Workflow Diagram Slides + Business Understanding Slides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 code workflow diagram slides + business understanding and analytic slides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02/12/2026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02/16/2026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T13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Analytic Problem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Complete/revised analytic problem slides and making changes to fishbone diagram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02/12/2026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14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Understanding and Preparation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data understanding and preparation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02/12/2026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15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Purpose and Questions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project purpose and questions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02/12/2026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16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Matching Parameters and Objectives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 Complete matching parameters and objectives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02/12/2026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462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99" name="Google Shape;399;p65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" name="Google Shape;400;p65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(cont.)</a:t>
            </a:r>
            <a:endParaRPr/>
          </a:p>
        </p:txBody>
      </p:sp>
      <p:graphicFrame>
        <p:nvGraphicFramePr>
          <p:cNvPr id="401" name="Google Shape;401;p65"/>
          <p:cNvGraphicFramePr/>
          <p:nvPr/>
        </p:nvGraphicFramePr>
        <p:xfrm>
          <a:off x="3810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241425"/>
                <a:gridCol w="4731100"/>
                <a:gridCol w="1046550"/>
                <a:gridCol w="850275"/>
                <a:gridCol w="796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17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Workflow Diagram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Recreate/update workflow diagram structure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r>
                        <a:rPr lang="en-US" sz="1100"/>
                        <a:t>2</a:t>
                      </a:r>
                      <a:r>
                        <a:rPr lang="en-US" sz="1100" u="none" cap="none" strike="noStrike"/>
                        <a:t>/</a:t>
                      </a:r>
                      <a:r>
                        <a:rPr lang="en-US" sz="1100"/>
                        <a:t>19</a:t>
                      </a:r>
                      <a:r>
                        <a:rPr lang="en-US" sz="1100" u="none" cap="none" strike="noStrike"/>
                        <a:t>/2026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18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Code Workflow Diagram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code workflow diagram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19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Business Understanding &amp; Project Purpose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business understanding &amp; project purpose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20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Objectives and SMART (1)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Objectives and SMART slide completion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Nithila, Tyson, Tariq, Alizeh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21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Analytic Problem (Blackbox)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analytic problem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22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Preparation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 data preparation slide based on what has been completed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23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EDA Correlations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 correlation graphs and complete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T24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EDA Imbalance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imbalance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T25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EDA Statistical Significance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statistical significance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02/23/2026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Objectives &amp; Parameters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project objectives and parameters slide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Nithila, Tyson, Tariq, Alizeh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02/19/2026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T27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Revisions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Added “(cont.)” to slide titles as needed</a:t>
                      </a:r>
                      <a:endParaRPr sz="12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02/23/2026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02/23/2026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6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462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07" name="Google Shape;407;p66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8" name="Google Shape;408;p66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(cont.)</a:t>
            </a:r>
            <a:endParaRPr/>
          </a:p>
        </p:txBody>
      </p:sp>
      <p:graphicFrame>
        <p:nvGraphicFramePr>
          <p:cNvPr id="409" name="Google Shape;409;p66"/>
          <p:cNvGraphicFramePr/>
          <p:nvPr/>
        </p:nvGraphicFramePr>
        <p:xfrm>
          <a:off x="3810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241425"/>
                <a:gridCol w="4731100"/>
                <a:gridCol w="1046550"/>
                <a:gridCol w="850275"/>
                <a:gridCol w="796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T28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Updating Project &amp; Code Workflow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project and code workflow to reflect current status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Nithila, Tariq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02/26/2026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03/02/2026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T29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Objectives &amp; Parameters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Update/develop new business objectives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Nithila, Tariq, Tyson, Alizeh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02/26/2026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02/26/2026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T30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Coding Screenshots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Finish and screenshot our code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Tyson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02/26/2026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03/02/2026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T31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Logistic Regression Model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specific model code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02/26/2026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T32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Decision Tree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specific model code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02/26/2026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03/02/2026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T33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Support Vector Machine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specific model code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02/26/2026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03/02/2026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T34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Survey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the survey slide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Nithila, Tariq, Tyson, Alizeh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03/02/2026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03/02/2026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T35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Project &amp; Code Workflow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project workflow diagram and code workflow diagram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Nithila, Tariq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03/12/2026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Class Folder &amp; Colab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class folder and colab content in links on revisions slide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Alizeh, Tyson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03/12/2026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T37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Goals, Objectives, Parameters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Discuss and update changes in objectives, parameters, and goals for project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Nithila, Tariq, Tyson, Alizeh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T38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Code SS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content of code screenshot slides, including performance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7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462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15" name="Google Shape;415;p67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67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(cont.)</a:t>
            </a:r>
            <a:endParaRPr/>
          </a:p>
        </p:txBody>
      </p:sp>
      <p:graphicFrame>
        <p:nvGraphicFramePr>
          <p:cNvPr id="417" name="Google Shape;417;p67"/>
          <p:cNvGraphicFramePr/>
          <p:nvPr/>
        </p:nvGraphicFramePr>
        <p:xfrm>
          <a:off x="3810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241425"/>
                <a:gridCol w="4731100"/>
                <a:gridCol w="1046550"/>
                <a:gridCol w="850275"/>
                <a:gridCol w="796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T39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Algorithms Slide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Fill out algorithms slide for Logistic Regression Model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03/12/2026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T40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Algorithms Slide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Fill out algorithms slide for Decision Tree Model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03/12/2026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T41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Algorithms Slide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Fill out algorithms slide for SVM Model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Alizeh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03/12/2026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T42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Workflow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and upload project workflow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03/19/2026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03/16/2026</a:t>
                      </a:r>
                      <a:endParaRPr sz="1100"/>
                    </a:p>
                  </a:txBody>
                  <a:tcPr marT="45725" marB="45725" marR="45725" marL="4572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T43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ANN Model Slides</a:t>
                      </a:r>
                      <a:endParaRPr sz="1100"/>
                    </a:p>
                  </a:txBody>
                  <a:tcPr marT="45725" marB="45725" marR="45725" marL="4572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ANN modeling &amp; complete algorithm slides</a:t>
                      </a:r>
                      <a:endParaRPr sz="1100"/>
                    </a:p>
                  </a:txBody>
                  <a:tcPr marT="45725" marB="45725" marR="45725" marL="4572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/>
                    </a:p>
                  </a:txBody>
                  <a:tcPr marT="45725" marB="45725" marR="45725" marL="4572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03/19/2026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03/23/2026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T44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Abstract Part 1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abstract problem and objectives section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Nithila, Alizeh, Tariq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03/19/2026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03/23/2026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T45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Abstract Part 2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abstract modeling results and significance section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Nithila, Alizeh, Tariq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03/23/2026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03/23/2026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Confusion Matrix Update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confusion matrices to use percentages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Nithila, Alizeh, Tariq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03/19/2026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03/23/2026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T47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Workflow Slide</a:t>
                      </a:r>
                      <a:endParaRPr sz="1100"/>
                    </a:p>
                  </a:txBody>
                  <a:tcPr marT="45725" marB="45725" marR="45725" marL="45725" anchor="ctr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project workflow slide </a:t>
                      </a:r>
                      <a:endParaRPr sz="1100"/>
                    </a:p>
                  </a:txBody>
                  <a:tcPr marT="45725" marB="45725" marR="45725" marL="45725" anchor="ctr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/>
                    </a:p>
                  </a:txBody>
                  <a:tcPr marT="45725" marB="45725" marR="45725" marL="45725" anchor="ctr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04/06/2026</a:t>
                      </a:r>
                      <a:endParaRPr sz="1100"/>
                    </a:p>
                  </a:txBody>
                  <a:tcPr marT="45725" marB="45725" marR="45725" marL="45725" anchor="ctr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T48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Code Workflow Slide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project workflow slide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04/06/2026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T49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Confusion Matricies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confusion matrices to use percentages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Nithilam Alizeh, Tariq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04/06/2026</a:t>
                      </a:r>
                      <a:endParaRPr sz="1100"/>
                    </a:p>
                  </a:txBody>
                  <a:tcPr marT="45725" marB="45725" marR="45725" marL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8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3462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23" name="Google Shape;423;p68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p68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(cont.)</a:t>
            </a:r>
            <a:endParaRPr/>
          </a:p>
        </p:txBody>
      </p:sp>
      <p:graphicFrame>
        <p:nvGraphicFramePr>
          <p:cNvPr id="425" name="Google Shape;425;p68"/>
          <p:cNvGraphicFramePr/>
          <p:nvPr/>
        </p:nvGraphicFramePr>
        <p:xfrm>
          <a:off x="3810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066800"/>
                <a:gridCol w="4495800"/>
                <a:gridCol w="1143000"/>
                <a:gridCol w="838200"/>
                <a:gridCol w="1121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50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Compare Model Results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Compile all visuals and metrics into structure that allows for easy comparison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Nithila, Alizeh, Tariq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</a:t>
                      </a:r>
                      <a:r>
                        <a:rPr lang="en-US" sz="1100" u="none" cap="none" strike="noStrike"/>
                        <a:t>/2026</a:t>
                      </a:r>
                      <a:endParaRPr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51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Algorithm Slides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Restructure algorithms slide to utilize table formatting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52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Confusion Matrix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 the confusion matrix slide with updated percentages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53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Abstract Revision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Significance section updated utilizing feedback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Alizeh, Tyson, Nithila, Tariq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04/06/2026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54</a:t>
                      </a:r>
                      <a:endParaRPr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Screening Tool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Brainstorming and basic planning for the screening tool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 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04/06/2026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T55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Workflow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project workflow diagram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T56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Code Workflow Diagram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code workflow diagram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T57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Final Algorithm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Finish final algorithms slide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T58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Final Performance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final performance slides with graphics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T59</a:t>
                      </a:r>
                      <a:endParaRPr sz="11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Final Abstract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final abstract slide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 Alizeh, Tariq 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T60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Poster Introduction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introductions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9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462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31" name="Google Shape;431;p69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32" name="Google Shape;432;p69"/>
          <p:cNvGraphicFramePr/>
          <p:nvPr/>
        </p:nvGraphicFramePr>
        <p:xfrm>
          <a:off x="381000" y="2120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156000"/>
                <a:gridCol w="4406600"/>
                <a:gridCol w="1143000"/>
                <a:gridCol w="838200"/>
                <a:gridCol w="1121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61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Poster Methodology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FInish poster methodology slide, ensure description of catboost model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100"/>
                        <a:t>04/13/2026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62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Poster Results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poster results slide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04/13/2026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63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Poster Discussion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poster discussion slide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04/13/2026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64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Poster References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poster references 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04/13/2026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65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Poster Acknowl.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poster acknowledge 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04/13/2026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T66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Compare Datasets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Compare datasets slide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04/08/2026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04/13/2026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T67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Poster FInal Work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Put all content together on separate poster slide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Nithila, Alizeh, Tariq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04/13/2026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04/13/2026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T68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Workflow Update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Fix and update the project workflow diagram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04/16/2026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04/16/2026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T69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Code Workflow Update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Fix and update the code workflow diagram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04/16/2026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04/19/2026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T70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Update Project Poster Content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Peer evaluate sections and improve based on feedback for cohesivity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Nithila, Alizeh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04/16/2026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04/19/2026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T71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Normalize Font for Project Poster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Ensure project appearance is uniform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/>
                        <a:t>Tyson, Nithila, Alizeh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04/16/2026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04/19/2026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3" name="Google Shape;433;p69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(cont.)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0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462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39" name="Google Shape;439;p70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40" name="Google Shape;440;p70"/>
          <p:cNvGraphicFramePr/>
          <p:nvPr/>
        </p:nvGraphicFramePr>
        <p:xfrm>
          <a:off x="381000" y="2120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533400"/>
                <a:gridCol w="1156000"/>
                <a:gridCol w="4406600"/>
                <a:gridCol w="1143000"/>
                <a:gridCol w="838200"/>
                <a:gridCol w="11219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Task No.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Task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Owner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72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Tutorial Code Cleaning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FInish poster methodology slide, ensure description of catboost model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73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Tutorial Code Assigned Sections 1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sections assigned 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Nithila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74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Tutorial Code Assigned Sections 2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sections assigned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Alizeh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75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Tutorial Code Assigned Sections 3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 sections assigned 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Tariq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04/03/2026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T</a:t>
                      </a:r>
                      <a:r>
                        <a:rPr lang="en-US" sz="1100"/>
                        <a:t>76</a:t>
                      </a:r>
                      <a:endParaRPr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Module 14 Compressed Slides Deck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 </a:t>
                      </a:r>
                      <a:r>
                        <a:rPr lang="en-US" sz="1100"/>
                        <a:t>compressed</a:t>
                      </a:r>
                      <a:r>
                        <a:rPr lang="en-US" sz="1100"/>
                        <a:t> project slides file based on given instructions</a:t>
                      </a:r>
                      <a:endParaRPr sz="11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Tyson, Nithila, Alizeh, Tariq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04/01/2026</a:t>
                      </a:r>
                      <a:endParaRPr sz="1100"/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1" name="Google Shape;441;p70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Meeting Minutes - Tasks (cont.)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1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Project Workflow Diagram</a:t>
            </a:r>
            <a:endParaRPr/>
          </a:p>
        </p:txBody>
      </p:sp>
      <p:sp>
        <p:nvSpPr>
          <p:cNvPr id="447" name="Google Shape;447;p71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71"/>
          <p:cNvSpPr txBox="1"/>
          <p:nvPr/>
        </p:nvSpPr>
        <p:spPr>
          <a:xfrm>
            <a:off x="214888" y="2026150"/>
            <a:ext cx="631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Below is our project Workflow Diagram as of 2026.05.01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300" y="2948300"/>
            <a:ext cx="9424399" cy="343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71"/>
          <p:cNvPicPr preferRelativeResize="0"/>
          <p:nvPr/>
        </p:nvPicPr>
        <p:blipFill rotWithShape="1">
          <a:blip r:embed="rId4">
            <a:alphaModFix/>
          </a:blip>
          <a:srcRect b="4980" l="2717" r="2622" t="3637"/>
          <a:stretch/>
        </p:blipFill>
        <p:spPr>
          <a:xfrm>
            <a:off x="367300" y="5891681"/>
            <a:ext cx="2031850" cy="87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71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2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Below is our code Workflow Diagram as of 2026.05.01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72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Code Workflow Diagram</a:t>
            </a:r>
            <a:endParaRPr/>
          </a:p>
        </p:txBody>
      </p:sp>
      <p:sp>
        <p:nvSpPr>
          <p:cNvPr id="458" name="Google Shape;458;p72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9" name="Google Shape;4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847" y="5931222"/>
            <a:ext cx="1569950" cy="161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72" title="keyyy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2950" y="6589750"/>
            <a:ext cx="1317525" cy="8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005" y="2489375"/>
            <a:ext cx="8923169" cy="34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3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Business Understanding</a:t>
            </a:r>
            <a:endParaRPr b="1"/>
          </a:p>
        </p:txBody>
      </p:sp>
      <p:sp>
        <p:nvSpPr>
          <p:cNvPr id="467" name="Google Shape;467;p73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68" name="Google Shape;468;p73"/>
          <p:cNvGraphicFramePr/>
          <p:nvPr/>
        </p:nvGraphicFramePr>
        <p:xfrm>
          <a:off x="266700" y="2379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3550500"/>
                <a:gridCol w="5974500"/>
              </a:tblGrid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Question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Detail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Business problem and question(s)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What patient health exam data can be used to estimate the likelihood of T2D?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What is the most effective way to deploy the T2D risk model for real-world screening use?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Problem importance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T2D is a significant problem that impacts the general population with serious health consequences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Diabetes is the 7th leading cause of death in the US (https://www.cdc.gov/nchs/fastats/diabetes.htm)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Stakeholders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Patients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Doctors/Health care providers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Insurance companies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Motivation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Provide early screening to identify T2D test candidates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Suggested title for the project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Predicting the Likelihood of Type 2 Diabetes (T2D)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Possible challenges with the problem topic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 may struggle with generalization due to population bias in data (South Korean)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4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1320"/>
              <a:t> </a:t>
            </a:r>
            <a:endParaRPr/>
          </a:p>
        </p:txBody>
      </p:sp>
      <p:sp>
        <p:nvSpPr>
          <p:cNvPr id="474" name="Google Shape;474;p74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Objectives and SMART </a:t>
            </a:r>
            <a:endParaRPr/>
          </a:p>
        </p:txBody>
      </p:sp>
      <p:sp>
        <p:nvSpPr>
          <p:cNvPr id="475" name="Google Shape;475;p74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76" name="Google Shape;476;p74"/>
          <p:cNvGraphicFramePr/>
          <p:nvPr/>
        </p:nvGraphicFramePr>
        <p:xfrm>
          <a:off x="675349" y="2522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1307150"/>
                <a:gridCol w="7400525"/>
              </a:tblGrid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Objective 1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/>
                        <a:t>Identify high-risk undiagnosed T2D cases through screening</a:t>
                      </a:r>
                      <a:endParaRPr/>
                    </a:p>
                  </a:txBody>
                  <a:tcPr marT="37725" marB="37725" marR="75450" marL="75450"/>
                </a:tc>
              </a:tr>
              <a:tr h="18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Specific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Create model that can identify undiagnosed patients with high risk of having T2D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Measurable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Statistically outperforms all other tested models considered during planning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Achievable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Experience with ML-based and statistical-based modeling in supervised training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Relevant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Aligns with motivation to identify T2D test candidates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Time-bound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To be completed by the end the first week of May</a:t>
                      </a:r>
                      <a:endParaRPr sz="1500"/>
                    </a:p>
                  </a:txBody>
                  <a:tcPr marT="37725" marB="37725" marR="75450" marL="75450"/>
                </a:tc>
              </a:tr>
            </a:tbl>
          </a:graphicData>
        </a:graphic>
      </p:graphicFrame>
      <p:graphicFrame>
        <p:nvGraphicFramePr>
          <p:cNvPr id="477" name="Google Shape;477;p74"/>
          <p:cNvGraphicFramePr/>
          <p:nvPr/>
        </p:nvGraphicFramePr>
        <p:xfrm>
          <a:off x="675374" y="47736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1307150"/>
                <a:gridCol w="7400525"/>
              </a:tblGrid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Objective 2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/>
                        <a:t>Release screening tool for practical application</a:t>
                      </a:r>
                      <a:endParaRPr sz="1500"/>
                    </a:p>
                  </a:txBody>
                  <a:tcPr marT="37725" marB="37725" marR="75450" marL="75450">
                    <a:solidFill>
                      <a:schemeClr val="accent1"/>
                    </a:solidFill>
                  </a:tcPr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Specific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Release tool implementing developed screening model online providing patient T2D risk score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Measurable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Accessible from any computer with internet access/publishing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Achievable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Sufficient python-based program or webpage knowledge within team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Relevant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/>
                        <a:t>Aligns with motivation to provide screening to identify T2D test candidates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3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Time-bound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To be completed by the end the first week of May</a:t>
                      </a:r>
                      <a:endParaRPr sz="1500"/>
                    </a:p>
                  </a:txBody>
                  <a:tcPr marT="37725" marB="37725" marR="75450" marL="75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5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Data Search</a:t>
            </a:r>
            <a:endParaRPr/>
          </a:p>
        </p:txBody>
      </p:sp>
      <p:sp>
        <p:nvSpPr>
          <p:cNvPr id="483" name="Google Shape;483;p75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84" name="Google Shape;484;p75"/>
          <p:cNvGraphicFramePr/>
          <p:nvPr/>
        </p:nvGraphicFramePr>
        <p:xfrm>
          <a:off x="266700" y="206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3602450"/>
                <a:gridCol w="5922550"/>
              </a:tblGrid>
              <a:tr h="28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Category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Details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provider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South Korea’s National Health Insurance Service (NHIS)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link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sng">
                          <a:solidFill>
                            <a:schemeClr val="hlink"/>
                          </a:solidFill>
                          <a:hlinkClick r:id="rId3"/>
                        </a:rPr>
                        <a:t>https://www.data.go.kr/en/data/15007122/fileData.do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Health records from 1 million randomly selected Korean patients’ exams throughout one calendar year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Time span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2002-2024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Key variable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Resting plasma glucose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Variable categories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Anthropometric measurements (e.g. height, weight)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Lab measurements (e.g. AST/ALT, GGT)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Lipid panel (e.g. total cholesterol, triglycerides)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Lifestyle reporting (e.g. smoking status, alcohol consumption)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35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Challenges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Patients are completely anonymized, removing ability to track one individual over multiple years/visits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High rate of missing lipid panel records (~66% missingness)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Some variables are rounded (e.g. age in groups, weight/height rounded down to multiple of 5)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Data recorded in Korean, requiring translation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6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Data Description</a:t>
            </a:r>
            <a:endParaRPr b="1"/>
          </a:p>
        </p:txBody>
      </p:sp>
      <p:graphicFrame>
        <p:nvGraphicFramePr>
          <p:cNvPr id="491" name="Google Shape;491;p76"/>
          <p:cNvGraphicFramePr/>
          <p:nvPr/>
        </p:nvGraphicFramePr>
        <p:xfrm>
          <a:off x="476600" y="23681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2952400"/>
                <a:gridCol w="6152800"/>
              </a:tblGrid>
              <a:tr h="42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Category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Details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2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Number of records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million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Population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South Koreans patients aged 20+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Year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Target variable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fasting plasma glucose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age, height, weight, waist circumference, systolic BP, diastolic BP,  total cholesterol, triglycerides, HDL cholesterol, LDL cholesterol, hemoglobin, </a:t>
                      </a:r>
                      <a:r>
                        <a:rPr lang="en-US"/>
                        <a:t>serum creatinine, serum GOT AST, serum GPT ALT, gamma GTP, sex, vision (left), vision (right), hearing (left), hearing (right), urine protein, smoking status, alcohol consumption, dental exam, dental caries, plaque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Variable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types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Numeric (16), ordinal (3), nominal (8)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File metadata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File type: CSV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File size: 87.74 MB</a:t>
                      </a:r>
                      <a:endParaRPr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/>
                        <a:t>Encoding: cp949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7"/>
          <p:cNvSpPr txBox="1"/>
          <p:nvPr>
            <p:ph idx="1" type="body"/>
          </p:nvPr>
        </p:nvSpPr>
        <p:spPr>
          <a:xfrm>
            <a:off x="266700" y="2057400"/>
            <a:ext cx="9525000" cy="55467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marR="419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4191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97" name="Google Shape;497;p77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Data Description (cont.)</a:t>
            </a:r>
            <a:endParaRPr/>
          </a:p>
        </p:txBody>
      </p:sp>
      <p:sp>
        <p:nvSpPr>
          <p:cNvPr id="498" name="Google Shape;498;p77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99" name="Google Shape;499;p77"/>
          <p:cNvGraphicFramePr/>
          <p:nvPr/>
        </p:nvGraphicFramePr>
        <p:xfrm>
          <a:off x="2667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2573425"/>
                <a:gridCol w="1094550"/>
                <a:gridCol w="1094525"/>
                <a:gridCol w="1587500"/>
                <a:gridCol w="1587500"/>
                <a:gridCol w="1587500"/>
              </a:tblGrid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Feature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Minimum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Maximum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Mean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Median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St. Deviation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age_group_code*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3.05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height**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162.78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9.34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weight**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14.03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waist_circumference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81.55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81.1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systolic_blood_pressure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122.69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14.59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diastolic_blood_pressure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fasting_blood_sugar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991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100.98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23.00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total_cholesteral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196.79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43.42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triglycerides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4622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129.32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99.46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hdl_cholesterol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57.09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15.48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ldl_cholesterol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114.47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39.31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hemoglobin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1.53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serum_creatinine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87.2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0" name="Google Shape;500;p77"/>
          <p:cNvSpPr txBox="1"/>
          <p:nvPr/>
        </p:nvSpPr>
        <p:spPr>
          <a:xfrm>
            <a:off x="7388000" y="7633375"/>
            <a:ext cx="23967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</a:rPr>
              <a:t>*Grouped as 5 years (ex. 20-24). **Rounded down to nearest 5.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8"/>
          <p:cNvSpPr txBox="1"/>
          <p:nvPr>
            <p:ph idx="1" type="body"/>
          </p:nvPr>
        </p:nvSpPr>
        <p:spPr>
          <a:xfrm>
            <a:off x="266700" y="2057400"/>
            <a:ext cx="9525000" cy="55467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marR="419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4191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06" name="Google Shape;506;p78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Data Description (cont.)</a:t>
            </a:r>
            <a:endParaRPr/>
          </a:p>
        </p:txBody>
      </p:sp>
      <p:sp>
        <p:nvSpPr>
          <p:cNvPr id="507" name="Google Shape;507;p78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08" name="Google Shape;508;p78"/>
          <p:cNvGraphicFramePr/>
          <p:nvPr/>
        </p:nvGraphicFramePr>
        <p:xfrm>
          <a:off x="2667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2573425"/>
                <a:gridCol w="1094550"/>
                <a:gridCol w="1094525"/>
                <a:gridCol w="1587500"/>
                <a:gridCol w="1587500"/>
                <a:gridCol w="1587500"/>
              </a:tblGrid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Feature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Minimum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Maximum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Mean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Median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St. Deviation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7E9EC"/>
                    </a:solidFill>
                  </a:tcPr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serum_got_ast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22.644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serum_gpt_alt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25.52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gamma_gtp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9999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58.61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9" name="Google Shape;509;p78"/>
          <p:cNvSpPr txBox="1"/>
          <p:nvPr/>
        </p:nvSpPr>
        <p:spPr>
          <a:xfrm>
            <a:off x="266200" y="3642200"/>
            <a:ext cx="9525000" cy="39618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Non-numeric features recorded: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sex_code (bool)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vision_left/vision_right (has exception values)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hearing_left/hearing_right (bool)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urine_protein (categorical)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smoking_status (categorical)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alcohol_consumption (bool)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oral_exam_status (bool)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dental_caries_presence (bool)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600">
                <a:solidFill>
                  <a:schemeClr val="dk1"/>
                </a:solidFill>
              </a:rPr>
              <a:t>plaque_presence (categorical)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9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Data Schema</a:t>
            </a:r>
            <a:endParaRPr/>
          </a:p>
        </p:txBody>
      </p:sp>
      <p:sp>
        <p:nvSpPr>
          <p:cNvPr id="515" name="Google Shape;515;p79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16" name="Google Shape;516;p79"/>
          <p:cNvGraphicFramePr/>
          <p:nvPr/>
        </p:nvGraphicFramePr>
        <p:xfrm>
          <a:off x="635938" y="2099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{9E640D9B-7C7A-4019-92F5-6182C1FE7E8E}</a:tableStyleId>
              </a:tblPr>
              <a:tblGrid>
                <a:gridCol w="2415000"/>
                <a:gridCol w="1323125"/>
                <a:gridCol w="2312250"/>
                <a:gridCol w="2736150"/>
              </a:tblGrid>
              <a:tr h="463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Column Name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Domain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R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sex_code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{1, 2}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1=female, 2=male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city_code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{11, 26-31, 36, 41-49}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unique codes for cities/regions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hearing_left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{1, 2}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1=normal, 2=abnormal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hearing_right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{1, 2}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1=normal, 2=abnormal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alcohol_consumption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{0, 1}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0=does not drink, 1=does drink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oral_exam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{0, 1}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0=not received, 1=received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caries_presence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{0, 1}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0=absent, 1=present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plaque_presence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(NC)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{0, 1}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0=absent, 1=present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age_group_code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(OC)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{5-18}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5: [20-24], …, 18: 85+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smoking_status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(OC)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{1, 2, 3}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1=never, 2=former, 3=current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urine_protein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(OC)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{1-6}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1: ( − ), 2: ( ± ). 3: (+1), ..., 6: (+4)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height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[100, 230]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round down to nearest 5cm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weight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[20, 250]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round down to nearest 5kg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waist_circumference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float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[30, 250]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round to nearest 0.1cm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7" name="Google Shape;517;p79"/>
          <p:cNvSpPr txBox="1"/>
          <p:nvPr/>
        </p:nvSpPr>
        <p:spPr>
          <a:xfrm>
            <a:off x="8193075" y="7350300"/>
            <a:ext cx="12294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NC: Nominal Category</a:t>
            </a:r>
            <a:br>
              <a:rPr lang="en-US" sz="7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OC: Ordinal Category</a:t>
            </a:r>
            <a:br>
              <a:rPr lang="en-US" sz="7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CN: Continuous Numeric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0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Data Schema (cont.)</a:t>
            </a:r>
            <a:endParaRPr/>
          </a:p>
        </p:txBody>
      </p:sp>
      <p:sp>
        <p:nvSpPr>
          <p:cNvPr id="523" name="Google Shape;523;p80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24" name="Google Shape;524;p80"/>
          <p:cNvGraphicFramePr/>
          <p:nvPr/>
        </p:nvGraphicFramePr>
        <p:xfrm>
          <a:off x="635938" y="20994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{9E640D9B-7C7A-4019-92F5-6182C1FE7E8E}</a:tableStyleId>
              </a:tblPr>
              <a:tblGrid>
                <a:gridCol w="2415000"/>
                <a:gridCol w="1323125"/>
                <a:gridCol w="2312250"/>
                <a:gridCol w="2736150"/>
              </a:tblGrid>
              <a:tr h="463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Column Name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Domain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b="1"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 anchor="ctr">
                    <a:lnR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systolic_bp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[60, 300]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mmHg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diastolic_bp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[30, 200]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mmHg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vision_left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float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[0.1, 2.5]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9.9 for blindness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vision_right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float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[0.1, 2.5]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9.9 for blindness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fpg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[30, 1000]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mg/dL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total_cholesterol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int (CN)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[50, 1000]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mg/dL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triglycerides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int (CN)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[10, 5000]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mg/dL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hdl_cholesterol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int (CN)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[5, 200]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mg/dL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ldl_cholesterol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int (CN)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[5, 700]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mg/dL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hemoglobin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float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[3, 25]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g/dL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serum_creatinine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float (CN)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[0.1, 30]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mg/dL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serum_got_ast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int (CN)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[1, 5000]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U/L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serum_gpt_alt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int (CN)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[1, 5000]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U/L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gamma_gtp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int (CN)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[1, 5000]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U/L</a:t>
                      </a:r>
                      <a:endParaRPr b="1" sz="1200"/>
                    </a:p>
                  </a:txBody>
                  <a:tcPr marT="91425" marB="91425" marR="68575" marL="68575" anchor="ctr">
                    <a:lnL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5" name="Google Shape;525;p80"/>
          <p:cNvSpPr txBox="1"/>
          <p:nvPr/>
        </p:nvSpPr>
        <p:spPr>
          <a:xfrm>
            <a:off x="8193075" y="7350300"/>
            <a:ext cx="12294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NC: Nominal Category</a:t>
            </a:r>
            <a:br>
              <a:rPr lang="en-US" sz="7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OC: Ordinal Category</a:t>
            </a:r>
            <a:br>
              <a:rPr lang="en-US" sz="7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CN: Continuous Numeral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1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Data Cleaning</a:t>
            </a:r>
            <a:endParaRPr/>
          </a:p>
        </p:txBody>
      </p:sp>
      <p:sp>
        <p:nvSpPr>
          <p:cNvPr id="531" name="Google Shape;531;p81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2" name="Google Shape;532;p81" title="Blank diagram (1).png"/>
          <p:cNvPicPr preferRelativeResize="0"/>
          <p:nvPr/>
        </p:nvPicPr>
        <p:blipFill rotWithShape="1">
          <a:blip r:embed="rId3">
            <a:alphaModFix/>
          </a:blip>
          <a:srcRect b="3802" l="2513" r="2655" t="11903"/>
          <a:stretch/>
        </p:blipFill>
        <p:spPr>
          <a:xfrm>
            <a:off x="582038" y="2125275"/>
            <a:ext cx="8894326" cy="535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2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538" name="Google Shape;538;p82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Project Objectives and Parameters </a:t>
            </a:r>
            <a:endParaRPr/>
          </a:p>
        </p:txBody>
      </p:sp>
      <p:sp>
        <p:nvSpPr>
          <p:cNvPr id="539" name="Google Shape;539;p82"/>
          <p:cNvSpPr txBox="1"/>
          <p:nvPr>
            <p:ph idx="12" type="sldNum"/>
          </p:nvPr>
        </p:nvSpPr>
        <p:spPr>
          <a:xfrm>
            <a:off x="9580180" y="7543800"/>
            <a:ext cx="47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425" spcFirstLastPara="1" rIns="91425" wrap="square" tIns="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40" name="Google Shape;540;p82"/>
          <p:cNvGraphicFramePr/>
          <p:nvPr/>
        </p:nvGraphicFramePr>
        <p:xfrm>
          <a:off x="337705" y="2213864"/>
          <a:ext cx="3000000" cy="3000000"/>
        </p:xfrm>
        <a:graphic>
          <a:graphicData uri="http://schemas.openxmlformats.org/drawingml/2006/table">
            <a:tbl>
              <a:tblPr bandCol="1" firstRow="1">
                <a:noFill/>
                <a:tableStyleId>{5B2B6638-5765-48FA-886E-DA5139B12E19}</a:tableStyleId>
              </a:tblPr>
              <a:tblGrid>
                <a:gridCol w="272525"/>
                <a:gridCol w="2816175"/>
                <a:gridCol w="2816175"/>
                <a:gridCol w="3391525"/>
              </a:tblGrid>
              <a:tr h="407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50300" marB="50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Business Objective</a:t>
                      </a:r>
                      <a:endParaRPr/>
                    </a:p>
                  </a:txBody>
                  <a:tcPr marT="50300" marB="50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Analytic Objective</a:t>
                      </a:r>
                      <a:endParaRPr/>
                    </a:p>
                  </a:txBody>
                  <a:tcPr marT="50300" marB="50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Parameters</a:t>
                      </a:r>
                      <a:endParaRPr/>
                    </a:p>
                  </a:txBody>
                  <a:tcPr marT="50300" marB="50300" marR="91450" marL="91450"/>
                </a:tc>
              </a:tr>
              <a:tr h="10455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</a:t>
                      </a:r>
                      <a:endParaRPr/>
                    </a:p>
                  </a:txBody>
                  <a:tcPr marT="50300" marB="50300" marR="91450" marL="91450" anchor="ctr"/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/>
                        <a:t>Identify high-risk undiagnosed T2D cases through screening</a:t>
                      </a:r>
                      <a:endParaRPr sz="1500"/>
                    </a:p>
                  </a:txBody>
                  <a:tcPr marT="50300" marB="50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Identify any relationships between higher rates of T2D and demographic/lifestyle reporting</a:t>
                      </a:r>
                      <a:endParaRPr sz="1500"/>
                    </a:p>
                  </a:txBody>
                  <a:tcPr marT="50300" marB="50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sex, age group, drinking status, smoking status</a:t>
                      </a:r>
                      <a:endParaRPr sz="1500"/>
                    </a:p>
                  </a:txBody>
                  <a:tcPr marT="50300" marB="50300" marR="91450" marL="91450"/>
                </a:tc>
              </a:tr>
              <a:tr h="4079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Identify</a:t>
                      </a:r>
                      <a:r>
                        <a:rPr lang="en-US" sz="1500"/>
                        <a:t> clinical measurements that can indicate higher risk of T2D</a:t>
                      </a:r>
                      <a:endParaRPr sz="1500"/>
                    </a:p>
                  </a:txBody>
                  <a:tcPr marT="50300" marB="50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AST/ALT ratio, GGT, </a:t>
                      </a:r>
                      <a:r>
                        <a:rPr lang="en-US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total cholesterol, HDL cholesterol, LDL cholesterol, waist-weight index (WWI)</a:t>
                      </a:r>
                      <a:endParaRPr sz="1500"/>
                    </a:p>
                  </a:txBody>
                  <a:tcPr marT="50300" marB="50300" marR="91450" marL="91450"/>
                </a:tc>
              </a:tr>
              <a:tr h="11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</a:t>
                      </a:r>
                      <a:endParaRPr sz="1500" u="none" cap="none" strike="noStrike"/>
                    </a:p>
                  </a:txBody>
                  <a:tcPr marT="50300" marB="50300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Release screening tool for practical application</a:t>
                      </a:r>
                      <a:endParaRPr sz="1500"/>
                    </a:p>
                  </a:txBody>
                  <a:tcPr marT="50300" marB="50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Provide transparency that allows physicians to trust the model outputs</a:t>
                      </a:r>
                      <a:endParaRPr sz="1500"/>
                    </a:p>
                  </a:txBody>
                  <a:tcPr marT="50300" marB="50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risk tier, adjusted probability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300" marB="50300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3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Feature Engineering</a:t>
            </a:r>
            <a:endParaRPr b="1"/>
          </a:p>
        </p:txBody>
      </p:sp>
      <p:sp>
        <p:nvSpPr>
          <p:cNvPr id="547" name="Google Shape;547;p83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</a:t>
            </a:r>
            <a:endParaRPr/>
          </a:p>
        </p:txBody>
      </p:sp>
      <p:graphicFrame>
        <p:nvGraphicFramePr>
          <p:cNvPr id="548" name="Google Shape;548;p83"/>
          <p:cNvGraphicFramePr/>
          <p:nvPr/>
        </p:nvGraphicFramePr>
        <p:xfrm>
          <a:off x="675349" y="2522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{5B2B6638-5765-48FA-886E-DA5139B12E19}</a:tableStyleId>
              </a:tblPr>
              <a:tblGrid>
                <a:gridCol w="3240350"/>
                <a:gridCol w="5524025"/>
              </a:tblGrid>
              <a:tr h="66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Feature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/>
                        <a:t>Description</a:t>
                      </a:r>
                      <a:endParaRPr/>
                    </a:p>
                  </a:txBody>
                  <a:tcPr marT="37725" marB="37725" marR="75450" marL="75450"/>
                </a:tc>
              </a:tr>
              <a:tr h="65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BMI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waist / (height^2)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66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Waist-to-Height Ratio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waist / height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66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Weight-Adjusted Waist Index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waist / (weight^(½))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66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Pulse Pressure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systolic - diastolic BP</a:t>
                      </a:r>
                      <a:endParaRPr sz="1500"/>
                    </a:p>
                  </a:txBody>
                  <a:tcPr marT="37725" marB="37725" marR="75450" marL="75450"/>
                </a:tc>
              </a:tr>
              <a:tr h="66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Mean Arteria; Pressure</a:t>
                      </a:r>
                      <a:endParaRPr/>
                    </a:p>
                  </a:txBody>
                  <a:tcPr marT="37725" marB="37725" marR="75450" marL="75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diastolic + (pulse pressure / 3)</a:t>
                      </a:r>
                      <a:endParaRPr sz="1500"/>
                    </a:p>
                  </a:txBody>
                  <a:tcPr marT="37725" marB="37725" marR="75450" marL="7545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4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Algorithms - SVM / Decision Tree / Logistic Regression</a:t>
            </a:r>
            <a:endParaRPr/>
          </a:p>
        </p:txBody>
      </p:sp>
      <p:graphicFrame>
        <p:nvGraphicFramePr>
          <p:cNvPr id="555" name="Google Shape;555;p84"/>
          <p:cNvGraphicFramePr/>
          <p:nvPr/>
        </p:nvGraphicFramePr>
        <p:xfrm>
          <a:off x="282466" y="206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4715450"/>
                <a:gridCol w="4715450"/>
              </a:tblGrid>
              <a:tr h="1798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input parameters (i.e., features) to your algorithm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Age, height, weight, waist circumference, body mass index, waist-to-height ratio, weight-adjusted waist index, systolic/diastolic blood pressure, pulse pressure, mean arterial pressure, urine protein, sex, smoking status, alcohol consumption, hemoglobin, serum creatinine, AST, ALT, GGT, AST-ALT ratio, total cholesterol, HDL/LDL cholesterol, triglycerides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87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output parameters (i.e., objectives)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T2D risk score, binary testing recommendation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algorithm(s) are you using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SVM (Support Vector Machine) Model, Decision Tree Model, Logistic Regression Model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87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settings are you using to train and test each of your algorithm(s)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60/20/20 split, median imputation, standardization, embedding encodings for categorical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does your code 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Likelihood a patient has T2D given provided input parameters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8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output do you expect to get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 probability and a binary decision whether or not to recommend testing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5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Algorithms - ANN / CatBoost</a:t>
            </a:r>
            <a:endParaRPr/>
          </a:p>
        </p:txBody>
      </p:sp>
      <p:graphicFrame>
        <p:nvGraphicFramePr>
          <p:cNvPr id="561" name="Google Shape;561;p85"/>
          <p:cNvGraphicFramePr/>
          <p:nvPr/>
        </p:nvGraphicFramePr>
        <p:xfrm>
          <a:off x="282219" y="2069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4715450"/>
                <a:gridCol w="4715450"/>
              </a:tblGrid>
              <a:tr h="1798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input parameters (i.e., features) to your algorithm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Age, height, weight, waist circumference, body mass index, waist-to-height ratio, weight-adjusted waist index, systolic/diastolic blood pressure, pulse pressure, mean arterial pressure, urine protein, sex, smoking status, alcohol consumption, hemoglobin, serum creatinine, AST, ALT, GGT, AST-ALT ratio, total cholesterol, HDL/LDL cholesterol, triglycerides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87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output parameters (i.e., objectives)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T2D risk score, risk category (low, medium, high, very high), binary testing recommendation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algorithm(s) are you using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MLPClassifier, PyTorch Tabular, </a:t>
                      </a:r>
                      <a:r>
                        <a:rPr lang="en-US" sz="1300"/>
                        <a:t>CatBoost model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87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settings are you using to train and test each of your algorithm(s)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60/20/20 split, standardization, embedding encodings for categorical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does your code 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Likelihood a patient has T2D given provided input parameters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8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output do you expect to get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 probability and a binary decision whether or not to recommend testing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6"/>
          <p:cNvSpPr txBox="1"/>
          <p:nvPr>
            <p:ph idx="1" type="body"/>
          </p:nvPr>
        </p:nvSpPr>
        <p:spPr>
          <a:xfrm>
            <a:off x="266700" y="2057400"/>
            <a:ext cx="38607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What performance measures are you using and why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ROC-AUC: Used to measure how well model ranks higher-risk over lower-risk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Average Precision (AP): Used to show tradeoff between precision and recall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Brier Score: Lower score indicates better predicted probabilities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Precision, Recall, Specificity, F1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Screen Positive Rate: Measures burden of screening policy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Performance results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86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Performance - SVM / Decision Tree / Logistic Regression</a:t>
            </a:r>
            <a:endParaRPr b="1"/>
          </a:p>
        </p:txBody>
      </p:sp>
      <p:graphicFrame>
        <p:nvGraphicFramePr>
          <p:cNvPr id="568" name="Google Shape;568;p86"/>
          <p:cNvGraphicFramePr/>
          <p:nvPr/>
        </p:nvGraphicFramePr>
        <p:xfrm>
          <a:off x="4528600" y="2349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1315775"/>
                <a:gridCol w="1393775"/>
                <a:gridCol w="993225"/>
                <a:gridCol w="1560325"/>
              </a:tblGrid>
              <a:tr h="71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Decision Tree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Logistic</a:t>
                      </a:r>
                      <a:r>
                        <a:rPr lang="en-US"/>
                        <a:t> Regression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ROC-AUC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PR-AUC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Brier 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Screen Positive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Specificity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7"/>
          <p:cNvSpPr txBox="1"/>
          <p:nvPr>
            <p:ph idx="1" type="body"/>
          </p:nvPr>
        </p:nvSpPr>
        <p:spPr>
          <a:xfrm>
            <a:off x="266700" y="2057400"/>
            <a:ext cx="38607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What performance measures are you using and why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ROC-AUC: Used to measure how well model ranks higher-risk over lower-risk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Average Precision (AP): Used to show tradeoff between precision and recall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Brier Score: Lower score indicates better predicted probabilities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Precision, Recall, Specificity, F1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Screen Positive Rate: Measures burden of screening policy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Performance results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87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Performance - ANN / CatBoost</a:t>
            </a:r>
            <a:endParaRPr b="1"/>
          </a:p>
        </p:txBody>
      </p:sp>
      <p:graphicFrame>
        <p:nvGraphicFramePr>
          <p:cNvPr id="575" name="Google Shape;575;p87"/>
          <p:cNvGraphicFramePr/>
          <p:nvPr/>
        </p:nvGraphicFramePr>
        <p:xfrm>
          <a:off x="4528600" y="2349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{26A9D65C-628F-448C-A1D5-0CD64F9C8772}</a:tableStyleId>
              </a:tblPr>
              <a:tblGrid>
                <a:gridCol w="1315775"/>
                <a:gridCol w="1393775"/>
                <a:gridCol w="993225"/>
                <a:gridCol w="1560325"/>
              </a:tblGrid>
              <a:tr h="71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MLPClassifier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PyTorch Tabular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ROC-AUC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0.816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PR-AUC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0.269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Brier 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Screen Positive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Specificity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0.274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8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582" name="Google Shape;582;p88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Confusion Matrix- SVM Model</a:t>
            </a:r>
            <a:endParaRPr b="1"/>
          </a:p>
        </p:txBody>
      </p:sp>
      <p:pic>
        <p:nvPicPr>
          <p:cNvPr id="583" name="Google Shape;583;p88" title="Screenshot 2026-03-14 at 2.3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975" y="2380950"/>
            <a:ext cx="6811225" cy="48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9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590" name="Google Shape;590;p89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Confusion Matrix- Decision Tree Model</a:t>
            </a:r>
            <a:endParaRPr b="1"/>
          </a:p>
        </p:txBody>
      </p:sp>
      <p:pic>
        <p:nvPicPr>
          <p:cNvPr id="591" name="Google Shape;59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350" y="2142374"/>
            <a:ext cx="5653700" cy="500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90"/>
          <p:cNvSpPr txBox="1"/>
          <p:nvPr>
            <p:ph idx="1" type="body"/>
          </p:nvPr>
        </p:nvSpPr>
        <p:spPr>
          <a:xfrm>
            <a:off x="266700" y="2057400"/>
            <a:ext cx="95250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598" name="Google Shape;598;p90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Confusion Matrix- Logistic Regression</a:t>
            </a:r>
            <a:endParaRPr b="1"/>
          </a:p>
        </p:txBody>
      </p:sp>
      <p:pic>
        <p:nvPicPr>
          <p:cNvPr id="599" name="Google Shape;599;p90" title="logistic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700" y="2147225"/>
            <a:ext cx="6047300" cy="533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91"/>
          <p:cNvSpPr txBox="1"/>
          <p:nvPr>
            <p:ph idx="1" type="body"/>
          </p:nvPr>
        </p:nvSpPr>
        <p:spPr>
          <a:xfrm>
            <a:off x="266700" y="2057400"/>
            <a:ext cx="2919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ROC-AUC improves from 0.774 (core only) to 0.808 (+ labs) to 0.816 (+ lipids). The largest gain comes from adding laboratory features.</a:t>
            </a:r>
            <a:endParaRPr/>
          </a:p>
        </p:txBody>
      </p:sp>
      <p:sp>
        <p:nvSpPr>
          <p:cNvPr id="605" name="Google Shape;605;p91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CatBoost by Feature Set</a:t>
            </a:r>
            <a:br>
              <a:rPr b="1" lang="en-US"/>
            </a:br>
            <a:r>
              <a:rPr b="1" lang="en-US"/>
              <a:t>(ROC Curve Comparison)</a:t>
            </a:r>
            <a:endParaRPr/>
          </a:p>
        </p:txBody>
      </p:sp>
      <p:pic>
        <p:nvPicPr>
          <p:cNvPr id="606" name="Google Shape;606;p91" title="roc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2000850"/>
            <a:ext cx="6551076" cy="55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92"/>
          <p:cNvSpPr txBox="1"/>
          <p:nvPr>
            <p:ph idx="1" type="body"/>
          </p:nvPr>
        </p:nvSpPr>
        <p:spPr>
          <a:xfrm>
            <a:off x="266700" y="2057400"/>
            <a:ext cx="29190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Average precision rises from 0.210 to 0.260 to 0.273. The core-only model's precision drops more steeply at higher recall levels compared to the lab-inclusive models.</a:t>
            </a:r>
            <a:endParaRPr/>
          </a:p>
        </p:txBody>
      </p:sp>
      <p:sp>
        <p:nvSpPr>
          <p:cNvPr id="612" name="Google Shape;612;p92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CatBoost by Feature Set</a:t>
            </a:r>
            <a:br>
              <a:rPr b="1" lang="en-US"/>
            </a:br>
            <a:r>
              <a:rPr b="1" lang="en-US"/>
              <a:t>(Precision-Recall Comparison)</a:t>
            </a:r>
            <a:endParaRPr/>
          </a:p>
        </p:txBody>
      </p:sp>
      <p:pic>
        <p:nvPicPr>
          <p:cNvPr id="613" name="Google Shape;613;p92" title="pr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2012150"/>
            <a:ext cx="6629400" cy="5576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3"/>
          <p:cNvSpPr txBox="1"/>
          <p:nvPr>
            <p:ph idx="1" type="body"/>
          </p:nvPr>
        </p:nvSpPr>
        <p:spPr>
          <a:xfrm>
            <a:off x="266700" y="5768025"/>
            <a:ext cx="9525000" cy="17757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True positive counts are similar across all three models (~13,100–13,300). False positives drop from 83,957 (core only) to 68,791 (full model) — fewer unnecessary referrals for the same detection rate. </a:t>
            </a:r>
            <a:endParaRPr/>
          </a:p>
        </p:txBody>
      </p:sp>
      <p:sp>
        <p:nvSpPr>
          <p:cNvPr id="619" name="Google Shape;619;p93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CatBoost by Feature Set</a:t>
            </a:r>
            <a:br>
              <a:rPr b="1" lang="en-US"/>
            </a:br>
            <a:r>
              <a:rPr b="1" lang="en-US"/>
              <a:t>(Confusion Matrices)</a:t>
            </a:r>
            <a:endParaRPr/>
          </a:p>
        </p:txBody>
      </p:sp>
      <p:pic>
        <p:nvPicPr>
          <p:cNvPr id="620" name="Google Shape;620;p93" title="confusion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63006"/>
            <a:ext cx="10058399" cy="32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4"/>
          <p:cNvSpPr txBox="1"/>
          <p:nvPr>
            <p:ph idx="1" type="body"/>
          </p:nvPr>
        </p:nvSpPr>
        <p:spPr>
          <a:xfrm>
            <a:off x="266700" y="2057400"/>
            <a:ext cx="29739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the 130,256 test patients with no lipid data (66% of test set), the full model matches core+labs at 0.821 AUC. Including lipid columns does not degrade performance when those values are absent. </a:t>
            </a:r>
            <a:endParaRPr/>
          </a:p>
        </p:txBody>
      </p:sp>
      <p:sp>
        <p:nvSpPr>
          <p:cNvPr id="626" name="Google Shape;626;p94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CatBoost by Feature Set</a:t>
            </a:r>
            <a:br>
              <a:rPr b="1" lang="en-US"/>
            </a:br>
            <a:r>
              <a:rPr b="1" lang="en-US"/>
              <a:t>(ROC — Missing Lipid Subgroup)</a:t>
            </a:r>
            <a:endParaRPr/>
          </a:p>
        </p:txBody>
      </p:sp>
      <p:pic>
        <p:nvPicPr>
          <p:cNvPr id="627" name="Google Shape;627;p94" title="roc_no_lipid_subgro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186" y="1943100"/>
            <a:ext cx="6686213" cy="57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95"/>
          <p:cNvSpPr txBox="1"/>
          <p:nvPr>
            <p:ph idx="1" type="body"/>
          </p:nvPr>
        </p:nvSpPr>
        <p:spPr>
          <a:xfrm>
            <a:off x="266700" y="2057400"/>
            <a:ext cx="3627300" cy="54864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CatBoost approximately ties PyTorch in ROC-AUC</a:t>
            </a:r>
            <a:endParaRPr/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CatBoost having built-in SHAP analysis compatibility makes it the clear winner</a:t>
            </a:r>
            <a:endParaRPr/>
          </a:p>
        </p:txBody>
      </p:sp>
      <p:sp>
        <p:nvSpPr>
          <p:cNvPr id="633" name="Google Shape;633;p95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/>
              <a:t>Model Selection (CatBoost)</a:t>
            </a:r>
            <a:endParaRPr/>
          </a:p>
        </p:txBody>
      </p:sp>
      <p:pic>
        <p:nvPicPr>
          <p:cNvPr id="634" name="Google Shape;634;p95" title="roc_all_models.png"/>
          <p:cNvPicPr preferRelativeResize="0"/>
          <p:nvPr/>
        </p:nvPicPr>
        <p:blipFill rotWithShape="1">
          <a:blip r:embed="rId3">
            <a:alphaModFix/>
          </a:blip>
          <a:srcRect b="8792" l="8792" r="0" t="0"/>
          <a:stretch/>
        </p:blipFill>
        <p:spPr>
          <a:xfrm>
            <a:off x="4409425" y="1978575"/>
            <a:ext cx="5382263" cy="548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6"/>
          <p:cNvSpPr txBox="1"/>
          <p:nvPr>
            <p:ph idx="1" type="body"/>
          </p:nvPr>
        </p:nvSpPr>
        <p:spPr>
          <a:xfrm>
            <a:off x="266700" y="2057400"/>
            <a:ext cx="46971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Why SHAP? 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Model Interpretability is essential in clinical deployment as medical professionals need to understand why a prediction has been made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SHAP assigns each feature a </a:t>
            </a:r>
            <a:r>
              <a:rPr lang="en-US" sz="1900"/>
              <a:t>contribution</a:t>
            </a:r>
            <a:r>
              <a:rPr lang="en-US" sz="1900"/>
              <a:t> value per </a:t>
            </a:r>
            <a:r>
              <a:rPr lang="en-US" sz="1900"/>
              <a:t>individual</a:t>
            </a:r>
            <a:r>
              <a:rPr lang="en-US" sz="1900"/>
              <a:t> prediction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SHAP works </a:t>
            </a:r>
            <a:r>
              <a:rPr lang="en-US" sz="1900"/>
              <a:t>well</a:t>
            </a:r>
            <a:r>
              <a:rPr lang="en-US" sz="1900"/>
              <a:t> with CatBoost (tree-based models) for global and local explanations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Key Findings 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Age is the dominant predictor and has shown consistent across all feature sets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BMI and waist circumference rank 2 and 3 respectively. This indicates body composition as a risk signal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AST/ALT ratio, GGT, LDL cholesterol, hemoglobin, and triglyceride measure align with known T2D risk factors</a:t>
            </a:r>
            <a:endParaRPr sz="1900"/>
          </a:p>
        </p:txBody>
      </p:sp>
      <p:sp>
        <p:nvSpPr>
          <p:cNvPr id="641" name="Google Shape;641;p96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SHAP Analysis</a:t>
            </a:r>
            <a:endParaRPr b="1"/>
          </a:p>
        </p:txBody>
      </p:sp>
      <p:sp>
        <p:nvSpPr>
          <p:cNvPr id="642" name="Google Shape;642;p96"/>
          <p:cNvSpPr txBox="1"/>
          <p:nvPr>
            <p:ph idx="1" type="body"/>
          </p:nvPr>
        </p:nvSpPr>
        <p:spPr>
          <a:xfrm>
            <a:off x="5094600" y="2057400"/>
            <a:ext cx="46971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Clinical Implications 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All top SHAP features are measured during routine health checkups; No additional testing required to deploy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43" name="Google Shape;643;p96" title="shap_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450" y="3547475"/>
            <a:ext cx="4346424" cy="3458802"/>
          </a:xfrm>
          <a:prstGeom prst="rect">
            <a:avLst/>
          </a:prstGeom>
          <a:noFill/>
          <a:ln cap="flat" cmpd="sng" w="2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4" name="Google Shape;644;p96"/>
          <p:cNvSpPr txBox="1"/>
          <p:nvPr/>
        </p:nvSpPr>
        <p:spPr>
          <a:xfrm>
            <a:off x="5211750" y="7006275"/>
            <a:ext cx="446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feature importance by mean |SHAP| on the test set</a:t>
            </a:r>
            <a:endParaRPr i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97"/>
          <p:cNvSpPr txBox="1"/>
          <p:nvPr>
            <p:ph idx="1" type="body"/>
          </p:nvPr>
        </p:nvSpPr>
        <p:spPr>
          <a:xfrm>
            <a:off x="266700" y="2069300"/>
            <a:ext cx="3595800" cy="54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900"/>
              <a:t>FastAPI backend loads the CatBoost model and Platt calibrator, accepts patient data, and returns a calibrated probability plus a risk tier.</a:t>
            </a:r>
            <a:endParaRPr sz="19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900"/>
              <a:t>UI allows clinicians enter available data and receive one of four risk classifications (Low, Moderate, High, Very High)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51" name="Google Shape;651;p97"/>
          <p:cNvSpPr txBox="1"/>
          <p:nvPr>
            <p:ph type="title"/>
          </p:nvPr>
        </p:nvSpPr>
        <p:spPr>
          <a:xfrm>
            <a:off x="266700" y="114300"/>
            <a:ext cx="9525000" cy="16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Deployment</a:t>
            </a:r>
            <a:endParaRPr b="1"/>
          </a:p>
        </p:txBody>
      </p:sp>
      <p:pic>
        <p:nvPicPr>
          <p:cNvPr id="652" name="Google Shape;65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472" y="2069300"/>
            <a:ext cx="5774227" cy="547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